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sv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sv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081321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648094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 / 19</a:t>
            </a:r>
            <a:endParaRPr lang="en-US" sz="900" dirty="0"/>
          </a:p>
        </p:txBody>
      </p:sp>
      <p:sp>
        <p:nvSpPr>
          <p:cNvPr id="4" name="TextBox 9"/>
          <p:cNvSpPr/>
          <p:nvPr/>
        </p:nvSpPr>
        <p:spPr>
          <a:xfrm>
            <a:off x="495306" y="2152809"/>
            <a:ext cx="55279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52D1D6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DAFS / PROJECT DIFFERENCE</a:t>
            </a:r>
            <a:endParaRPr lang="en-US" sz="900" dirty="0"/>
          </a:p>
        </p:txBody>
      </p:sp>
      <p:sp>
        <p:nvSpPr>
          <p:cNvPr id="5" name="TextBox 11"/>
          <p:cNvSpPr/>
          <p:nvPr/>
        </p:nvSpPr>
        <p:spPr>
          <a:xfrm>
            <a:off x="495306" y="2419509"/>
            <a:ext cx="5527993" cy="94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726"/>
              </a:lnSpc>
              <a:buNone/>
            </a:pPr>
            <a:r>
              <a:rPr lang="en-US" sz="3450" b="1" spc="-155" kern="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DAFSを長鎖RNAへ</a:t>
            </a:r>
            <a:endParaRPr lang="en-US" sz="3450" dirty="0"/>
          </a:p>
          <a:p>
            <a:pPr algn="l" indent="0" marL="0">
              <a:lnSpc>
                <a:spcPts val="3726"/>
              </a:lnSpc>
              <a:buNone/>
            </a:pPr>
            <a:r>
              <a:rPr lang="en-US" sz="3450" b="1" spc="-155" kern="0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持っていくための4つの変更</a:t>
            </a:r>
            <a:endParaRPr lang="en-US" sz="3450" dirty="0"/>
          </a:p>
        </p:txBody>
      </p:sp>
      <p:sp>
        <p:nvSpPr>
          <p:cNvPr id="6" name="TextBox 13"/>
          <p:cNvSpPr/>
          <p:nvPr/>
        </p:nvSpPr>
        <p:spPr>
          <a:xfrm>
            <a:off x="495306" y="3537426"/>
            <a:ext cx="5527993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B7CBD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元論文の双対分解を残したまま、長さ依存のボトルネックを線形化し、RIBOSUM・厳密なUB/LB・dynamic CBPを同じ最適化ループへ接続した。</a:t>
            </a:r>
            <a:endParaRPr lang="en-US" sz="1350" dirty="0"/>
          </a:p>
        </p:txBody>
      </p:sp>
      <p:sp>
        <p:nvSpPr>
          <p:cNvPr id="7" name="TextBox 16"/>
          <p:cNvSpPr/>
          <p:nvPr/>
        </p:nvSpPr>
        <p:spPr>
          <a:xfrm>
            <a:off x="495306" y="4486116"/>
            <a:ext cx="941229" cy="257175"/>
          </a:xfrm>
          <a:prstGeom prst="roundRect">
            <a:avLst>
              <a:gd name="adj" fmla="val 50000"/>
            </a:avLst>
          </a:prstGeom>
          <a:solidFill>
            <a:srgbClr val="173C4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70DC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① Linear path</a:t>
            </a:r>
            <a:endParaRPr lang="en-US" sz="825" dirty="0"/>
          </a:p>
        </p:txBody>
      </p:sp>
      <p:sp>
        <p:nvSpPr>
          <p:cNvPr id="8" name="TextBox 17"/>
          <p:cNvSpPr/>
          <p:nvPr/>
        </p:nvSpPr>
        <p:spPr>
          <a:xfrm>
            <a:off x="1512735" y="4486116"/>
            <a:ext cx="828358" cy="257175"/>
          </a:xfrm>
          <a:prstGeom prst="roundRect">
            <a:avLst>
              <a:gd name="adj" fmla="val 50000"/>
            </a:avLst>
          </a:prstGeom>
          <a:solidFill>
            <a:srgbClr val="173C4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70DC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② RIBOSUM</a:t>
            </a:r>
            <a:endParaRPr lang="en-US" sz="825" dirty="0"/>
          </a:p>
        </p:txBody>
      </p:sp>
      <p:sp>
        <p:nvSpPr>
          <p:cNvPr id="9" name="TextBox 18"/>
          <p:cNvSpPr/>
          <p:nvPr/>
        </p:nvSpPr>
        <p:spPr>
          <a:xfrm>
            <a:off x="2417292" y="4486116"/>
            <a:ext cx="1205706" cy="257175"/>
          </a:xfrm>
          <a:prstGeom prst="roundRect">
            <a:avLst>
              <a:gd name="adj" fmla="val 50000"/>
            </a:avLst>
          </a:prstGeom>
          <a:solidFill>
            <a:srgbClr val="173C4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70DC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③ certified UB / LB</a:t>
            </a:r>
            <a:endParaRPr lang="en-US" sz="825" dirty="0"/>
          </a:p>
        </p:txBody>
      </p:sp>
      <p:sp>
        <p:nvSpPr>
          <p:cNvPr id="10" name="TextBox 19"/>
          <p:cNvSpPr/>
          <p:nvPr/>
        </p:nvSpPr>
        <p:spPr>
          <a:xfrm>
            <a:off x="3699199" y="4486116"/>
            <a:ext cx="1032193" cy="257175"/>
          </a:xfrm>
          <a:prstGeom prst="roundRect">
            <a:avLst>
              <a:gd name="adj" fmla="val 50000"/>
            </a:avLst>
          </a:prstGeom>
          <a:solidFill>
            <a:srgbClr val="173C4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70DCE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④ dynamic CBP</a:t>
            </a:r>
            <a:endParaRPr lang="en-US" sz="825" dirty="0"/>
          </a:p>
        </p:txBody>
      </p:sp>
      <p:sp>
        <p:nvSpPr>
          <p:cNvPr id="11" name="TextBox 24"/>
          <p:cNvSpPr/>
          <p:nvPr/>
        </p:nvSpPr>
        <p:spPr>
          <a:xfrm>
            <a:off x="9070981" y="1647825"/>
            <a:ext cx="19881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117" kern="0" dirty="0">
                <a:solidFill>
                  <a:srgbClr val="91B0B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POSTERIOR → DECODE → PROVE</a:t>
            </a:r>
            <a:endParaRPr lang="en-US" sz="900" dirty="0"/>
          </a:p>
        </p:txBody>
      </p:sp>
      <p:sp>
        <p:nvSpPr>
          <p:cNvPr id="12" name="Shape 26"/>
          <p:cNvSpPr/>
          <p:nvPr/>
        </p:nvSpPr>
        <p:spPr>
          <a:xfrm rot="-960000">
            <a:off x="7180031" y="2125980"/>
            <a:ext cx="3933825" cy="2324100"/>
          </a:xfrm>
          <a:prstGeom prst="ellipse">
            <a:avLst/>
          </a:prstGeom>
          <a:noFill/>
          <a:ln w="9525">
            <a:solidFill>
              <a:srgbClr val="174557"/>
            </a:solidFill>
            <a:prstDash val="solid"/>
          </a:ln>
        </p:spPr>
      </p:sp>
      <p:sp>
        <p:nvSpPr>
          <p:cNvPr id="13" name="Shape 27"/>
          <p:cNvSpPr/>
          <p:nvPr/>
        </p:nvSpPr>
        <p:spPr>
          <a:xfrm rot="1440000">
            <a:off x="7765184" y="2448877"/>
            <a:ext cx="3028950" cy="1838325"/>
          </a:xfrm>
          <a:prstGeom prst="ellipse">
            <a:avLst/>
          </a:prstGeom>
          <a:noFill/>
          <a:ln w="9525">
            <a:solidFill>
              <a:srgbClr val="174557"/>
            </a:solidFill>
            <a:prstDash val="dash"/>
          </a:ln>
        </p:spPr>
      </p:sp>
      <p:sp>
        <p:nvSpPr>
          <p:cNvPr id="14" name="Shape 29"/>
          <p:cNvSpPr/>
          <p:nvPr/>
        </p:nvSpPr>
        <p:spPr>
          <a:xfrm rot="-3120000">
            <a:off x="6229039" y="2510631"/>
            <a:ext cx="3295650" cy="28575"/>
          </a:xfrm>
          <a:prstGeom prst="roundRect">
            <a:avLst>
              <a:gd name="adj" fmla="val 50000"/>
            </a:avLst>
          </a:prstGeom>
          <a:solidFill>
            <a:srgbClr val="10ADBB"/>
          </a:solidFill>
          <a:ln/>
        </p:spPr>
      </p:sp>
      <p:sp>
        <p:nvSpPr>
          <p:cNvPr id="15" name="Shape 30"/>
          <p:cNvSpPr/>
          <p:nvPr/>
        </p:nvSpPr>
        <p:spPr>
          <a:xfrm rot="2880000">
            <a:off x="7096846" y="3990975"/>
            <a:ext cx="3400425" cy="28575"/>
          </a:xfrm>
          <a:prstGeom prst="roundRect">
            <a:avLst>
              <a:gd name="adj" fmla="val 50000"/>
            </a:avLst>
          </a:prstGeom>
          <a:solidFill>
            <a:srgbClr val="EAB843"/>
          </a:solidFill>
          <a:ln/>
        </p:spPr>
      </p:sp>
      <p:sp>
        <p:nvSpPr>
          <p:cNvPr id="16" name="Shape 31"/>
          <p:cNvSpPr/>
          <p:nvPr/>
        </p:nvSpPr>
        <p:spPr>
          <a:xfrm rot="-1200000">
            <a:off x="7560237" y="3756025"/>
            <a:ext cx="3343275" cy="28575"/>
          </a:xfrm>
          <a:prstGeom prst="roundRect">
            <a:avLst>
              <a:gd name="adj" fmla="val 50000"/>
            </a:avLst>
          </a:prstGeom>
          <a:solidFill>
            <a:srgbClr val="DF6687"/>
          </a:solidFill>
          <a:ln/>
        </p:spPr>
      </p:sp>
      <p:sp>
        <p:nvSpPr>
          <p:cNvPr id="17" name="Shape 32"/>
          <p:cNvSpPr/>
          <p:nvPr/>
        </p:nvSpPr>
        <p:spPr>
          <a:xfrm rot="-4440000">
            <a:off x="8675059" y="2761456"/>
            <a:ext cx="2181225" cy="28575"/>
          </a:xfrm>
          <a:prstGeom prst="roundRect">
            <a:avLst>
              <a:gd name="adj" fmla="val 50000"/>
            </a:avLst>
          </a:prstGeom>
          <a:solidFill>
            <a:srgbClr val="8E79D1"/>
          </a:solidFill>
          <a:ln/>
        </p:spPr>
      </p:sp>
      <p:sp>
        <p:nvSpPr>
          <p:cNvPr id="18" name="Shape 34"/>
          <p:cNvSpPr/>
          <p:nvPr/>
        </p:nvSpPr>
        <p:spPr>
          <a:xfrm>
            <a:off x="6810064" y="3768090"/>
            <a:ext cx="161925" cy="161925"/>
          </a:xfrm>
          <a:prstGeom prst="ellipse">
            <a:avLst/>
          </a:prstGeom>
          <a:solidFill>
            <a:srgbClr val="10ADBB"/>
          </a:solidFill>
          <a:ln/>
          <a:effectLst>
            <a:outerShdw sx="100000" sy="100000" kx="0" ky="0" algn="bl" rotWithShape="0" blurRad="171450" dist="50800" dir="16200000">
              <a:srgbClr val="10ADBB">
                <a:alpha val="100000"/>
              </a:srgbClr>
            </a:outerShdw>
          </a:effectLst>
        </p:spPr>
      </p:sp>
      <p:sp>
        <p:nvSpPr>
          <p:cNvPr id="19" name="Shape 35"/>
          <p:cNvSpPr/>
          <p:nvPr/>
        </p:nvSpPr>
        <p:spPr>
          <a:xfrm>
            <a:off x="8775231" y="2727960"/>
            <a:ext cx="161925" cy="161925"/>
          </a:xfrm>
          <a:prstGeom prst="ellipse">
            <a:avLst/>
          </a:prstGeom>
          <a:solidFill>
            <a:srgbClr val="10ADBB"/>
          </a:solidFill>
          <a:ln/>
          <a:effectLst>
            <a:outerShdw sx="100000" sy="100000" kx="0" ky="0" algn="bl" rotWithShape="0" blurRad="171450" dist="50800" dir="16200000">
              <a:srgbClr val="10ADBB">
                <a:alpha val="100000"/>
              </a:srgbClr>
            </a:outerShdw>
          </a:effectLst>
        </p:spPr>
      </p:sp>
      <p:sp>
        <p:nvSpPr>
          <p:cNvPr id="20" name="Shape 36"/>
          <p:cNvSpPr/>
          <p:nvPr/>
        </p:nvSpPr>
        <p:spPr>
          <a:xfrm>
            <a:off x="9784246" y="3768090"/>
            <a:ext cx="161925" cy="161925"/>
          </a:xfrm>
          <a:prstGeom prst="ellipse">
            <a:avLst/>
          </a:prstGeom>
          <a:solidFill>
            <a:srgbClr val="8E79D1"/>
          </a:solidFill>
          <a:ln/>
          <a:effectLst>
            <a:outerShdw sx="100000" sy="100000" kx="0" ky="0" algn="bl" rotWithShape="0" blurRad="171450" dist="50800" dir="16200000">
              <a:srgbClr val="8E79D1">
                <a:alpha val="100000"/>
              </a:srgbClr>
            </a:outerShdw>
          </a:effectLst>
        </p:spPr>
      </p:sp>
      <p:sp>
        <p:nvSpPr>
          <p:cNvPr id="21" name="Shape 37"/>
          <p:cNvSpPr/>
          <p:nvPr/>
        </p:nvSpPr>
        <p:spPr>
          <a:xfrm>
            <a:off x="10421627" y="2127885"/>
            <a:ext cx="161925" cy="161925"/>
          </a:xfrm>
          <a:prstGeom prst="ellipse">
            <a:avLst/>
          </a:prstGeom>
          <a:solidFill>
            <a:srgbClr val="DF6687"/>
          </a:solidFill>
          <a:ln/>
          <a:effectLst>
            <a:outerShdw sx="100000" sy="100000" kx="0" ky="0" algn="bl" rotWithShape="0" blurRad="171450" dist="50800" dir="16200000">
              <a:srgbClr val="DF6687">
                <a:alpha val="100000"/>
              </a:srgbClr>
            </a:outerShdw>
          </a:effectLst>
        </p:spPr>
      </p:sp>
      <p:sp>
        <p:nvSpPr>
          <p:cNvPr id="22" name="Shape 38"/>
          <p:cNvSpPr/>
          <p:nvPr/>
        </p:nvSpPr>
        <p:spPr>
          <a:xfrm>
            <a:off x="8244053" y="2167890"/>
            <a:ext cx="123825" cy="123825"/>
          </a:xfrm>
          <a:prstGeom prst="ellipse">
            <a:avLst/>
          </a:prstGeom>
          <a:solidFill>
            <a:srgbClr val="EAB843"/>
          </a:solidFill>
          <a:ln/>
          <a:effectLst>
            <a:outerShdw sx="100000" sy="100000" kx="0" ky="0" algn="bl" rotWithShape="0" blurRad="171450" dist="50800" dir="16200000">
              <a:srgbClr val="EAB843">
                <a:alpha val="100000"/>
              </a:srgbClr>
            </a:outerShdw>
          </a:effectLst>
        </p:spPr>
      </p:sp>
      <p:sp>
        <p:nvSpPr>
          <p:cNvPr id="23" name="TextBox 40"/>
          <p:cNvSpPr/>
          <p:nvPr/>
        </p:nvSpPr>
        <p:spPr>
          <a:xfrm>
            <a:off x="9491193" y="45796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CD0D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LB ≤ OPT ≤ UB</a:t>
            </a:r>
            <a:endParaRPr lang="en-US" sz="1200" dirty="0"/>
          </a:p>
        </p:txBody>
      </p:sp>
      <p:sp>
        <p:nvSpPr>
          <p:cNvPr id="24" name="TextBox 44"/>
          <p:cNvSpPr/>
          <p:nvPr/>
        </p:nvSpPr>
        <p:spPr>
          <a:xfrm>
            <a:off x="6" y="6419850"/>
            <a:ext cx="38854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9EF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基準コミット</a:t>
            </a:r>
            <a:r>
              <a:rPr lang="en-US" sz="900" dirty="0">
                <a:solidFill>
                  <a:srgbClr val="91A9B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9360ad8　·　</a:t>
            </a:r>
            <a:r>
              <a:rPr lang="en-US" sz="900" b="1" dirty="0">
                <a:solidFill>
                  <a:srgbClr val="D9EF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データ</a:t>
            </a:r>
            <a:r>
              <a:rPr lang="en-US" sz="900" dirty="0">
                <a:solidFill>
                  <a:srgbClr val="91A9B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Murlet / 16S / 23S　·　</a:t>
            </a:r>
            <a:r>
              <a:rPr lang="en-US" sz="900" b="1" dirty="0">
                <a:solidFill>
                  <a:srgbClr val="D9EFF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集計</a:t>
            </a:r>
            <a:r>
              <a:rPr lang="en-US" sz="900" dirty="0">
                <a:solidFill>
                  <a:srgbClr val="91A9B4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2026-08-31</a:t>
            </a:r>
            <a:endParaRPr lang="en-US" sz="900" dirty="0"/>
          </a:p>
        </p:txBody>
      </p:sp>
      <p:sp>
        <p:nvSpPr>
          <p:cNvPr id="25" name="TextBox 46"/>
          <p:cNvSpPr/>
          <p:nvPr/>
        </p:nvSpPr>
        <p:spPr>
          <a:xfrm>
            <a:off x="495306" y="6650355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6F879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Project-local summary · numerical values are stored benchmark means; clean-release revalidation remains future work.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THE MAIN MESSAGE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ポイントは「4つの置換」が一本のパイプラインになったこと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5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速度だけを上げたのではなく、確率・候補・復号・証明を同じ疎なsupport上でつないだ。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529715"/>
            <a:ext cx="2714625" cy="2143125"/>
          </a:xfrm>
          <a:prstGeom prst="roundRect">
            <a:avLst>
              <a:gd name="adj" fmla="val 6222"/>
            </a:avLst>
          </a:prstGeom>
          <a:solidFill>
            <a:srgbClr val="0A8798"/>
          </a:solidFill>
          <a:ln/>
        </p:spPr>
      </p:sp>
      <p:sp>
        <p:nvSpPr>
          <p:cNvPr id="8" name="TextBox 14"/>
          <p:cNvSpPr/>
          <p:nvPr/>
        </p:nvSpPr>
        <p:spPr>
          <a:xfrm>
            <a:off x="638181" y="1691640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>
                    <a:alpha val="72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2025" dirty="0"/>
          </a:p>
        </p:txBody>
      </p:sp>
      <p:sp>
        <p:nvSpPr>
          <p:cNvPr id="9" name="TextBox 15"/>
          <p:cNvSpPr/>
          <p:nvPr/>
        </p:nvSpPr>
        <p:spPr>
          <a:xfrm>
            <a:off x="638181" y="219646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Linear化</a:t>
            </a:r>
            <a:endParaRPr lang="en-US" sz="1500" dirty="0"/>
          </a:p>
        </p:txBody>
      </p:sp>
      <p:sp>
        <p:nvSpPr>
          <p:cNvPr id="10" name="TextBox 16"/>
          <p:cNvSpPr/>
          <p:nvPr/>
        </p:nvSpPr>
        <p:spPr>
          <a:xfrm>
            <a:off x="638181" y="2529840"/>
            <a:ext cx="2428875" cy="538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LinearPartition / LinearAlign、固定beam、閾値疎行列、LinearNussinov / LinearNeedlemanWunsch。</a:t>
            </a:r>
            <a:endParaRPr lang="en-US" sz="975" dirty="0"/>
          </a:p>
        </p:txBody>
      </p:sp>
      <p:sp>
        <p:nvSpPr>
          <p:cNvPr id="11" name="Shape 18"/>
          <p:cNvSpPr/>
          <p:nvPr/>
        </p:nvSpPr>
        <p:spPr>
          <a:xfrm>
            <a:off x="3324231" y="1529715"/>
            <a:ext cx="2714625" cy="2143125"/>
          </a:xfrm>
          <a:prstGeom prst="roundRect">
            <a:avLst>
              <a:gd name="adj" fmla="val 6222"/>
            </a:avLst>
          </a:prstGeom>
          <a:solidFill>
            <a:srgbClr val="9D7614"/>
          </a:solidFill>
          <a:ln/>
        </p:spPr>
      </p:sp>
      <p:sp>
        <p:nvSpPr>
          <p:cNvPr id="12" name="TextBox 19"/>
          <p:cNvSpPr/>
          <p:nvPr/>
        </p:nvSpPr>
        <p:spPr>
          <a:xfrm>
            <a:off x="3467106" y="1691640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>
                    <a:alpha val="72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2025" dirty="0"/>
          </a:p>
        </p:txBody>
      </p:sp>
      <p:sp>
        <p:nvSpPr>
          <p:cNvPr id="13" name="TextBox 20"/>
          <p:cNvSpPr/>
          <p:nvPr/>
        </p:nvSpPr>
        <p:spPr>
          <a:xfrm>
            <a:off x="3467106" y="219646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</a:t>
            </a:r>
            <a:endParaRPr lang="en-US" sz="1500" dirty="0"/>
          </a:p>
        </p:txBody>
      </p:sp>
      <p:sp>
        <p:nvSpPr>
          <p:cNvPr id="14" name="TextBox 21"/>
          <p:cNvSpPr/>
          <p:nvPr/>
        </p:nvSpPr>
        <p:spPr>
          <a:xfrm>
            <a:off x="3467106" y="2529840"/>
            <a:ext cx="2428875" cy="3590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pair–pair matchにRIBOSUM85-60を導入。構造・整列・CBPのjoint objectiveを強化。</a:t>
            </a:r>
            <a:endParaRPr lang="en-US" sz="975" dirty="0"/>
          </a:p>
        </p:txBody>
      </p:sp>
      <p:sp>
        <p:nvSpPr>
          <p:cNvPr id="15" name="Shape 23"/>
          <p:cNvSpPr/>
          <p:nvPr/>
        </p:nvSpPr>
        <p:spPr>
          <a:xfrm>
            <a:off x="6153156" y="1529715"/>
            <a:ext cx="2714625" cy="2143125"/>
          </a:xfrm>
          <a:prstGeom prst="roundRect">
            <a:avLst>
              <a:gd name="adj" fmla="val 6222"/>
            </a:avLst>
          </a:prstGeom>
          <a:solidFill>
            <a:srgbClr val="B65070"/>
          </a:solidFill>
          <a:ln/>
        </p:spPr>
      </p:sp>
      <p:sp>
        <p:nvSpPr>
          <p:cNvPr id="16" name="TextBox 24"/>
          <p:cNvSpPr/>
          <p:nvPr/>
        </p:nvSpPr>
        <p:spPr>
          <a:xfrm>
            <a:off x="6296031" y="1691640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>
                    <a:alpha val="72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2025" dirty="0"/>
          </a:p>
        </p:txBody>
      </p:sp>
      <p:sp>
        <p:nvSpPr>
          <p:cNvPr id="17" name="TextBox 25"/>
          <p:cNvSpPr/>
          <p:nvPr/>
        </p:nvSpPr>
        <p:spPr>
          <a:xfrm>
            <a:off x="6296031" y="219646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UB / LB + 修飾subgradient</a:t>
            </a:r>
            <a:endParaRPr lang="en-US" sz="1500" dirty="0"/>
          </a:p>
        </p:txBody>
      </p:sp>
      <p:sp>
        <p:nvSpPr>
          <p:cNvPr id="18" name="TextBox 26"/>
          <p:cNvSpPr/>
          <p:nvPr/>
        </p:nvSpPr>
        <p:spPr>
          <a:xfrm>
            <a:off x="6296031" y="2529840"/>
            <a:ext cx="2428875" cy="538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beamをUBと誤解せず、certificate UBとrepair LBを分離。Polyak stepをtrackごとに整合。</a:t>
            </a:r>
            <a:endParaRPr lang="en-US" sz="975" dirty="0"/>
          </a:p>
        </p:txBody>
      </p:sp>
      <p:sp>
        <p:nvSpPr>
          <p:cNvPr id="19" name="Shape 28"/>
          <p:cNvSpPr/>
          <p:nvPr/>
        </p:nvSpPr>
        <p:spPr>
          <a:xfrm>
            <a:off x="8982081" y="1529715"/>
            <a:ext cx="2714625" cy="2143125"/>
          </a:xfrm>
          <a:prstGeom prst="roundRect">
            <a:avLst>
              <a:gd name="adj" fmla="val 6222"/>
            </a:avLst>
          </a:prstGeom>
          <a:solidFill>
            <a:srgbClr val="67569D"/>
          </a:solidFill>
          <a:ln/>
        </p:spPr>
      </p:sp>
      <p:sp>
        <p:nvSpPr>
          <p:cNvPr id="20" name="TextBox 29"/>
          <p:cNvSpPr/>
          <p:nvPr/>
        </p:nvSpPr>
        <p:spPr>
          <a:xfrm>
            <a:off x="9124956" y="1691640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FFFF">
                    <a:alpha val="72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2025" dirty="0"/>
          </a:p>
        </p:txBody>
      </p:sp>
      <p:sp>
        <p:nvSpPr>
          <p:cNvPr id="21" name="TextBox 30"/>
          <p:cNvSpPr/>
          <p:nvPr/>
        </p:nvSpPr>
        <p:spPr>
          <a:xfrm>
            <a:off x="9124956" y="2196465"/>
            <a:ext cx="2428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dynamic CBP</a:t>
            </a:r>
            <a:endParaRPr lang="en-US" sz="1500" dirty="0"/>
          </a:p>
        </p:txBody>
      </p:sp>
      <p:sp>
        <p:nvSpPr>
          <p:cNvPr id="22" name="TextBox 31"/>
          <p:cNvSpPr/>
          <p:nvPr/>
        </p:nvSpPr>
        <p:spPr>
          <a:xfrm>
            <a:off x="9124956" y="2529840"/>
            <a:ext cx="2428875" cy="538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E2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CBPを全列挙せず、ADD・PRICE・PRUNEでworking setを更新。positive reduced costを逃さない。</a:t>
            </a:r>
            <a:endParaRPr lang="en-US" sz="975" dirty="0"/>
          </a:p>
        </p:txBody>
      </p:sp>
      <p:sp>
        <p:nvSpPr>
          <p:cNvPr id="23" name="Shape 36"/>
          <p:cNvSpPr/>
          <p:nvPr/>
        </p:nvSpPr>
        <p:spPr>
          <a:xfrm>
            <a:off x="495306" y="3844290"/>
            <a:ext cx="2728913" cy="520065"/>
          </a:xfrm>
          <a:prstGeom prst="roundRect">
            <a:avLst>
              <a:gd name="adj" fmla="val 18315"/>
            </a:avLst>
          </a:prstGeom>
          <a:noFill/>
          <a:ln w="9525">
            <a:solidFill>
              <a:srgbClr val="27465A"/>
            </a:solidFill>
            <a:prstDash val="solid"/>
          </a:ln>
        </p:spPr>
      </p:sp>
      <p:sp>
        <p:nvSpPr>
          <p:cNvPr id="24" name="TextBox 38"/>
          <p:cNvSpPr/>
          <p:nvPr/>
        </p:nvSpPr>
        <p:spPr>
          <a:xfrm>
            <a:off x="619131" y="4110514"/>
            <a:ext cx="19565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C8D9D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固定閾値・固定beam・固定反復ならO(n)</a:t>
            </a:r>
            <a:endParaRPr lang="en-US" sz="825" dirty="0"/>
          </a:p>
        </p:txBody>
      </p:sp>
      <p:sp>
        <p:nvSpPr>
          <p:cNvPr id="25" name="TextBox 37"/>
          <p:cNvSpPr/>
          <p:nvPr/>
        </p:nvSpPr>
        <p:spPr>
          <a:xfrm>
            <a:off x="619131" y="3949065"/>
            <a:ext cx="2481263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67D6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長さ方向</a:t>
            </a:r>
            <a:endParaRPr lang="en-US" sz="825" dirty="0"/>
          </a:p>
        </p:txBody>
      </p:sp>
      <p:sp>
        <p:nvSpPr>
          <p:cNvPr id="26" name="Shape 40"/>
          <p:cNvSpPr/>
          <p:nvPr/>
        </p:nvSpPr>
        <p:spPr>
          <a:xfrm>
            <a:off x="3319469" y="3844290"/>
            <a:ext cx="2728913" cy="520065"/>
          </a:xfrm>
          <a:prstGeom prst="roundRect">
            <a:avLst>
              <a:gd name="adj" fmla="val 18315"/>
            </a:avLst>
          </a:prstGeom>
          <a:noFill/>
          <a:ln w="9525">
            <a:solidFill>
              <a:srgbClr val="27465A"/>
            </a:solidFill>
            <a:prstDash val="solid"/>
          </a:ln>
        </p:spPr>
      </p:sp>
      <p:sp>
        <p:nvSpPr>
          <p:cNvPr id="27" name="TextBox 42"/>
          <p:cNvSpPr/>
          <p:nvPr/>
        </p:nvSpPr>
        <p:spPr>
          <a:xfrm>
            <a:off x="3443294" y="4110514"/>
            <a:ext cx="15927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C8D9D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RIBOSUMをDD / repair / IPで共有</a:t>
            </a:r>
            <a:endParaRPr lang="en-US" sz="825" dirty="0"/>
          </a:p>
        </p:txBody>
      </p:sp>
      <p:sp>
        <p:nvSpPr>
          <p:cNvPr id="28" name="TextBox 41"/>
          <p:cNvSpPr/>
          <p:nvPr/>
        </p:nvSpPr>
        <p:spPr>
          <a:xfrm>
            <a:off x="3443294" y="3949065"/>
            <a:ext cx="2481263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67D6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目的関数</a:t>
            </a:r>
            <a:endParaRPr lang="en-US" sz="825" dirty="0"/>
          </a:p>
        </p:txBody>
      </p:sp>
      <p:sp>
        <p:nvSpPr>
          <p:cNvPr id="29" name="Shape 44"/>
          <p:cNvSpPr/>
          <p:nvPr/>
        </p:nvSpPr>
        <p:spPr>
          <a:xfrm>
            <a:off x="6143631" y="3844290"/>
            <a:ext cx="2728913" cy="520065"/>
          </a:xfrm>
          <a:prstGeom prst="roundRect">
            <a:avLst>
              <a:gd name="adj" fmla="val 18315"/>
            </a:avLst>
          </a:prstGeom>
          <a:noFill/>
          <a:ln w="9525">
            <a:solidFill>
              <a:srgbClr val="27465A"/>
            </a:solidFill>
            <a:prstDash val="solid"/>
          </a:ln>
        </p:spPr>
      </p:sp>
      <p:sp>
        <p:nvSpPr>
          <p:cNvPr id="30" name="TextBox 46"/>
          <p:cNvSpPr/>
          <p:nvPr/>
        </p:nvSpPr>
        <p:spPr>
          <a:xfrm>
            <a:off x="6267456" y="4110514"/>
            <a:ext cx="20553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C8D9D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beam searchと厳密relaxationを別トラック</a:t>
            </a:r>
            <a:endParaRPr lang="en-US" sz="825" dirty="0"/>
          </a:p>
        </p:txBody>
      </p:sp>
      <p:sp>
        <p:nvSpPr>
          <p:cNvPr id="31" name="TextBox 45"/>
          <p:cNvSpPr/>
          <p:nvPr/>
        </p:nvSpPr>
        <p:spPr>
          <a:xfrm>
            <a:off x="6267456" y="3949065"/>
            <a:ext cx="2481263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67D6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</a:t>
            </a:r>
            <a:endParaRPr lang="en-US" sz="825" dirty="0"/>
          </a:p>
        </p:txBody>
      </p:sp>
      <p:sp>
        <p:nvSpPr>
          <p:cNvPr id="32" name="Shape 48"/>
          <p:cNvSpPr/>
          <p:nvPr/>
        </p:nvSpPr>
        <p:spPr>
          <a:xfrm>
            <a:off x="8967793" y="3844290"/>
            <a:ext cx="2728913" cy="520065"/>
          </a:xfrm>
          <a:prstGeom prst="roundRect">
            <a:avLst>
              <a:gd name="adj" fmla="val 18315"/>
            </a:avLst>
          </a:prstGeom>
          <a:noFill/>
          <a:ln w="9525">
            <a:solidFill>
              <a:srgbClr val="27465A"/>
            </a:solidFill>
            <a:prstDash val="solid"/>
          </a:ln>
        </p:spPr>
      </p:sp>
      <p:sp>
        <p:nvSpPr>
          <p:cNvPr id="33" name="TextBox 50"/>
          <p:cNvSpPr/>
          <p:nvPr/>
        </p:nvSpPr>
        <p:spPr>
          <a:xfrm>
            <a:off x="9091618" y="4110514"/>
            <a:ext cx="192992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C8D9D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dynamic pricingでCBPを必要時だけ追加</a:t>
            </a:r>
            <a:endParaRPr lang="en-US" sz="825" dirty="0"/>
          </a:p>
        </p:txBody>
      </p:sp>
      <p:sp>
        <p:nvSpPr>
          <p:cNvPr id="34" name="TextBox 49"/>
          <p:cNvSpPr/>
          <p:nvPr/>
        </p:nvSpPr>
        <p:spPr>
          <a:xfrm>
            <a:off x="9091618" y="3949065"/>
            <a:ext cx="2481263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b="1" dirty="0">
                <a:solidFill>
                  <a:srgbClr val="67D6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</a:t>
            </a:r>
            <a:endParaRPr lang="en-US" sz="825" dirty="0"/>
          </a:p>
        </p:txBody>
      </p:sp>
      <p:sp>
        <p:nvSpPr>
          <p:cNvPr id="35" name="TextBox 53"/>
          <p:cNvSpPr/>
          <p:nvPr/>
        </p:nvSpPr>
        <p:spPr>
          <a:xfrm>
            <a:off x="495306" y="6650355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Difference from original DAFS: the dual decomposition is preserved; the probability engines, decoders, CBP management, bounds and update tracks are replaced or extended.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 / LINEARIZATION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Linear化：密な計算を、閾値疎行列と固定beamへ置き換えた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5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元論文のx / y / z / wの分解は維持し、長さに対して高次になる部分を各段で疎・固定幅にした。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82090"/>
            <a:ext cx="5138896" cy="1409700"/>
          </a:xfrm>
          <a:prstGeom prst="roundRect">
            <a:avLst>
              <a:gd name="adj" fmla="val 8784"/>
            </a:avLst>
          </a:prstGeom>
          <a:solidFill>
            <a:srgbClr val="FCECF0"/>
          </a:solidFill>
          <a:ln w="9525">
            <a:solidFill>
              <a:srgbClr val="F1CBD5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657231" y="1653540"/>
            <a:ext cx="1175544" cy="257175"/>
          </a:xfrm>
          <a:prstGeom prst="roundRect">
            <a:avLst>
              <a:gd name="adj" fmla="val 50000"/>
            </a:avLst>
          </a:prstGeom>
          <a:solidFill>
            <a:srgbClr val="FFE6ED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B63F60"/>
                </a:solidFill>
                <a:highlight>
                  <a:srgbClr val="FFE6ED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ORIGINAL / DENSE</a:t>
            </a:r>
            <a:endParaRPr lang="en-US" sz="825" dirty="0"/>
          </a:p>
        </p:txBody>
      </p:sp>
      <p:sp>
        <p:nvSpPr>
          <p:cNvPr id="9" name="TextBox 15"/>
          <p:cNvSpPr/>
          <p:nvPr/>
        </p:nvSpPr>
        <p:spPr>
          <a:xfrm>
            <a:off x="657231" y="2005965"/>
            <a:ext cx="481504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B63F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posterior → dense DP → full candidate</a:t>
            </a:r>
            <a:endParaRPr lang="en-US" sz="1275" dirty="0"/>
          </a:p>
        </p:txBody>
      </p:sp>
      <p:sp>
        <p:nvSpPr>
          <p:cNvPr id="10" name="TextBox 16"/>
          <p:cNvSpPr/>
          <p:nvPr/>
        </p:nvSpPr>
        <p:spPr>
          <a:xfrm>
            <a:off x="657231" y="2286000"/>
            <a:ext cx="4815046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67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全posterior、Nussinov / Needleman–Wunsch、CBP候補の直積を扱うため、長鎖では計算量とメモリが急増。</a:t>
            </a:r>
            <a:endParaRPr lang="en-US" sz="975" dirty="0"/>
          </a:p>
        </p:txBody>
      </p:sp>
      <p:sp>
        <p:nvSpPr>
          <p:cNvPr id="11" name="Shape 18"/>
          <p:cNvSpPr/>
          <p:nvPr/>
        </p:nvSpPr>
        <p:spPr>
          <a:xfrm>
            <a:off x="5786603" y="1482090"/>
            <a:ext cx="5909786" cy="1409700"/>
          </a:xfrm>
          <a:prstGeom prst="roundRect">
            <a:avLst>
              <a:gd name="adj" fmla="val 8784"/>
            </a:avLst>
          </a:prstGeom>
          <a:solidFill>
            <a:srgbClr val="E6F7F5"/>
          </a:solidFill>
          <a:ln w="9525">
            <a:solidFill>
              <a:srgbClr val="BCE4E0"/>
            </a:solidFill>
            <a:prstDash val="solid"/>
          </a:ln>
        </p:spPr>
      </p:sp>
      <p:sp>
        <p:nvSpPr>
          <p:cNvPr id="12" name="TextBox 19"/>
          <p:cNvSpPr/>
          <p:nvPr/>
        </p:nvSpPr>
        <p:spPr>
          <a:xfrm>
            <a:off x="5948528" y="1653540"/>
            <a:ext cx="1776571" cy="257175"/>
          </a:xfrm>
          <a:prstGeom prst="roundRect">
            <a:avLst>
              <a:gd name="adj" fmla="val 50000"/>
            </a:avLst>
          </a:prstGeom>
          <a:solidFill>
            <a:srgbClr val="DEF4F3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087F91"/>
                </a:solidFill>
                <a:highlight>
                  <a:srgbClr val="DEF4F3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THIS PROJECT / LINEAR PATH</a:t>
            </a:r>
            <a:endParaRPr lang="en-US" sz="825" dirty="0"/>
          </a:p>
        </p:txBody>
      </p:sp>
      <p:sp>
        <p:nvSpPr>
          <p:cNvPr id="13" name="TextBox 20"/>
          <p:cNvSpPr/>
          <p:nvPr/>
        </p:nvSpPr>
        <p:spPr>
          <a:xfrm>
            <a:off x="5948528" y="2005965"/>
            <a:ext cx="55859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LinearPartition / LinearAlign → sparse → fixed beam</a:t>
            </a:r>
            <a:endParaRPr lang="en-US" sz="1275" dirty="0"/>
          </a:p>
        </p:txBody>
      </p:sp>
      <p:sp>
        <p:nvSpPr>
          <p:cNvPr id="14" name="TextBox 21"/>
          <p:cNvSpPr/>
          <p:nvPr/>
        </p:nvSpPr>
        <p:spPr>
          <a:xfrm>
            <a:off x="5948528" y="2286000"/>
            <a:ext cx="5585936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67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閾値以上のcandidateだけを保存し、確率計算・max-sum復号・q更新・最終foldingを固定beamで処理する。</a:t>
            </a:r>
            <a:endParaRPr lang="en-US" sz="975" dirty="0"/>
          </a:p>
        </p:txBody>
      </p:sp>
      <p:sp>
        <p:nvSpPr>
          <p:cNvPr id="15" name="Shape 26"/>
          <p:cNvSpPr/>
          <p:nvPr/>
        </p:nvSpPr>
        <p:spPr>
          <a:xfrm>
            <a:off x="495306" y="3101340"/>
            <a:ext cx="3416141" cy="1367314"/>
          </a:xfrm>
          <a:prstGeom prst="roundRect">
            <a:avLst>
              <a:gd name="adj" fmla="val 9753"/>
            </a:avLst>
          </a:prstGeom>
          <a:solidFill>
            <a:srgbClr val="E8F7F6"/>
          </a:solidFill>
          <a:ln w="9525">
            <a:solidFill>
              <a:srgbClr val="B9E5E2"/>
            </a:solidFill>
            <a:prstDash val="solid"/>
          </a:ln>
        </p:spPr>
      </p:sp>
      <p:sp>
        <p:nvSpPr>
          <p:cNvPr id="16" name="TextBox 27"/>
          <p:cNvSpPr/>
          <p:nvPr/>
        </p:nvSpPr>
        <p:spPr>
          <a:xfrm>
            <a:off x="647706" y="3263265"/>
            <a:ext cx="682466" cy="257175"/>
          </a:xfrm>
          <a:prstGeom prst="roundRect">
            <a:avLst>
              <a:gd name="adj" fmla="val 50000"/>
            </a:avLst>
          </a:prstGeom>
          <a:solidFill>
            <a:srgbClr val="DEF4F3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087F91"/>
                </a:solidFill>
                <a:highlight>
                  <a:srgbClr val="DEF4F3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posterior</a:t>
            </a:r>
            <a:endParaRPr lang="en-US" sz="825" dirty="0"/>
          </a:p>
        </p:txBody>
      </p:sp>
      <p:sp>
        <p:nvSpPr>
          <p:cNvPr id="17" name="TextBox 28"/>
          <p:cNvSpPr/>
          <p:nvPr/>
        </p:nvSpPr>
        <p:spPr>
          <a:xfrm>
            <a:off x="647706" y="3615690"/>
            <a:ext cx="3111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LinearPartition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LinearAlign</a:t>
            </a:r>
            <a:endParaRPr lang="en-US" sz="1500" dirty="0"/>
          </a:p>
        </p:txBody>
      </p:sp>
      <p:sp>
        <p:nvSpPr>
          <p:cNvPr id="18" name="TextBox 29"/>
          <p:cNvSpPr/>
          <p:nvPr/>
        </p:nvSpPr>
        <p:spPr>
          <a:xfrm>
            <a:off x="647706" y="4149090"/>
            <a:ext cx="3111341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固定beamでBPP / match posteriorを近似。</a:t>
            </a:r>
            <a:endParaRPr lang="en-US" sz="975" dirty="0"/>
          </a:p>
        </p:txBody>
      </p:sp>
      <p:sp>
        <p:nvSpPr>
          <p:cNvPr id="19" name="TextBox 31"/>
          <p:cNvSpPr/>
          <p:nvPr/>
        </p:nvSpPr>
        <p:spPr>
          <a:xfrm>
            <a:off x="4006697" y="3575368"/>
            <a:ext cx="285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50" dirty="0"/>
          </a:p>
        </p:txBody>
      </p:sp>
      <p:sp>
        <p:nvSpPr>
          <p:cNvPr id="20" name="Shape 33"/>
          <p:cNvSpPr/>
          <p:nvPr/>
        </p:nvSpPr>
        <p:spPr>
          <a:xfrm>
            <a:off x="4387697" y="3101340"/>
            <a:ext cx="3416141" cy="1367314"/>
          </a:xfrm>
          <a:prstGeom prst="roundRect">
            <a:avLst>
              <a:gd name="adj" fmla="val 9753"/>
            </a:avLst>
          </a:prstGeom>
          <a:solidFill>
            <a:srgbClr val="FFF7E2"/>
          </a:solidFill>
          <a:ln w="9525">
            <a:solidFill>
              <a:srgbClr val="EFDBAB"/>
            </a:solidFill>
            <a:prstDash val="solid"/>
          </a:ln>
        </p:spPr>
      </p:sp>
      <p:sp>
        <p:nvSpPr>
          <p:cNvPr id="21" name="TextBox 34"/>
          <p:cNvSpPr/>
          <p:nvPr/>
        </p:nvSpPr>
        <p:spPr>
          <a:xfrm>
            <a:off x="4540097" y="3263265"/>
            <a:ext cx="999331" cy="257175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956600"/>
                </a:solidFill>
                <a:highlight>
                  <a:srgbClr val="FFF2CC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sparse support</a:t>
            </a:r>
            <a:endParaRPr lang="en-US" sz="825" dirty="0"/>
          </a:p>
        </p:txBody>
      </p:sp>
      <p:sp>
        <p:nvSpPr>
          <p:cNvPr id="22" name="TextBox 35"/>
          <p:cNvSpPr/>
          <p:nvPr/>
        </p:nvSpPr>
        <p:spPr>
          <a:xfrm>
            <a:off x="4540097" y="3615690"/>
            <a:ext cx="3111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threshold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sparse q</a:t>
            </a:r>
            <a:endParaRPr lang="en-US" sz="1500" dirty="0"/>
          </a:p>
        </p:txBody>
      </p:sp>
      <p:sp>
        <p:nvSpPr>
          <p:cNvPr id="23" name="TextBox 36"/>
          <p:cNvSpPr/>
          <p:nvPr/>
        </p:nvSpPr>
        <p:spPr>
          <a:xfrm>
            <a:off x="4540097" y="4149090"/>
            <a:ext cx="3111341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非零候補と乗数を同じ座標集合で管理。</a:t>
            </a:r>
            <a:endParaRPr lang="en-US" sz="975" dirty="0"/>
          </a:p>
        </p:txBody>
      </p:sp>
      <p:sp>
        <p:nvSpPr>
          <p:cNvPr id="24" name="TextBox 38"/>
          <p:cNvSpPr/>
          <p:nvPr/>
        </p:nvSpPr>
        <p:spPr>
          <a:xfrm>
            <a:off x="7899089" y="3575368"/>
            <a:ext cx="2857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50" dirty="0"/>
          </a:p>
        </p:txBody>
      </p:sp>
      <p:sp>
        <p:nvSpPr>
          <p:cNvPr id="25" name="Shape 40"/>
          <p:cNvSpPr/>
          <p:nvPr/>
        </p:nvSpPr>
        <p:spPr>
          <a:xfrm>
            <a:off x="8280089" y="3101340"/>
            <a:ext cx="3416141" cy="1367314"/>
          </a:xfrm>
          <a:prstGeom prst="roundRect">
            <a:avLst>
              <a:gd name="adj" fmla="val 9753"/>
            </a:avLst>
          </a:prstGeom>
          <a:solidFill>
            <a:srgbClr val="E7F6EC"/>
          </a:solidFill>
          <a:ln w="9525">
            <a:solidFill>
              <a:srgbClr val="B9DFC7"/>
            </a:solidFill>
            <a:prstDash val="solid"/>
          </a:ln>
        </p:spPr>
      </p:sp>
      <p:sp>
        <p:nvSpPr>
          <p:cNvPr id="26" name="TextBox 41"/>
          <p:cNvSpPr/>
          <p:nvPr/>
        </p:nvSpPr>
        <p:spPr>
          <a:xfrm>
            <a:off x="8432489" y="3263265"/>
            <a:ext cx="620236" cy="257175"/>
          </a:xfrm>
          <a:prstGeom prst="roundRect">
            <a:avLst>
              <a:gd name="adj" fmla="val 50000"/>
            </a:avLst>
          </a:prstGeom>
          <a:solidFill>
            <a:srgbClr val="DEF4E8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77B54"/>
                </a:solidFill>
                <a:highlight>
                  <a:srgbClr val="DEF4E8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decoder</a:t>
            </a:r>
            <a:endParaRPr lang="en-US" sz="825" dirty="0"/>
          </a:p>
        </p:txBody>
      </p:sp>
      <p:sp>
        <p:nvSpPr>
          <p:cNvPr id="27" name="TextBox 42"/>
          <p:cNvSpPr/>
          <p:nvPr/>
        </p:nvSpPr>
        <p:spPr>
          <a:xfrm>
            <a:off x="8432489" y="3615690"/>
            <a:ext cx="311134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fixed-beam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max-sum</a:t>
            </a:r>
            <a:endParaRPr lang="en-US" sz="1500" dirty="0"/>
          </a:p>
        </p:txBody>
      </p:sp>
      <p:sp>
        <p:nvSpPr>
          <p:cNvPr id="28" name="TextBox 43"/>
          <p:cNvSpPr/>
          <p:nvPr/>
        </p:nvSpPr>
        <p:spPr>
          <a:xfrm>
            <a:off x="8432489" y="4149090"/>
            <a:ext cx="3111341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DDのfolding / alignmentをlinear decoderで復号。</a:t>
            </a:r>
            <a:endParaRPr lang="en-US" sz="975" dirty="0"/>
          </a:p>
        </p:txBody>
      </p:sp>
      <p:sp>
        <p:nvSpPr>
          <p:cNvPr id="29" name="Shape 47"/>
          <p:cNvSpPr/>
          <p:nvPr/>
        </p:nvSpPr>
        <p:spPr>
          <a:xfrm>
            <a:off x="495306" y="464010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0" name="TextBox 48"/>
          <p:cNvSpPr/>
          <p:nvPr/>
        </p:nvSpPr>
        <p:spPr>
          <a:xfrm>
            <a:off x="628656" y="476392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BPP beam</a:t>
            </a:r>
            <a:endParaRPr lang="en-US" sz="1050" dirty="0"/>
          </a:p>
        </p:txBody>
      </p:sp>
      <p:sp>
        <p:nvSpPr>
          <p:cNvPr id="31" name="TextBox 49"/>
          <p:cNvSpPr/>
          <p:nvPr/>
        </p:nvSpPr>
        <p:spPr>
          <a:xfrm>
            <a:off x="628656" y="502110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default 100</a:t>
            </a:r>
            <a:endParaRPr lang="en-US" sz="900" dirty="0"/>
          </a:p>
        </p:txBody>
      </p:sp>
      <p:sp>
        <p:nvSpPr>
          <p:cNvPr id="32" name="Shape 50"/>
          <p:cNvSpPr/>
          <p:nvPr/>
        </p:nvSpPr>
        <p:spPr>
          <a:xfrm>
            <a:off x="3321850" y="464010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3" name="TextBox 51"/>
          <p:cNvSpPr/>
          <p:nvPr/>
        </p:nvSpPr>
        <p:spPr>
          <a:xfrm>
            <a:off x="3455200" y="476392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alignment beam</a:t>
            </a:r>
            <a:endParaRPr lang="en-US" sz="1050" dirty="0"/>
          </a:p>
        </p:txBody>
      </p:sp>
      <p:sp>
        <p:nvSpPr>
          <p:cNvPr id="34" name="TextBox 52"/>
          <p:cNvSpPr/>
          <p:nvPr/>
        </p:nvSpPr>
        <p:spPr>
          <a:xfrm>
            <a:off x="3455200" y="502110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default 100</a:t>
            </a:r>
            <a:endParaRPr lang="en-US" sz="900" dirty="0"/>
          </a:p>
        </p:txBody>
      </p:sp>
      <p:sp>
        <p:nvSpPr>
          <p:cNvPr id="35" name="Shape 53"/>
          <p:cNvSpPr/>
          <p:nvPr/>
        </p:nvSpPr>
        <p:spPr>
          <a:xfrm>
            <a:off x="6148393" y="464010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6" name="TextBox 54"/>
          <p:cNvSpPr/>
          <p:nvPr/>
        </p:nvSpPr>
        <p:spPr>
          <a:xfrm>
            <a:off x="6281743" y="476392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threshold</a:t>
            </a:r>
            <a:endParaRPr lang="en-US" sz="1050" dirty="0"/>
          </a:p>
        </p:txBody>
      </p:sp>
      <p:sp>
        <p:nvSpPr>
          <p:cNvPr id="37" name="TextBox 55"/>
          <p:cNvSpPr/>
          <p:nvPr/>
        </p:nvSpPr>
        <p:spPr>
          <a:xfrm>
            <a:off x="6281743" y="502110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supportを固定</a:t>
            </a:r>
            <a:endParaRPr lang="en-US" sz="900" dirty="0"/>
          </a:p>
        </p:txBody>
      </p:sp>
      <p:sp>
        <p:nvSpPr>
          <p:cNvPr id="38" name="Shape 56"/>
          <p:cNvSpPr/>
          <p:nvPr/>
        </p:nvSpPr>
        <p:spPr>
          <a:xfrm>
            <a:off x="8974937" y="464010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9" name="TextBox 57"/>
          <p:cNvSpPr/>
          <p:nvPr/>
        </p:nvSpPr>
        <p:spPr>
          <a:xfrm>
            <a:off x="9108287" y="476392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40" name="TextBox 58"/>
          <p:cNvSpPr/>
          <p:nvPr/>
        </p:nvSpPr>
        <p:spPr>
          <a:xfrm>
            <a:off x="9108287" y="502110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固定条件でO(n)</a:t>
            </a:r>
            <a:endParaRPr lang="en-US" sz="900" dirty="0"/>
          </a:p>
        </p:txBody>
      </p:sp>
      <p:pic>
        <p:nvPicPr>
          <p:cNvPr id="41" name="Picture 6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5432584"/>
            <a:ext cx="11201083" cy="401955"/>
          </a:xfrm>
          <a:prstGeom prst="rect">
            <a:avLst/>
          </a:prstGeom>
        </p:spPr>
      </p:pic>
      <p:sp>
        <p:nvSpPr>
          <p:cNvPr id="42" name="TextBox 60"/>
          <p:cNvSpPr/>
          <p:nvPr/>
        </p:nvSpPr>
        <p:spPr>
          <a:xfrm>
            <a:off x="495306" y="5432584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「線形」はbeam幅・閾値・反復数・profile配列数を固定したときの、profile長に対するスケーリング。</a:t>
            </a:r>
            <a:endParaRPr lang="en-US" sz="975" dirty="0"/>
          </a:p>
        </p:txBody>
      </p:sp>
      <p:sp>
        <p:nvSpPr>
          <p:cNvPr id="43" name="TextBox 62"/>
          <p:cNvSpPr/>
          <p:nvPr/>
        </p:nvSpPr>
        <p:spPr>
          <a:xfrm>
            <a:off x="495306" y="6650355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Implementation: src/linearalign.cpp · src/linearnussinov.cpp · src/linearneedleman_wunsch.cpp · src/sparse_matrix.h · docs/linearization_paper_draft_ja.md</a:t>
            </a:r>
            <a:endParaRPr lang="en-US" sz="6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 / RIBOSUM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RIBOSUM：wを「制約補助変数」から「生物学的scoreを持つ変数」へ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5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単独base-pair probabilityでは区別しにくい、pair–pairの保存・compensatory substitutionを目的関数へ入れた。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63041"/>
            <a:ext cx="5514816" cy="1493520"/>
          </a:xfrm>
          <a:prstGeom prst="roundRect">
            <a:avLst>
              <a:gd name="adj" fmla="val 8291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657231" y="1624966"/>
            <a:ext cx="824865" cy="257175"/>
          </a:xfrm>
          <a:prstGeom prst="roundRect">
            <a:avLst>
              <a:gd name="adj" fmla="val 50000"/>
            </a:avLst>
          </a:prstGeom>
          <a:solidFill>
            <a:srgbClr val="FFE6ED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B63F60"/>
                </a:solidFill>
                <a:highlight>
                  <a:srgbClr val="FFE6ED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元論文の係数</a:t>
            </a:r>
            <a:endParaRPr lang="en-US" sz="825" dirty="0"/>
          </a:p>
        </p:txBody>
      </p:sp>
      <p:sp>
        <p:nvSpPr>
          <p:cNvPr id="9" name="TextBox 15"/>
          <p:cNvSpPr/>
          <p:nvPr/>
        </p:nvSpPr>
        <p:spPr>
          <a:xfrm>
            <a:off x="657231" y="1996441"/>
            <a:ext cx="5190966" cy="570230"/>
          </a:xfrm>
          <a:prstGeom prst="roundRect">
            <a:avLst>
              <a:gd name="adj" fmla="val 20045"/>
            </a:avLst>
          </a:prstGeom>
          <a:solidFill>
            <a:srgbClr val="081321"/>
          </a:solidFill>
          <a:ln/>
        </p:spPr>
        <p:txBody>
          <a:bodyPr wrap="square" lIns="161925" tIns="142875" rIns="161925" bIns="142875" rtlCol="0" anchor="t">
            <a:spAutoFit/>
          </a:bodyPr>
          <a:lstStyle/>
          <a:p>
            <a:pPr algn="l" indent="0" marL="0">
              <a:lnSpc>
                <a:spcPts val="1204"/>
              </a:lnSpc>
              <a:buNone/>
            </a:pPr>
            <a:r>
              <a:rPr lang="en-US" sz="1200" dirty="0">
                <a:solidFill>
                  <a:srgbClr val="E7F5F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</a:t>
            </a:r>
            <a:r>
              <a:rPr lang="en-US" sz="1000" dirty="0">
                <a:solidFill>
                  <a:srgbClr val="E7F5F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ijkl</a:t>
            </a:r>
            <a:r>
              <a:rPr lang="en-US" sz="1200" dirty="0">
                <a:solidFill>
                  <a:srgbClr val="E7F5F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= … + </a:t>
            </a:r>
            <a:r>
              <a:rPr lang="en-US" sz="825" dirty="0">
                <a:solidFill>
                  <a:srgbClr val="8DA9B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0 · w</a:t>
            </a:r>
            <a:r>
              <a:rPr lang="en-US" sz="688" dirty="0">
                <a:solidFill>
                  <a:srgbClr val="8DA9B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ijkl</a:t>
            </a:r>
            <a:endParaRPr lang="en-US" sz="1200" dirty="0"/>
          </a:p>
        </p:txBody>
      </p:sp>
      <p:sp>
        <p:nvSpPr>
          <p:cNvPr id="10" name="TextBox 16"/>
          <p:cNvSpPr/>
          <p:nvPr/>
        </p:nvSpPr>
        <p:spPr>
          <a:xfrm>
            <a:off x="657231" y="2633344"/>
            <a:ext cx="5190966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pair–pair matchそのものには、実質的なscoreを持たせていなかった。</a:t>
            </a:r>
            <a:endParaRPr lang="en-US" sz="975" dirty="0"/>
          </a:p>
        </p:txBody>
      </p:sp>
      <p:sp>
        <p:nvSpPr>
          <p:cNvPr id="11" name="Shape 18"/>
          <p:cNvSpPr/>
          <p:nvPr/>
        </p:nvSpPr>
        <p:spPr>
          <a:xfrm>
            <a:off x="6181573" y="1463041"/>
            <a:ext cx="5514816" cy="1493520"/>
          </a:xfrm>
          <a:prstGeom prst="roundRect">
            <a:avLst>
              <a:gd name="adj" fmla="val 8291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12" name="TextBox 19"/>
          <p:cNvSpPr/>
          <p:nvPr/>
        </p:nvSpPr>
        <p:spPr>
          <a:xfrm>
            <a:off x="6343498" y="1624966"/>
            <a:ext cx="715963" cy="257175"/>
          </a:xfrm>
          <a:prstGeom prst="roundRect">
            <a:avLst>
              <a:gd name="adj" fmla="val 50000"/>
            </a:avLst>
          </a:prstGeom>
          <a:solidFill>
            <a:srgbClr val="DEF4F3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087F91"/>
                </a:solidFill>
                <a:highlight>
                  <a:srgbClr val="DEF4F3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今回の実装</a:t>
            </a:r>
            <a:endParaRPr lang="en-US" sz="825" dirty="0"/>
          </a:p>
        </p:txBody>
      </p:sp>
      <p:sp>
        <p:nvSpPr>
          <p:cNvPr id="13" name="TextBox 20"/>
          <p:cNvSpPr/>
          <p:nvPr/>
        </p:nvSpPr>
        <p:spPr>
          <a:xfrm>
            <a:off x="6343498" y="1996441"/>
            <a:ext cx="5190966" cy="570230"/>
          </a:xfrm>
          <a:prstGeom prst="roundRect">
            <a:avLst>
              <a:gd name="adj" fmla="val 20045"/>
            </a:avLst>
          </a:prstGeom>
          <a:solidFill>
            <a:srgbClr val="081321"/>
          </a:solidFill>
          <a:ln/>
        </p:spPr>
        <p:txBody>
          <a:bodyPr wrap="square" lIns="161925" tIns="142875" rIns="161925" bIns="142875" rtlCol="0" anchor="t">
            <a:spAutoFit/>
          </a:bodyPr>
          <a:lstStyle/>
          <a:p>
            <a:pPr algn="l" indent="0" marL="0">
              <a:lnSpc>
                <a:spcPts val="1749"/>
              </a:lnSpc>
              <a:buNone/>
            </a:pPr>
            <a:r>
              <a:rPr lang="en-US" sz="1200" dirty="0">
                <a:solidFill>
                  <a:srgbClr val="E7F5F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c</a:t>
            </a:r>
            <a:r>
              <a:rPr lang="en-US" sz="1000" dirty="0">
                <a:solidFill>
                  <a:srgbClr val="E7F5F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ijkl</a:t>
            </a:r>
            <a:r>
              <a:rPr lang="en-US" sz="1200" dirty="0">
                <a:solidFill>
                  <a:srgbClr val="E7F5F4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 = … + </a:t>
            </a:r>
            <a:r>
              <a:rPr lang="en-US" sz="1200" dirty="0">
                <a:solidFill>
                  <a:srgbClr val="EAB84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ρ R</a:t>
            </a:r>
            <a:r>
              <a:rPr lang="en-US" sz="1000" dirty="0">
                <a:solidFill>
                  <a:srgbClr val="EAB843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ijkl</a:t>
            </a:r>
            <a:endParaRPr lang="en-US" sz="1200" dirty="0"/>
          </a:p>
        </p:txBody>
      </p:sp>
      <p:sp>
        <p:nvSpPr>
          <p:cNvPr id="14" name="TextBox 21"/>
          <p:cNvSpPr/>
          <p:nvPr/>
        </p:nvSpPr>
        <p:spPr>
          <a:xfrm>
            <a:off x="6343498" y="2633344"/>
            <a:ext cx="5190966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RIBOSUM85-60をsoft objectiveとして付加。負scoreをhard filterにはしない。</a:t>
            </a:r>
            <a:endParaRPr lang="en-US" sz="975" dirty="0"/>
          </a:p>
        </p:txBody>
      </p:sp>
      <p:sp>
        <p:nvSpPr>
          <p:cNvPr id="15" name="Shape 25"/>
          <p:cNvSpPr/>
          <p:nvPr/>
        </p:nvSpPr>
        <p:spPr>
          <a:xfrm>
            <a:off x="495306" y="313753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6" name="TextBox 26"/>
          <p:cNvSpPr/>
          <p:nvPr/>
        </p:nvSpPr>
        <p:spPr>
          <a:xfrm>
            <a:off x="628656" y="326135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 reduced cost</a:t>
            </a:r>
            <a:endParaRPr lang="en-US" sz="1050" dirty="0"/>
          </a:p>
        </p:txBody>
      </p:sp>
      <p:sp>
        <p:nvSpPr>
          <p:cNvPr id="17" name="TextBox 27"/>
          <p:cNvSpPr/>
          <p:nvPr/>
        </p:nvSpPr>
        <p:spPr>
          <a:xfrm>
            <a:off x="628656" y="351853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candidate pricingと同じRを使う</a:t>
            </a:r>
            <a:endParaRPr lang="en-US" sz="900" dirty="0"/>
          </a:p>
        </p:txBody>
      </p:sp>
      <p:sp>
        <p:nvSpPr>
          <p:cNvPr id="18" name="Shape 28"/>
          <p:cNvSpPr/>
          <p:nvPr/>
        </p:nvSpPr>
        <p:spPr>
          <a:xfrm>
            <a:off x="3321850" y="313753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9" name="TextBox 29"/>
          <p:cNvSpPr/>
          <p:nvPr/>
        </p:nvSpPr>
        <p:spPr>
          <a:xfrm>
            <a:off x="3455200" y="326135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repair LB</a:t>
            </a:r>
            <a:endParaRPr lang="en-US" sz="1050" dirty="0"/>
          </a:p>
        </p:txBody>
      </p:sp>
      <p:sp>
        <p:nvSpPr>
          <p:cNvPr id="20" name="TextBox 30"/>
          <p:cNvSpPr/>
          <p:nvPr/>
        </p:nvSpPr>
        <p:spPr>
          <a:xfrm>
            <a:off x="3455200" y="351853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実行可能解のscoreにも入る</a:t>
            </a:r>
            <a:endParaRPr lang="en-US" sz="900" dirty="0"/>
          </a:p>
        </p:txBody>
      </p:sp>
      <p:sp>
        <p:nvSpPr>
          <p:cNvPr id="21" name="Shape 31"/>
          <p:cNvSpPr/>
          <p:nvPr/>
        </p:nvSpPr>
        <p:spPr>
          <a:xfrm>
            <a:off x="6148393" y="313753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22" name="TextBox 32"/>
          <p:cNvSpPr/>
          <p:nvPr/>
        </p:nvSpPr>
        <p:spPr>
          <a:xfrm>
            <a:off x="6281743" y="326135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IP objective</a:t>
            </a:r>
            <a:endParaRPr lang="en-US" sz="1050" dirty="0"/>
          </a:p>
        </p:txBody>
      </p:sp>
      <p:sp>
        <p:nvSpPr>
          <p:cNvPr id="23" name="TextBox 33"/>
          <p:cNvSpPr/>
          <p:nvPr/>
        </p:nvSpPr>
        <p:spPr>
          <a:xfrm>
            <a:off x="6281743" y="351853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dual / primalの定義を一致</a:t>
            </a:r>
            <a:endParaRPr lang="en-US" sz="900" dirty="0"/>
          </a:p>
        </p:txBody>
      </p:sp>
      <p:sp>
        <p:nvSpPr>
          <p:cNvPr id="24" name="Shape 34"/>
          <p:cNvSpPr/>
          <p:nvPr/>
        </p:nvSpPr>
        <p:spPr>
          <a:xfrm>
            <a:off x="8974937" y="3137534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25" name="TextBox 35"/>
          <p:cNvSpPr/>
          <p:nvPr/>
        </p:nvSpPr>
        <p:spPr>
          <a:xfrm>
            <a:off x="9108287" y="3261359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effect</a:t>
            </a:r>
            <a:endParaRPr lang="en-US" sz="1050" dirty="0"/>
          </a:p>
        </p:txBody>
      </p:sp>
      <p:sp>
        <p:nvSpPr>
          <p:cNvPr id="26" name="TextBox 36"/>
          <p:cNvSpPr/>
          <p:nvPr/>
        </p:nvSpPr>
        <p:spPr>
          <a:xfrm>
            <a:off x="9108287" y="3518534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構造的なpair型を評価</a:t>
            </a:r>
            <a:endParaRPr lang="en-US" sz="900" dirty="0"/>
          </a:p>
        </p:txBody>
      </p:sp>
      <p:sp>
        <p:nvSpPr>
          <p:cNvPr id="27" name="Shape 38"/>
          <p:cNvSpPr/>
          <p:nvPr/>
        </p:nvSpPr>
        <p:spPr>
          <a:xfrm>
            <a:off x="495306" y="3949066"/>
            <a:ext cx="11201083" cy="9525"/>
          </a:xfrm>
          <a:prstGeom prst="rect">
            <a:avLst/>
          </a:prstGeom>
          <a:solidFill>
            <a:srgbClr val="D6E2E5"/>
          </a:solidFill>
          <a:ln/>
        </p:spPr>
      </p:sp>
      <p:sp>
        <p:nvSpPr>
          <p:cNvPr id="28" name="Shape 41"/>
          <p:cNvSpPr/>
          <p:nvPr/>
        </p:nvSpPr>
        <p:spPr>
          <a:xfrm>
            <a:off x="495306" y="4149091"/>
            <a:ext cx="2721769" cy="1047115"/>
          </a:xfrm>
          <a:prstGeom prst="roundRect">
            <a:avLst>
              <a:gd name="adj" fmla="val 11825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29" name="TextBox 42"/>
          <p:cNvSpPr/>
          <p:nvPr/>
        </p:nvSpPr>
        <p:spPr>
          <a:xfrm>
            <a:off x="657231" y="4301491"/>
            <a:ext cx="2397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MURLET / SPS</a:t>
            </a:r>
            <a:endParaRPr lang="en-US" sz="825" dirty="0"/>
          </a:p>
        </p:txBody>
      </p:sp>
      <p:sp>
        <p:nvSpPr>
          <p:cNvPr id="30" name="TextBox 43"/>
          <p:cNvSpPr/>
          <p:nvPr/>
        </p:nvSpPr>
        <p:spPr>
          <a:xfrm>
            <a:off x="657231" y="4530091"/>
            <a:ext cx="23979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.8220 → .8222</a:t>
            </a:r>
            <a:endParaRPr lang="en-US" sz="2175" dirty="0"/>
          </a:p>
        </p:txBody>
      </p:sp>
      <p:sp>
        <p:nvSpPr>
          <p:cNvPr id="31" name="TextBox 44"/>
          <p:cNvSpPr/>
          <p:nvPr/>
        </p:nvSpPr>
        <p:spPr>
          <a:xfrm>
            <a:off x="657231" y="4872991"/>
            <a:ext cx="2397919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LinearAlign, ρ=0 → .3</a:t>
            </a:r>
            <a:endParaRPr lang="en-US" sz="975" dirty="0"/>
          </a:p>
        </p:txBody>
      </p:sp>
      <p:sp>
        <p:nvSpPr>
          <p:cNvPr id="32" name="Shape 45"/>
          <p:cNvSpPr/>
          <p:nvPr/>
        </p:nvSpPr>
        <p:spPr>
          <a:xfrm>
            <a:off x="3321850" y="4149091"/>
            <a:ext cx="2721769" cy="1047115"/>
          </a:xfrm>
          <a:prstGeom prst="roundRect">
            <a:avLst>
              <a:gd name="adj" fmla="val 11825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3" name="TextBox 46"/>
          <p:cNvSpPr/>
          <p:nvPr/>
        </p:nvSpPr>
        <p:spPr>
          <a:xfrm>
            <a:off x="3483775" y="4301491"/>
            <a:ext cx="2397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MCC</a:t>
            </a:r>
            <a:endParaRPr lang="en-US" sz="825" dirty="0"/>
          </a:p>
        </p:txBody>
      </p:sp>
      <p:sp>
        <p:nvSpPr>
          <p:cNvPr id="34" name="TextBox 47"/>
          <p:cNvSpPr/>
          <p:nvPr/>
        </p:nvSpPr>
        <p:spPr>
          <a:xfrm>
            <a:off x="3483775" y="4530091"/>
            <a:ext cx="23979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.6502 → .6772</a:t>
            </a:r>
            <a:endParaRPr lang="en-US" sz="2175" dirty="0"/>
          </a:p>
        </p:txBody>
      </p:sp>
      <p:sp>
        <p:nvSpPr>
          <p:cNvPr id="35" name="TextBox 48"/>
          <p:cNvSpPr/>
          <p:nvPr/>
        </p:nvSpPr>
        <p:spPr>
          <a:xfrm>
            <a:off x="3483775" y="4872991"/>
            <a:ext cx="2397919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joint objectiveの改善</a:t>
            </a:r>
            <a:endParaRPr lang="en-US" sz="975" dirty="0"/>
          </a:p>
        </p:txBody>
      </p:sp>
      <p:sp>
        <p:nvSpPr>
          <p:cNvPr id="36" name="Shape 49"/>
          <p:cNvSpPr/>
          <p:nvPr/>
        </p:nvSpPr>
        <p:spPr>
          <a:xfrm>
            <a:off x="6148393" y="4149091"/>
            <a:ext cx="2721769" cy="1047115"/>
          </a:xfrm>
          <a:prstGeom prst="roundRect">
            <a:avLst>
              <a:gd name="adj" fmla="val 11825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7" name="TextBox 50"/>
          <p:cNvSpPr/>
          <p:nvPr/>
        </p:nvSpPr>
        <p:spPr>
          <a:xfrm>
            <a:off x="6310318" y="4301491"/>
            <a:ext cx="2397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CBP-F1</a:t>
            </a:r>
            <a:endParaRPr lang="en-US" sz="825" dirty="0"/>
          </a:p>
        </p:txBody>
      </p:sp>
      <p:sp>
        <p:nvSpPr>
          <p:cNvPr id="38" name="TextBox 51"/>
          <p:cNvSpPr/>
          <p:nvPr/>
        </p:nvSpPr>
        <p:spPr>
          <a:xfrm>
            <a:off x="6310318" y="4530091"/>
            <a:ext cx="23979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.5690 → .5898</a:t>
            </a:r>
            <a:endParaRPr lang="en-US" sz="2175" dirty="0"/>
          </a:p>
        </p:txBody>
      </p:sp>
      <p:sp>
        <p:nvSpPr>
          <p:cNvPr id="39" name="TextBox 52"/>
          <p:cNvSpPr/>
          <p:nvPr/>
        </p:nvSpPr>
        <p:spPr>
          <a:xfrm>
            <a:off x="6310318" y="4872991"/>
            <a:ext cx="2397919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CBP整合性も改善</a:t>
            </a:r>
            <a:endParaRPr lang="en-US" sz="975" dirty="0"/>
          </a:p>
        </p:txBody>
      </p:sp>
      <p:sp>
        <p:nvSpPr>
          <p:cNvPr id="40" name="Shape 53"/>
          <p:cNvSpPr/>
          <p:nvPr/>
        </p:nvSpPr>
        <p:spPr>
          <a:xfrm>
            <a:off x="8974937" y="4149091"/>
            <a:ext cx="2721769" cy="1047115"/>
          </a:xfrm>
          <a:prstGeom prst="roundRect">
            <a:avLst>
              <a:gd name="adj" fmla="val 11825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41" name="TextBox 54"/>
          <p:cNvSpPr/>
          <p:nvPr/>
        </p:nvSpPr>
        <p:spPr>
          <a:xfrm>
            <a:off x="9136862" y="4301491"/>
            <a:ext cx="23979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DECK OPERATING POINT</a:t>
            </a:r>
            <a:endParaRPr lang="en-US" sz="825" dirty="0"/>
          </a:p>
        </p:txBody>
      </p:sp>
      <p:sp>
        <p:nvSpPr>
          <p:cNvPr id="42" name="TextBox 55"/>
          <p:cNvSpPr/>
          <p:nvPr/>
        </p:nvSpPr>
        <p:spPr>
          <a:xfrm>
            <a:off x="9136862" y="4530091"/>
            <a:ext cx="239791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A172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ρ=.3</a:t>
            </a:r>
            <a:endParaRPr lang="en-US" sz="2175" dirty="0"/>
          </a:p>
        </p:txBody>
      </p:sp>
      <p:sp>
        <p:nvSpPr>
          <p:cNvPr id="43" name="TextBox 56"/>
          <p:cNvSpPr/>
          <p:nvPr/>
        </p:nvSpPr>
        <p:spPr>
          <a:xfrm>
            <a:off x="9136862" y="4872991"/>
            <a:ext cx="2397919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LinearTurboFold由来score</a:t>
            </a:r>
            <a:endParaRPr lang="en-US" sz="975" dirty="0"/>
          </a:p>
        </p:txBody>
      </p:sp>
      <p:pic>
        <p:nvPicPr>
          <p:cNvPr id="44" name="Picture 5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5339081"/>
            <a:ext cx="11201083" cy="401955"/>
          </a:xfrm>
          <a:prstGeom prst="rect">
            <a:avLst/>
          </a:prstGeom>
        </p:spPr>
      </p:pic>
      <p:sp>
        <p:nvSpPr>
          <p:cNvPr id="45" name="TextBox 58"/>
          <p:cNvSpPr/>
          <p:nvPr/>
        </p:nvSpPr>
        <p:spPr>
          <a:xfrm>
            <a:off x="495306" y="5339081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RIBOSUMは別処理ではなく、DD・dynamic CBP・repair・IPを貫く同じ目的関数の追加項。</a:t>
            </a:r>
            <a:endParaRPr lang="en-US" sz="975" dirty="0"/>
          </a:p>
        </p:txBody>
      </p:sp>
      <p:sp>
        <p:nvSpPr>
          <p:cNvPr id="46" name="TextBox 60"/>
          <p:cNvSpPr/>
          <p:nvPr/>
        </p:nvSpPr>
        <p:spPr>
          <a:xfrm>
            <a:off x="495306" y="6650355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RIBOSUM85-60 · LinearAlignはLinearTurboFold由来のBeamAlign/HMM scoreを使用 · 本資料のlinear条件は LinearAlign + lpc + ρ=.3。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05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 / CERTIFIED UB + LB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UB / LB：最適値を「下から」と「上から」挟む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5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DAFSは最大化問題。実行可能解のscoreはLB、制約を緩めた問題の厳密解はUBになる。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72566"/>
            <a:ext cx="3783648" cy="2209800"/>
          </a:xfrm>
          <a:prstGeom prst="roundRect">
            <a:avLst>
              <a:gd name="adj" fmla="val 6034"/>
            </a:avLst>
          </a:prstGeom>
          <a:solidFill>
            <a:srgbClr val="E8F7ED"/>
          </a:solidFill>
          <a:ln w="9525">
            <a:solidFill>
              <a:srgbClr val="BEE2CA"/>
            </a:solidFill>
            <a:prstDash val="solid"/>
          </a:ln>
        </p:spPr>
      </p:sp>
      <p:sp>
        <p:nvSpPr>
          <p:cNvPr id="8" name="TextBox 15"/>
          <p:cNvSpPr/>
          <p:nvPr/>
        </p:nvSpPr>
        <p:spPr>
          <a:xfrm>
            <a:off x="647706" y="1624966"/>
            <a:ext cx="34788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/ 下から押さえる</a:t>
            </a:r>
            <a:endParaRPr lang="en-US" sz="825" dirty="0"/>
          </a:p>
        </p:txBody>
      </p:sp>
      <p:sp>
        <p:nvSpPr>
          <p:cNvPr id="9" name="TextBox 17"/>
          <p:cNvSpPr/>
          <p:nvPr/>
        </p:nvSpPr>
        <p:spPr>
          <a:xfrm>
            <a:off x="647706" y="1882141"/>
            <a:ext cx="347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beam → repair</a:t>
            </a:r>
            <a:endParaRPr lang="en-US" sz="1500" dirty="0"/>
          </a:p>
        </p:txBody>
      </p:sp>
      <p:sp>
        <p:nvSpPr>
          <p:cNvPr id="10" name="TextBox 19"/>
          <p:cNvSpPr/>
          <p:nvPr/>
        </p:nvSpPr>
        <p:spPr>
          <a:xfrm>
            <a:off x="647706" y="2186941"/>
            <a:ext cx="347884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beamで構造・alignmentの候補を探す。3者が噛み合わなければ、intersection / consensus repairで整合させる。</a:t>
            </a:r>
            <a:endParaRPr lang="en-US" sz="975" dirty="0"/>
          </a:p>
        </p:txBody>
      </p:sp>
      <p:sp>
        <p:nvSpPr>
          <p:cNvPr id="11" name="Shape 21"/>
          <p:cNvSpPr/>
          <p:nvPr/>
        </p:nvSpPr>
        <p:spPr>
          <a:xfrm>
            <a:off x="647706" y="2657475"/>
            <a:ext cx="3478848" cy="590550"/>
          </a:xfrm>
          <a:prstGeom prst="roundRect">
            <a:avLst>
              <a:gd name="adj" fmla="val 16129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2" name="TextBox 22"/>
          <p:cNvSpPr/>
          <p:nvPr/>
        </p:nvSpPr>
        <p:spPr>
          <a:xfrm>
            <a:off x="752481" y="2752725"/>
            <a:ext cx="3269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66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実行可能解のscore</a:t>
            </a:r>
            <a:endParaRPr lang="en-US" sz="825" dirty="0"/>
          </a:p>
        </p:txBody>
      </p:sp>
      <p:sp>
        <p:nvSpPr>
          <p:cNvPr id="13" name="TextBox 23"/>
          <p:cNvSpPr/>
          <p:nvPr/>
        </p:nvSpPr>
        <p:spPr>
          <a:xfrm>
            <a:off x="752481" y="2943225"/>
            <a:ext cx="3269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1886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score ≤ OPT　⇒　LB</a:t>
            </a:r>
            <a:endParaRPr lang="en-US" sz="1500" dirty="0"/>
          </a:p>
        </p:txBody>
      </p:sp>
      <p:sp>
        <p:nvSpPr>
          <p:cNvPr id="14" name="TextBox 25"/>
          <p:cNvSpPr/>
          <p:nvPr/>
        </p:nvSpPr>
        <p:spPr>
          <a:xfrm>
            <a:off x="647706" y="3352800"/>
            <a:ext cx="34788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66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良い解が見つかるほど LB は上がる ↑</a:t>
            </a:r>
            <a:endParaRPr lang="en-US" sz="900" dirty="0"/>
          </a:p>
        </p:txBody>
      </p:sp>
      <p:sp>
        <p:nvSpPr>
          <p:cNvPr id="15" name="Shape 28"/>
          <p:cNvSpPr/>
          <p:nvPr/>
        </p:nvSpPr>
        <p:spPr>
          <a:xfrm>
            <a:off x="4393254" y="1472566"/>
            <a:ext cx="3405187" cy="2209800"/>
          </a:xfrm>
          <a:prstGeom prst="roundRect">
            <a:avLst>
              <a:gd name="adj" fmla="val 6034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16" name="TextBox 30"/>
          <p:cNvSpPr/>
          <p:nvPr/>
        </p:nvSpPr>
        <p:spPr>
          <a:xfrm>
            <a:off x="4545654" y="1775459"/>
            <a:ext cx="310038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825" b="1" spc="99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対象のDAFS問題</a:t>
            </a:r>
            <a:endParaRPr lang="en-US" sz="825" dirty="0"/>
          </a:p>
        </p:txBody>
      </p:sp>
      <p:sp>
        <p:nvSpPr>
          <p:cNvPr id="17" name="TextBox 32"/>
          <p:cNvSpPr/>
          <p:nvPr/>
        </p:nvSpPr>
        <p:spPr>
          <a:xfrm>
            <a:off x="4545654" y="2032634"/>
            <a:ext cx="31003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本当に知りたい値</a:t>
            </a:r>
            <a:endParaRPr lang="en-US" sz="1500" dirty="0"/>
          </a:p>
        </p:txBody>
      </p:sp>
      <p:sp>
        <p:nvSpPr>
          <p:cNvPr id="18" name="TextBox 34"/>
          <p:cNvSpPr/>
          <p:nvPr/>
        </p:nvSpPr>
        <p:spPr>
          <a:xfrm>
            <a:off x="5752948" y="2423159"/>
            <a:ext cx="685800" cy="49530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47625" dir="5400000">
              <a:srgbClr val="081321">
                <a:alpha val="8000"/>
              </a:srgbClr>
            </a:outerShdw>
          </a:effectLst>
        </p:spPr>
        <p:txBody>
          <a:bodyPr wrap="square" lIns="142875" tIns="114300" rIns="142875" bIns="114300" rtlCol="0" anchor="t">
            <a:sp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1426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</a:t>
            </a:r>
            <a:endParaRPr lang="en-US" sz="2100" dirty="0"/>
          </a:p>
        </p:txBody>
      </p:sp>
      <p:sp>
        <p:nvSpPr>
          <p:cNvPr id="19" name="TextBox 36"/>
          <p:cNvSpPr/>
          <p:nvPr/>
        </p:nvSpPr>
        <p:spPr>
          <a:xfrm>
            <a:off x="4545654" y="3032759"/>
            <a:ext cx="310038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全制約を満たす構造・alignment・CBPの最大score。直接求めるのが難しいので、両側から挟む。</a:t>
            </a:r>
            <a:endParaRPr lang="en-US" sz="975" dirty="0"/>
          </a:p>
        </p:txBody>
      </p:sp>
      <p:sp>
        <p:nvSpPr>
          <p:cNvPr id="20" name="Shape 39"/>
          <p:cNvSpPr/>
          <p:nvPr/>
        </p:nvSpPr>
        <p:spPr>
          <a:xfrm>
            <a:off x="7912741" y="1472566"/>
            <a:ext cx="3783648" cy="2209800"/>
          </a:xfrm>
          <a:prstGeom prst="roundRect">
            <a:avLst>
              <a:gd name="adj" fmla="val 6034"/>
            </a:avLst>
          </a:prstGeom>
          <a:solidFill>
            <a:srgbClr val="FFF7E3"/>
          </a:solidFill>
          <a:ln w="9525">
            <a:solidFill>
              <a:srgbClr val="EFDBAE"/>
            </a:solidFill>
            <a:prstDash val="solid"/>
          </a:ln>
        </p:spPr>
      </p:sp>
      <p:sp>
        <p:nvSpPr>
          <p:cNvPr id="21" name="TextBox 41"/>
          <p:cNvSpPr/>
          <p:nvPr/>
        </p:nvSpPr>
        <p:spPr>
          <a:xfrm>
            <a:off x="8065141" y="1624966"/>
            <a:ext cx="347884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 / 上から押さえる</a:t>
            </a:r>
            <a:endParaRPr lang="en-US" sz="825" dirty="0"/>
          </a:p>
        </p:txBody>
      </p:sp>
      <p:sp>
        <p:nvSpPr>
          <p:cNvPr id="22" name="TextBox 43"/>
          <p:cNvSpPr/>
          <p:nvPr/>
        </p:nvSpPr>
        <p:spPr>
          <a:xfrm>
            <a:off x="8065141" y="1882141"/>
            <a:ext cx="34788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relaxation → certificate</a:t>
            </a:r>
            <a:endParaRPr lang="en-US" sz="1500" dirty="0"/>
          </a:p>
        </p:txBody>
      </p:sp>
      <p:sp>
        <p:nvSpPr>
          <p:cNvPr id="23" name="TextBox 45"/>
          <p:cNvSpPr/>
          <p:nvPr/>
        </p:nvSpPr>
        <p:spPr>
          <a:xfrm>
            <a:off x="8065141" y="2186941"/>
            <a:ext cx="3478848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制約を外して候補集合を広げた問題を、folding certificateやrow relaxationで厳密に解く。</a:t>
            </a:r>
            <a:endParaRPr lang="en-US" sz="975" dirty="0"/>
          </a:p>
        </p:txBody>
      </p:sp>
      <p:sp>
        <p:nvSpPr>
          <p:cNvPr id="24" name="Shape 47"/>
          <p:cNvSpPr/>
          <p:nvPr/>
        </p:nvSpPr>
        <p:spPr>
          <a:xfrm>
            <a:off x="8065141" y="2657475"/>
            <a:ext cx="3478848" cy="590550"/>
          </a:xfrm>
          <a:prstGeom prst="roundRect">
            <a:avLst>
              <a:gd name="adj" fmla="val 16129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Box 48"/>
          <p:cNvSpPr/>
          <p:nvPr/>
        </p:nvSpPr>
        <p:spPr>
          <a:xfrm>
            <a:off x="8169916" y="2752725"/>
            <a:ext cx="32692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4766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緩和問題の厳密な最大値</a:t>
            </a:r>
            <a:endParaRPr lang="en-US" sz="825" dirty="0"/>
          </a:p>
        </p:txBody>
      </p:sp>
      <p:sp>
        <p:nvSpPr>
          <p:cNvPr id="26" name="TextBox 49"/>
          <p:cNvSpPr/>
          <p:nvPr/>
        </p:nvSpPr>
        <p:spPr>
          <a:xfrm>
            <a:off x="8169916" y="2943225"/>
            <a:ext cx="326929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500" b="1" dirty="0">
                <a:solidFill>
                  <a:srgbClr val="A273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OPT ≤ relaxed optimum　⇒　UB</a:t>
            </a:r>
            <a:endParaRPr lang="en-US" sz="1500" dirty="0"/>
          </a:p>
        </p:txBody>
      </p:sp>
      <p:sp>
        <p:nvSpPr>
          <p:cNvPr id="27" name="TextBox 51"/>
          <p:cNvSpPr/>
          <p:nvPr/>
        </p:nvSpPr>
        <p:spPr>
          <a:xfrm>
            <a:off x="8065141" y="3352800"/>
            <a:ext cx="34788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76677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証明が強くなるほど UB は下がる ↓</a:t>
            </a:r>
            <a:endParaRPr lang="en-US" sz="900" dirty="0"/>
          </a:p>
        </p:txBody>
      </p:sp>
      <p:sp>
        <p:nvSpPr>
          <p:cNvPr id="28" name="TextBox 55"/>
          <p:cNvSpPr/>
          <p:nvPr/>
        </p:nvSpPr>
        <p:spPr>
          <a:xfrm>
            <a:off x="495306" y="3834766"/>
            <a:ext cx="11201083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100" dirty="0">
                <a:solidFill>
                  <a:srgbClr val="18865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LB</a:t>
            </a:r>
            <a:r>
              <a:rPr lang="en-US" sz="1751" dirty="0">
                <a:solidFill>
                  <a:srgbClr val="18865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</a:t>
            </a:r>
            <a:r>
              <a:rPr lang="en-US" sz="2100" dirty="0">
                <a:solidFill>
                  <a:srgbClr val="1426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　≤　</a:t>
            </a:r>
            <a:r>
              <a:rPr lang="en-US" sz="2100" b="1" dirty="0">
                <a:solidFill>
                  <a:srgbClr val="1426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OPT</a:t>
            </a:r>
            <a:r>
              <a:rPr lang="en-US" sz="2100" dirty="0">
                <a:solidFill>
                  <a:srgbClr val="1426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　≤　</a:t>
            </a:r>
            <a:r>
              <a:rPr lang="en-US" sz="2100" dirty="0">
                <a:solidFill>
                  <a:srgbClr val="A273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UB</a:t>
            </a:r>
            <a:r>
              <a:rPr lang="en-US" sz="1751" dirty="0">
                <a:solidFill>
                  <a:srgbClr val="A2730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</a:t>
            </a:r>
            <a:r>
              <a:rPr lang="en-US" sz="2100" dirty="0">
                <a:solidFill>
                  <a:srgbClr val="14263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</a:t>
            </a:r>
            <a:r>
              <a:rPr lang="en-US" sz="900" dirty="0">
                <a:solidFill>
                  <a:srgbClr val="60768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この範囲は常に正しい</a:t>
            </a:r>
            <a:endParaRPr lang="en-US" sz="2100" dirty="0"/>
          </a:p>
        </p:txBody>
      </p:sp>
      <p:sp>
        <p:nvSpPr>
          <p:cNvPr id="29" name="TextBox 58"/>
          <p:cNvSpPr/>
          <p:nvPr/>
        </p:nvSpPr>
        <p:spPr>
          <a:xfrm>
            <a:off x="495306" y="4392930"/>
            <a:ext cx="6652101" cy="575310"/>
          </a:xfrm>
          <a:prstGeom prst="roundRect">
            <a:avLst>
              <a:gd name="adj" fmla="val 18212"/>
            </a:avLst>
          </a:prstGeom>
          <a:solidFill>
            <a:srgbClr val="EDF8F7"/>
          </a:solidFill>
          <a:ln w="9525">
            <a:solidFill>
              <a:srgbClr val="CFE4E5"/>
            </a:solidFill>
            <a:prstDash val="solid"/>
          </a:ln>
        </p:spPr>
        <p:txBody>
          <a:bodyPr wrap="square" lIns="133350" tIns="104775" rIns="133350" bIns="104775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beamの値をそのままUBとは呼ばない。beam外に、もっと良い解が残っているかもしれないから。beamはLBを探す役割。</a:t>
            </a:r>
            <a:endParaRPr lang="en-US" sz="975" dirty="0"/>
          </a:p>
        </p:txBody>
      </p:sp>
      <p:sp>
        <p:nvSpPr>
          <p:cNvPr id="30" name="TextBox 59"/>
          <p:cNvSpPr/>
          <p:nvPr/>
        </p:nvSpPr>
        <p:spPr>
          <a:xfrm>
            <a:off x="7261708" y="4392930"/>
            <a:ext cx="4434681" cy="575310"/>
          </a:xfrm>
          <a:prstGeom prst="roundRect">
            <a:avLst>
              <a:gd name="adj" fmla="val 18212"/>
            </a:avLst>
          </a:prstGeom>
          <a:solidFill>
            <a:srgbClr val="F0EEFB"/>
          </a:solidFill>
          <a:ln w="9525">
            <a:solidFill>
              <a:srgbClr val="D8D0F1"/>
            </a:solidFill>
            <a:prstDash val="solid"/>
          </a:ln>
        </p:spPr>
        <p:txBody>
          <a:bodyPr wrap="square" lIns="133350" tIns="104775" rIns="133350" bIns="104775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695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gap = UB − LB</a:t>
            </a:r>
            <a:endParaRPr lang="en-US" sz="975" dirty="0"/>
          </a:p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gapが0に近いほど、最適値を狭く特定できる。</a:t>
            </a:r>
            <a:endParaRPr lang="en-US" sz="975" dirty="0"/>
          </a:p>
        </p:txBody>
      </p:sp>
      <p:sp>
        <p:nvSpPr>
          <p:cNvPr id="31" name="TextBox 61"/>
          <p:cNvSpPr/>
          <p:nvPr/>
        </p:nvSpPr>
        <p:spPr>
          <a:xfrm>
            <a:off x="495306" y="5092066"/>
            <a:ext cx="11201083" cy="529907"/>
          </a:xfrm>
          <a:prstGeom prst="roundRect">
            <a:avLst>
              <a:gd name="adj" fmla="val 21570"/>
            </a:avLst>
          </a:prstGeom>
          <a:solidFill>
            <a:srgbClr val="EDF8F7"/>
          </a:solidFill>
          <a:ln w="9525">
            <a:solidFill>
              <a:srgbClr val="CFE4E5"/>
            </a:solidFill>
            <a:prstDash val="solid"/>
          </a:ln>
        </p:spPr>
        <p:txBody>
          <a:bodyPr wrap="square" lIns="161925" tIns="133350" rIns="161925" bIns="13335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050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Polyak step　η</a:t>
            </a:r>
            <a:r>
              <a:rPr lang="en-US" sz="875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</a:t>
            </a:r>
            <a:r>
              <a:rPr lang="en-US" sz="1050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 = α · max(0, D(q</a:t>
            </a:r>
            <a:r>
              <a:rPr lang="en-US" sz="875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</a:t>
            </a:r>
            <a:r>
              <a:rPr lang="en-US" sz="1050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 − LB</a:t>
            </a:r>
            <a:r>
              <a:rPr lang="en-US" sz="875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</a:t>
            </a:r>
            <a:r>
              <a:rPr lang="en-US" sz="1050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) / ||g</a:t>
            </a:r>
            <a:r>
              <a:rPr lang="en-US" sz="875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</a:t>
            </a:r>
            <a:r>
              <a:rPr lang="en-US" sz="1050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||² </a:t>
            </a:r>
            <a:r>
              <a:rPr lang="en-US" sz="1050" dirty="0">
                <a:solidFill>
                  <a:srgbClr val="2147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relaxationの目的値と、その同じ問題のsubgradientを対応させる</a:t>
            </a:r>
            <a:endParaRPr lang="en-US" sz="1050" dirty="0"/>
          </a:p>
        </p:txBody>
      </p:sp>
      <p:sp>
        <p:nvSpPr>
          <p:cNvPr id="32" name="TextBox 63"/>
          <p:cNvSpPr/>
          <p:nvPr/>
        </p:nvSpPr>
        <p:spPr>
          <a:xfrm>
            <a:off x="495306" y="6650355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src/relaxed_bounds.h · src/dafs.cpp:1367–1380, 1630–1645 · docs/linearization_paper_draft_ja.md §3.7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06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 / DYNAMIC CBP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dynamic CBP：必要な列だけを生成し、pricingで漏れを探す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5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CBP候補を最初から全列挙せず、現在の解とreduced costを見ながらworking setを更新する。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539241"/>
            <a:ext cx="2179320" cy="1571625"/>
          </a:xfrm>
          <a:prstGeom prst="roundRect">
            <a:avLst>
              <a:gd name="adj" fmla="val 7273"/>
            </a:avLst>
          </a:prstGeom>
          <a:solidFill>
            <a:srgbClr val="0B8798"/>
          </a:solidFill>
          <a:ln/>
        </p:spPr>
      </p:sp>
      <p:sp>
        <p:nvSpPr>
          <p:cNvPr id="8" name="TextBox 14"/>
          <p:cNvSpPr/>
          <p:nvPr/>
        </p:nvSpPr>
        <p:spPr>
          <a:xfrm>
            <a:off x="609606" y="1672591"/>
            <a:ext cx="1950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FFFFFF">
                    <a:alpha val="78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01</a:t>
            </a:r>
            <a:endParaRPr lang="en-US" sz="825" dirty="0"/>
          </a:p>
        </p:txBody>
      </p:sp>
      <p:sp>
        <p:nvSpPr>
          <p:cNvPr id="9" name="TextBox 15"/>
          <p:cNvSpPr/>
          <p:nvPr/>
        </p:nvSpPr>
        <p:spPr>
          <a:xfrm>
            <a:off x="609606" y="1948816"/>
            <a:ext cx="1950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ADD</a:t>
            </a:r>
            <a:endParaRPr lang="en-US" sz="1350" dirty="0"/>
          </a:p>
        </p:txBody>
      </p:sp>
      <p:sp>
        <p:nvSpPr>
          <p:cNvPr id="10" name="TextBox 16"/>
          <p:cNvSpPr/>
          <p:nvPr/>
        </p:nvSpPr>
        <p:spPr>
          <a:xfrm>
            <a:off x="609606" y="2230755"/>
            <a:ext cx="195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現在のx / y / zから、整合しそうなCBPを双方向separationで候補化。</a:t>
            </a:r>
            <a:endParaRPr lang="en-US" sz="900" dirty="0"/>
          </a:p>
        </p:txBody>
      </p:sp>
      <p:sp>
        <p:nvSpPr>
          <p:cNvPr id="11" name="Shape 18"/>
          <p:cNvSpPr/>
          <p:nvPr/>
        </p:nvSpPr>
        <p:spPr>
          <a:xfrm>
            <a:off x="2750826" y="1539241"/>
            <a:ext cx="2179320" cy="1571625"/>
          </a:xfrm>
          <a:prstGeom prst="roundRect">
            <a:avLst>
              <a:gd name="adj" fmla="val 7273"/>
            </a:avLst>
          </a:prstGeom>
          <a:solidFill>
            <a:srgbClr val="9F7816"/>
          </a:solidFill>
          <a:ln/>
        </p:spPr>
      </p:sp>
      <p:sp>
        <p:nvSpPr>
          <p:cNvPr id="12" name="TextBox 19"/>
          <p:cNvSpPr/>
          <p:nvPr/>
        </p:nvSpPr>
        <p:spPr>
          <a:xfrm>
            <a:off x="2865126" y="1672591"/>
            <a:ext cx="1950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FFFFFF">
                    <a:alpha val="78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02</a:t>
            </a:r>
            <a:endParaRPr lang="en-US" sz="825" dirty="0"/>
          </a:p>
        </p:txBody>
      </p:sp>
      <p:sp>
        <p:nvSpPr>
          <p:cNvPr id="13" name="TextBox 20"/>
          <p:cNvSpPr/>
          <p:nvPr/>
        </p:nvSpPr>
        <p:spPr>
          <a:xfrm>
            <a:off x="2865126" y="1948816"/>
            <a:ext cx="1950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PRICE</a:t>
            </a:r>
            <a:endParaRPr lang="en-US" sz="1350" dirty="0"/>
          </a:p>
        </p:txBody>
      </p:sp>
      <p:sp>
        <p:nvSpPr>
          <p:cNvPr id="14" name="TextBox 21"/>
          <p:cNvSpPr/>
          <p:nvPr/>
        </p:nvSpPr>
        <p:spPr>
          <a:xfrm>
            <a:off x="2865126" y="2230755"/>
            <a:ext cx="195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未追加の候補をreduced costで走査。RIBOSUM項もここに入る。</a:t>
            </a:r>
            <a:endParaRPr lang="en-US" sz="900" dirty="0"/>
          </a:p>
        </p:txBody>
      </p:sp>
      <p:sp>
        <p:nvSpPr>
          <p:cNvPr id="15" name="Shape 23"/>
          <p:cNvSpPr/>
          <p:nvPr/>
        </p:nvSpPr>
        <p:spPr>
          <a:xfrm>
            <a:off x="5006347" y="1539241"/>
            <a:ext cx="2179320" cy="1571625"/>
          </a:xfrm>
          <a:prstGeom prst="roundRect">
            <a:avLst>
              <a:gd name="adj" fmla="val 7273"/>
            </a:avLst>
          </a:prstGeom>
          <a:solidFill>
            <a:srgbClr val="B65070"/>
          </a:solidFill>
          <a:ln/>
        </p:spPr>
      </p:sp>
      <p:sp>
        <p:nvSpPr>
          <p:cNvPr id="16" name="TextBox 24"/>
          <p:cNvSpPr/>
          <p:nvPr/>
        </p:nvSpPr>
        <p:spPr>
          <a:xfrm>
            <a:off x="5120647" y="1672591"/>
            <a:ext cx="1950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FFFFFF">
                    <a:alpha val="78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03</a:t>
            </a:r>
            <a:endParaRPr lang="en-US" sz="825" dirty="0"/>
          </a:p>
        </p:txBody>
      </p:sp>
      <p:sp>
        <p:nvSpPr>
          <p:cNvPr id="17" name="TextBox 25"/>
          <p:cNvSpPr/>
          <p:nvPr/>
        </p:nvSpPr>
        <p:spPr>
          <a:xfrm>
            <a:off x="5120647" y="1948816"/>
            <a:ext cx="1950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PRUNE</a:t>
            </a:r>
            <a:endParaRPr lang="en-US" sz="1350" dirty="0"/>
          </a:p>
        </p:txBody>
      </p:sp>
      <p:sp>
        <p:nvSpPr>
          <p:cNvPr id="18" name="TextBox 26"/>
          <p:cNvSpPr/>
          <p:nvPr/>
        </p:nvSpPr>
        <p:spPr>
          <a:xfrm>
            <a:off x="5120647" y="2230755"/>
            <a:ext cx="195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staleな列をworking setから外し、次の反復を小さく保つ。</a:t>
            </a:r>
            <a:endParaRPr lang="en-US" sz="900" dirty="0"/>
          </a:p>
        </p:txBody>
      </p:sp>
      <p:sp>
        <p:nvSpPr>
          <p:cNvPr id="19" name="Shape 28"/>
          <p:cNvSpPr/>
          <p:nvPr/>
        </p:nvSpPr>
        <p:spPr>
          <a:xfrm>
            <a:off x="7261866" y="1539241"/>
            <a:ext cx="2179320" cy="1571625"/>
          </a:xfrm>
          <a:prstGeom prst="roundRect">
            <a:avLst>
              <a:gd name="adj" fmla="val 7273"/>
            </a:avLst>
          </a:prstGeom>
          <a:solidFill>
            <a:srgbClr val="67569D"/>
          </a:solidFill>
          <a:ln/>
        </p:spPr>
      </p:sp>
      <p:sp>
        <p:nvSpPr>
          <p:cNvPr id="20" name="TextBox 29"/>
          <p:cNvSpPr/>
          <p:nvPr/>
        </p:nvSpPr>
        <p:spPr>
          <a:xfrm>
            <a:off x="7376166" y="1672591"/>
            <a:ext cx="1950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FFFFFF">
                    <a:alpha val="78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STEP 04</a:t>
            </a:r>
            <a:endParaRPr lang="en-US" sz="825" dirty="0"/>
          </a:p>
        </p:txBody>
      </p:sp>
      <p:sp>
        <p:nvSpPr>
          <p:cNvPr id="21" name="TextBox 30"/>
          <p:cNvSpPr/>
          <p:nvPr/>
        </p:nvSpPr>
        <p:spPr>
          <a:xfrm>
            <a:off x="7376166" y="1948816"/>
            <a:ext cx="19507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RE-SOLVE</a:t>
            </a:r>
            <a:endParaRPr lang="en-US" sz="1350" dirty="0"/>
          </a:p>
        </p:txBody>
      </p:sp>
      <p:sp>
        <p:nvSpPr>
          <p:cNvPr id="22" name="TextBox 31"/>
          <p:cNvSpPr/>
          <p:nvPr/>
        </p:nvSpPr>
        <p:spPr>
          <a:xfrm>
            <a:off x="7376166" y="2230755"/>
            <a:ext cx="19507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E5F0F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 decoder・LB repair・UB certificateを同じcandidate集合で更新。</a:t>
            </a:r>
            <a:endParaRPr lang="en-US" sz="900" dirty="0"/>
          </a:p>
        </p:txBody>
      </p:sp>
      <p:sp>
        <p:nvSpPr>
          <p:cNvPr id="23" name="Shape 33"/>
          <p:cNvSpPr/>
          <p:nvPr/>
        </p:nvSpPr>
        <p:spPr>
          <a:xfrm>
            <a:off x="9517386" y="1539241"/>
            <a:ext cx="2179320" cy="1571625"/>
          </a:xfrm>
          <a:prstGeom prst="roundRect">
            <a:avLst>
              <a:gd name="adj" fmla="val 7273"/>
            </a:avLst>
          </a:prstGeom>
          <a:solidFill>
            <a:srgbClr val="E7F6EC"/>
          </a:solidFill>
          <a:ln w="9525">
            <a:solidFill>
              <a:srgbClr val="BCE3CA"/>
            </a:solidFill>
            <a:prstDash val="solid"/>
          </a:ln>
        </p:spPr>
      </p:sp>
      <p:sp>
        <p:nvSpPr>
          <p:cNvPr id="24" name="TextBox 34"/>
          <p:cNvSpPr/>
          <p:nvPr/>
        </p:nvSpPr>
        <p:spPr>
          <a:xfrm>
            <a:off x="9641211" y="1682116"/>
            <a:ext cx="193167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99" kern="0" dirty="0">
                <a:solidFill>
                  <a:srgbClr val="14263B">
                    <a:alpha val="78000"/>
                  </a:srgbClr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RESULT</a:t>
            </a:r>
            <a:endParaRPr lang="en-US" sz="825" dirty="0"/>
          </a:p>
        </p:txBody>
      </p:sp>
      <p:sp>
        <p:nvSpPr>
          <p:cNvPr id="25" name="TextBox 35"/>
          <p:cNvSpPr/>
          <p:nvPr/>
        </p:nvSpPr>
        <p:spPr>
          <a:xfrm>
            <a:off x="9641211" y="1958341"/>
            <a:ext cx="19316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full problem</a:t>
            </a:r>
            <a:endParaRPr lang="en-US" sz="135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へ近づく</a:t>
            </a:r>
            <a:endParaRPr lang="en-US" sz="1350" dirty="0"/>
          </a:p>
        </p:txBody>
      </p:sp>
      <p:sp>
        <p:nvSpPr>
          <p:cNvPr id="26" name="TextBox 36"/>
          <p:cNvSpPr/>
          <p:nvPr/>
        </p:nvSpPr>
        <p:spPr>
          <a:xfrm>
            <a:off x="9641211" y="2446020"/>
            <a:ext cx="193167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positive reduced-cost columnを逃さず、固定support上で列生成を続ける。</a:t>
            </a:r>
            <a:endParaRPr lang="en-US" sz="900" dirty="0"/>
          </a:p>
        </p:txBody>
      </p:sp>
      <p:sp>
        <p:nvSpPr>
          <p:cNvPr id="27" name="Shape 40"/>
          <p:cNvSpPr/>
          <p:nvPr/>
        </p:nvSpPr>
        <p:spPr>
          <a:xfrm>
            <a:off x="495306" y="3339466"/>
            <a:ext cx="5138896" cy="1409700"/>
          </a:xfrm>
          <a:prstGeom prst="roundRect">
            <a:avLst>
              <a:gd name="adj" fmla="val 8784"/>
            </a:avLst>
          </a:prstGeom>
          <a:solidFill>
            <a:srgbClr val="FCECF0"/>
          </a:solidFill>
          <a:ln w="9525">
            <a:solidFill>
              <a:srgbClr val="F1CBD5"/>
            </a:solidFill>
            <a:prstDash val="solid"/>
          </a:ln>
        </p:spPr>
      </p:sp>
      <p:sp>
        <p:nvSpPr>
          <p:cNvPr id="28" name="TextBox 41"/>
          <p:cNvSpPr/>
          <p:nvPr/>
        </p:nvSpPr>
        <p:spPr>
          <a:xfrm>
            <a:off x="657231" y="3510916"/>
            <a:ext cx="1718945" cy="257175"/>
          </a:xfrm>
          <a:prstGeom prst="roundRect">
            <a:avLst>
              <a:gd name="adj" fmla="val 50000"/>
            </a:avLst>
          </a:prstGeom>
          <a:solidFill>
            <a:srgbClr val="FFE6ED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B63F60"/>
                </a:solidFill>
                <a:highlight>
                  <a:srgbClr val="FFE6ED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STATIC / PRE-ENUMERATION</a:t>
            </a:r>
            <a:endParaRPr lang="en-US" sz="825" dirty="0"/>
          </a:p>
        </p:txBody>
      </p:sp>
      <p:sp>
        <p:nvSpPr>
          <p:cNvPr id="29" name="TextBox 42"/>
          <p:cNvSpPr/>
          <p:nvPr/>
        </p:nvSpPr>
        <p:spPr>
          <a:xfrm>
            <a:off x="657231" y="3863341"/>
            <a:ext cx="481504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B63F6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CBPを先に全部作る</a:t>
            </a:r>
            <a:endParaRPr lang="en-US" sz="1275" dirty="0"/>
          </a:p>
        </p:txBody>
      </p:sp>
      <p:sp>
        <p:nvSpPr>
          <p:cNvPr id="30" name="TextBox 43"/>
          <p:cNvSpPr/>
          <p:nvPr/>
        </p:nvSpPr>
        <p:spPr>
          <a:xfrm>
            <a:off x="657231" y="4143375"/>
            <a:ext cx="4815046" cy="173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67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候補数がprofile長に伴って膨らみ、RIBOSUMを入れるほど管理コストも重くなる。</a:t>
            </a:r>
            <a:endParaRPr lang="en-US" sz="975" dirty="0"/>
          </a:p>
        </p:txBody>
      </p:sp>
      <p:sp>
        <p:nvSpPr>
          <p:cNvPr id="31" name="Shape 44"/>
          <p:cNvSpPr/>
          <p:nvPr/>
        </p:nvSpPr>
        <p:spPr>
          <a:xfrm>
            <a:off x="5786603" y="3339466"/>
            <a:ext cx="5909786" cy="1409700"/>
          </a:xfrm>
          <a:prstGeom prst="roundRect">
            <a:avLst>
              <a:gd name="adj" fmla="val 8784"/>
            </a:avLst>
          </a:prstGeom>
          <a:solidFill>
            <a:srgbClr val="E6F7F5"/>
          </a:solidFill>
          <a:ln w="9525">
            <a:solidFill>
              <a:srgbClr val="BCE4E0"/>
            </a:solidFill>
            <a:prstDash val="solid"/>
          </a:ln>
        </p:spPr>
      </p:sp>
      <p:sp>
        <p:nvSpPr>
          <p:cNvPr id="32" name="TextBox 45"/>
          <p:cNvSpPr/>
          <p:nvPr/>
        </p:nvSpPr>
        <p:spPr>
          <a:xfrm>
            <a:off x="5948528" y="3510916"/>
            <a:ext cx="1544637" cy="257175"/>
          </a:xfrm>
          <a:prstGeom prst="roundRect">
            <a:avLst>
              <a:gd name="adj" fmla="val 50000"/>
            </a:avLst>
          </a:prstGeom>
          <a:solidFill>
            <a:srgbClr val="DEF4F3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087F91"/>
                </a:solidFill>
                <a:highlight>
                  <a:srgbClr val="DEF4F3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DYNAMIC / WORKING SET</a:t>
            </a:r>
            <a:endParaRPr lang="en-US" sz="825" dirty="0"/>
          </a:p>
        </p:txBody>
      </p:sp>
      <p:sp>
        <p:nvSpPr>
          <p:cNvPr id="33" name="TextBox 46"/>
          <p:cNvSpPr/>
          <p:nvPr/>
        </p:nvSpPr>
        <p:spPr>
          <a:xfrm>
            <a:off x="5948528" y="3863341"/>
            <a:ext cx="558593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解きながら追加・削除</a:t>
            </a:r>
            <a:endParaRPr lang="en-US" sz="1275" dirty="0"/>
          </a:p>
        </p:txBody>
      </p:sp>
      <p:sp>
        <p:nvSpPr>
          <p:cNvPr id="34" name="TextBox 47"/>
          <p:cNvSpPr/>
          <p:nvPr/>
        </p:nvSpPr>
        <p:spPr>
          <a:xfrm>
            <a:off x="5948528" y="4143375"/>
            <a:ext cx="5585936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267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候補生成とpricingを分け、score・repair・証明を同じ列集合に通す。linear pathのための実装上の要所。</a:t>
            </a:r>
            <a:endParaRPr lang="en-US" sz="975" dirty="0"/>
          </a:p>
        </p:txBody>
      </p:sp>
      <p:sp>
        <p:nvSpPr>
          <p:cNvPr id="35" name="Shape 50"/>
          <p:cNvSpPr/>
          <p:nvPr/>
        </p:nvSpPr>
        <p:spPr>
          <a:xfrm>
            <a:off x="495306" y="4911091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6" name="TextBox 51"/>
          <p:cNvSpPr/>
          <p:nvPr/>
        </p:nvSpPr>
        <p:spPr>
          <a:xfrm>
            <a:off x="628656" y="5034916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candidate cache</a:t>
            </a:r>
            <a:endParaRPr lang="en-US" sz="1050" dirty="0"/>
          </a:p>
        </p:txBody>
      </p:sp>
      <p:sp>
        <p:nvSpPr>
          <p:cNvPr id="37" name="TextBox 52"/>
          <p:cNvSpPr/>
          <p:nvPr/>
        </p:nvSpPr>
        <p:spPr>
          <a:xfrm>
            <a:off x="628656" y="5292091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endpoint別に再利用</a:t>
            </a:r>
            <a:endParaRPr lang="en-US" sz="900" dirty="0"/>
          </a:p>
        </p:txBody>
      </p:sp>
      <p:sp>
        <p:nvSpPr>
          <p:cNvPr id="38" name="Shape 53"/>
          <p:cNvSpPr/>
          <p:nvPr/>
        </p:nvSpPr>
        <p:spPr>
          <a:xfrm>
            <a:off x="3321850" y="4911091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9" name="TextBox 54"/>
          <p:cNvSpPr/>
          <p:nvPr/>
        </p:nvSpPr>
        <p:spPr>
          <a:xfrm>
            <a:off x="3455200" y="5034916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positive score</a:t>
            </a:r>
            <a:endParaRPr lang="en-US" sz="1050" dirty="0"/>
          </a:p>
        </p:txBody>
      </p:sp>
      <p:sp>
        <p:nvSpPr>
          <p:cNvPr id="40" name="TextBox 55"/>
          <p:cNvSpPr/>
          <p:nvPr/>
        </p:nvSpPr>
        <p:spPr>
          <a:xfrm>
            <a:off x="3455200" y="5292091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 positive columnを守る</a:t>
            </a:r>
            <a:endParaRPr lang="en-US" sz="900" dirty="0"/>
          </a:p>
        </p:txBody>
      </p:sp>
      <p:sp>
        <p:nvSpPr>
          <p:cNvPr id="41" name="Shape 56"/>
          <p:cNvSpPr/>
          <p:nvPr/>
        </p:nvSpPr>
        <p:spPr>
          <a:xfrm>
            <a:off x="6148393" y="4911091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42" name="TextBox 57"/>
          <p:cNvSpPr/>
          <p:nvPr/>
        </p:nvSpPr>
        <p:spPr>
          <a:xfrm>
            <a:off x="6281743" y="5034916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stale pruning</a:t>
            </a:r>
            <a:endParaRPr lang="en-US" sz="1050" dirty="0"/>
          </a:p>
        </p:txBody>
      </p:sp>
      <p:sp>
        <p:nvSpPr>
          <p:cNvPr id="43" name="TextBox 58"/>
          <p:cNvSpPr/>
          <p:nvPr/>
        </p:nvSpPr>
        <p:spPr>
          <a:xfrm>
            <a:off x="6281743" y="5292091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working setをcompactに保つ</a:t>
            </a:r>
            <a:endParaRPr lang="en-US" sz="900" dirty="0"/>
          </a:p>
        </p:txBody>
      </p:sp>
      <p:sp>
        <p:nvSpPr>
          <p:cNvPr id="44" name="Shape 59"/>
          <p:cNvSpPr/>
          <p:nvPr/>
        </p:nvSpPr>
        <p:spPr>
          <a:xfrm>
            <a:off x="8974937" y="4911091"/>
            <a:ext cx="2721769" cy="659130"/>
          </a:xfrm>
          <a:prstGeom prst="roundRect">
            <a:avLst>
              <a:gd name="adj" fmla="val 1589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45" name="TextBox 60"/>
          <p:cNvSpPr/>
          <p:nvPr/>
        </p:nvSpPr>
        <p:spPr>
          <a:xfrm>
            <a:off x="9108287" y="5034916"/>
            <a:ext cx="24550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same objective</a:t>
            </a:r>
            <a:endParaRPr lang="en-US" sz="1050" dirty="0"/>
          </a:p>
        </p:txBody>
      </p:sp>
      <p:sp>
        <p:nvSpPr>
          <p:cNvPr id="46" name="TextBox 61"/>
          <p:cNvSpPr/>
          <p:nvPr/>
        </p:nvSpPr>
        <p:spPr>
          <a:xfrm>
            <a:off x="9108287" y="5292091"/>
            <a:ext cx="2455069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 / LB / IPで一貫</a:t>
            </a:r>
            <a:endParaRPr lang="en-US" sz="900" dirty="0"/>
          </a:p>
        </p:txBody>
      </p:sp>
      <p:sp>
        <p:nvSpPr>
          <p:cNvPr id="47" name="TextBox 63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src/dafs.cpp:426–464, 1272–1295, 1650–1660 · src/ribosum.cpp · docs/linearization_paper_draft_ja.md §3.9–3.10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07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HOW THE FOUR CHANGES CONNECT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元論文との差分を一枚で見ると、こうなる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posteriorの近似を入り口に、候補生成・最適化・証明を一本のlinearizable loopとして実装した。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558291"/>
            <a:ext cx="1943100" cy="1534477"/>
          </a:xfrm>
          <a:prstGeom prst="roundRect">
            <a:avLst>
              <a:gd name="adj" fmla="val 8690"/>
            </a:avLst>
          </a:prstGeom>
          <a:solidFill>
            <a:srgbClr val="E8F7F6"/>
          </a:solidFill>
          <a:ln w="9525">
            <a:solidFill>
              <a:srgbClr val="B9E5E2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647706" y="1720216"/>
            <a:ext cx="303213" cy="257175"/>
          </a:xfrm>
          <a:prstGeom prst="roundRect">
            <a:avLst>
              <a:gd name="adj" fmla="val 50000"/>
            </a:avLst>
          </a:prstGeom>
          <a:solidFill>
            <a:srgbClr val="DEF4F3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087F91"/>
                </a:solidFill>
                <a:highlight>
                  <a:srgbClr val="DEF4F3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825" dirty="0"/>
          </a:p>
        </p:txBody>
      </p:sp>
      <p:sp>
        <p:nvSpPr>
          <p:cNvPr id="9" name="TextBox 15"/>
          <p:cNvSpPr/>
          <p:nvPr/>
        </p:nvSpPr>
        <p:spPr>
          <a:xfrm>
            <a:off x="647706" y="2072641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posterior</a:t>
            </a:r>
            <a:endParaRPr lang="en-US" sz="1500" dirty="0"/>
          </a:p>
        </p:txBody>
      </p:sp>
      <p:sp>
        <p:nvSpPr>
          <p:cNvPr id="10" name="TextBox 16"/>
          <p:cNvSpPr/>
          <p:nvPr/>
        </p:nvSpPr>
        <p:spPr>
          <a:xfrm>
            <a:off x="647706" y="2606041"/>
            <a:ext cx="1638300" cy="33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固定beamでBPP / matchを計算。</a:t>
            </a:r>
            <a:endParaRPr lang="en-US" sz="975" dirty="0"/>
          </a:p>
        </p:txBody>
      </p:sp>
      <p:sp>
        <p:nvSpPr>
          <p:cNvPr id="11" name="TextBox 17"/>
          <p:cNvSpPr/>
          <p:nvPr/>
        </p:nvSpPr>
        <p:spPr>
          <a:xfrm>
            <a:off x="2505081" y="2115978"/>
            <a:ext cx="238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50" dirty="0"/>
          </a:p>
        </p:txBody>
      </p:sp>
      <p:sp>
        <p:nvSpPr>
          <p:cNvPr id="12" name="Shape 19"/>
          <p:cNvSpPr/>
          <p:nvPr/>
        </p:nvSpPr>
        <p:spPr>
          <a:xfrm>
            <a:off x="2809881" y="1558291"/>
            <a:ext cx="1943100" cy="1534477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3" name="TextBox 20"/>
          <p:cNvSpPr/>
          <p:nvPr/>
        </p:nvSpPr>
        <p:spPr>
          <a:xfrm>
            <a:off x="2962281" y="1720216"/>
            <a:ext cx="303213" cy="257175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956600"/>
                </a:solidFill>
                <a:highlight>
                  <a:srgbClr val="FFF2CC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02</a:t>
            </a:r>
            <a:endParaRPr lang="en-US" sz="825" dirty="0"/>
          </a:p>
        </p:txBody>
      </p:sp>
      <p:sp>
        <p:nvSpPr>
          <p:cNvPr id="14" name="TextBox 21"/>
          <p:cNvSpPr/>
          <p:nvPr/>
        </p:nvSpPr>
        <p:spPr>
          <a:xfrm>
            <a:off x="2962281" y="2072641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score</a:t>
            </a:r>
            <a:endParaRPr lang="en-US" sz="1500" dirty="0"/>
          </a:p>
        </p:txBody>
      </p:sp>
      <p:sp>
        <p:nvSpPr>
          <p:cNvPr id="15" name="TextBox 22"/>
          <p:cNvSpPr/>
          <p:nvPr/>
        </p:nvSpPr>
        <p:spPr>
          <a:xfrm>
            <a:off x="2962281" y="2606041"/>
            <a:ext cx="1638300" cy="33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pair–pair matchを目的関数へ。</a:t>
            </a:r>
            <a:endParaRPr lang="en-US" sz="975" dirty="0"/>
          </a:p>
        </p:txBody>
      </p:sp>
      <p:sp>
        <p:nvSpPr>
          <p:cNvPr id="16" name="TextBox 23"/>
          <p:cNvSpPr/>
          <p:nvPr/>
        </p:nvSpPr>
        <p:spPr>
          <a:xfrm>
            <a:off x="4819656" y="2115978"/>
            <a:ext cx="238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50" dirty="0"/>
          </a:p>
        </p:txBody>
      </p:sp>
      <p:sp>
        <p:nvSpPr>
          <p:cNvPr id="17" name="Shape 25"/>
          <p:cNvSpPr/>
          <p:nvPr/>
        </p:nvSpPr>
        <p:spPr>
          <a:xfrm>
            <a:off x="5124456" y="1641793"/>
            <a:ext cx="1943100" cy="1367314"/>
          </a:xfrm>
          <a:prstGeom prst="roundRect">
            <a:avLst>
              <a:gd name="adj" fmla="val 9753"/>
            </a:avLst>
          </a:prstGeom>
          <a:solidFill>
            <a:srgbClr val="FFF7E2"/>
          </a:solidFill>
          <a:ln w="9525">
            <a:solidFill>
              <a:srgbClr val="EFDBAB"/>
            </a:solidFill>
            <a:prstDash val="solid"/>
          </a:ln>
        </p:spPr>
      </p:sp>
      <p:sp>
        <p:nvSpPr>
          <p:cNvPr id="18" name="TextBox 26"/>
          <p:cNvSpPr/>
          <p:nvPr/>
        </p:nvSpPr>
        <p:spPr>
          <a:xfrm>
            <a:off x="5276856" y="1803718"/>
            <a:ext cx="303213" cy="257175"/>
          </a:xfrm>
          <a:prstGeom prst="roundRect">
            <a:avLst>
              <a:gd name="adj" fmla="val 50000"/>
            </a:avLst>
          </a:prstGeom>
          <a:solidFill>
            <a:srgbClr val="FFF2CC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956600"/>
                </a:solidFill>
                <a:highlight>
                  <a:srgbClr val="FFF2CC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04</a:t>
            </a:r>
            <a:endParaRPr lang="en-US" sz="825" dirty="0"/>
          </a:p>
        </p:txBody>
      </p:sp>
      <p:sp>
        <p:nvSpPr>
          <p:cNvPr id="19" name="TextBox 27"/>
          <p:cNvSpPr/>
          <p:nvPr/>
        </p:nvSpPr>
        <p:spPr>
          <a:xfrm>
            <a:off x="5276856" y="2156143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dynamic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CBP</a:t>
            </a:r>
            <a:endParaRPr lang="en-US" sz="1500" dirty="0"/>
          </a:p>
        </p:txBody>
      </p:sp>
      <p:sp>
        <p:nvSpPr>
          <p:cNvPr id="20" name="TextBox 28"/>
          <p:cNvSpPr/>
          <p:nvPr/>
        </p:nvSpPr>
        <p:spPr>
          <a:xfrm>
            <a:off x="5276856" y="2689543"/>
            <a:ext cx="16383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ADD / PRICE / PRUNE。</a:t>
            </a:r>
            <a:endParaRPr lang="en-US" sz="975" dirty="0"/>
          </a:p>
        </p:txBody>
      </p:sp>
      <p:sp>
        <p:nvSpPr>
          <p:cNvPr id="21" name="TextBox 29"/>
          <p:cNvSpPr/>
          <p:nvPr/>
        </p:nvSpPr>
        <p:spPr>
          <a:xfrm>
            <a:off x="7134231" y="2115978"/>
            <a:ext cx="238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31"/>
          <p:cNvSpPr/>
          <p:nvPr/>
        </p:nvSpPr>
        <p:spPr>
          <a:xfrm>
            <a:off x="7439031" y="1558291"/>
            <a:ext cx="1943100" cy="1534477"/>
          </a:xfrm>
          <a:prstGeom prst="roundRect">
            <a:avLst>
              <a:gd name="adj" fmla="val 8690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23" name="TextBox 32"/>
          <p:cNvSpPr/>
          <p:nvPr/>
        </p:nvSpPr>
        <p:spPr>
          <a:xfrm>
            <a:off x="7591431" y="1720216"/>
            <a:ext cx="303213" cy="257175"/>
          </a:xfrm>
          <a:prstGeom prst="roundRect">
            <a:avLst>
              <a:gd name="adj" fmla="val 50000"/>
            </a:avLst>
          </a:prstGeom>
          <a:solidFill>
            <a:srgbClr val="FFE6ED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B63F60"/>
                </a:solidFill>
                <a:highlight>
                  <a:srgbClr val="FFE6ED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01</a:t>
            </a:r>
            <a:endParaRPr lang="en-US" sz="825" dirty="0"/>
          </a:p>
        </p:txBody>
      </p:sp>
      <p:sp>
        <p:nvSpPr>
          <p:cNvPr id="24" name="TextBox 33"/>
          <p:cNvSpPr/>
          <p:nvPr/>
        </p:nvSpPr>
        <p:spPr>
          <a:xfrm>
            <a:off x="7591431" y="2072641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 decoder</a:t>
            </a:r>
            <a:endParaRPr lang="en-US" sz="1500" dirty="0"/>
          </a:p>
        </p:txBody>
      </p:sp>
      <p:sp>
        <p:nvSpPr>
          <p:cNvPr id="25" name="TextBox 34"/>
          <p:cNvSpPr/>
          <p:nvPr/>
        </p:nvSpPr>
        <p:spPr>
          <a:xfrm>
            <a:off x="7591431" y="2606041"/>
            <a:ext cx="1638300" cy="334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fixed-beam max-sumで復号。</a:t>
            </a:r>
            <a:endParaRPr lang="en-US" sz="975" dirty="0"/>
          </a:p>
        </p:txBody>
      </p:sp>
      <p:sp>
        <p:nvSpPr>
          <p:cNvPr id="26" name="TextBox 35"/>
          <p:cNvSpPr/>
          <p:nvPr/>
        </p:nvSpPr>
        <p:spPr>
          <a:xfrm>
            <a:off x="9448806" y="2115978"/>
            <a:ext cx="2381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2250" dirty="0"/>
          </a:p>
        </p:txBody>
      </p:sp>
      <p:sp>
        <p:nvSpPr>
          <p:cNvPr id="27" name="Shape 37"/>
          <p:cNvSpPr/>
          <p:nvPr/>
        </p:nvSpPr>
        <p:spPr>
          <a:xfrm>
            <a:off x="9753606" y="1641793"/>
            <a:ext cx="1943100" cy="1367314"/>
          </a:xfrm>
          <a:prstGeom prst="roundRect">
            <a:avLst>
              <a:gd name="adj" fmla="val 9753"/>
            </a:avLst>
          </a:prstGeom>
          <a:solidFill>
            <a:srgbClr val="E7F6EC"/>
          </a:solidFill>
          <a:ln w="9525">
            <a:solidFill>
              <a:srgbClr val="B9DFC7"/>
            </a:solidFill>
            <a:prstDash val="solid"/>
          </a:ln>
        </p:spPr>
      </p:sp>
      <p:sp>
        <p:nvSpPr>
          <p:cNvPr id="28" name="TextBox 38"/>
          <p:cNvSpPr/>
          <p:nvPr/>
        </p:nvSpPr>
        <p:spPr>
          <a:xfrm>
            <a:off x="9906006" y="1803718"/>
            <a:ext cx="303213" cy="257175"/>
          </a:xfrm>
          <a:prstGeom prst="roundRect">
            <a:avLst>
              <a:gd name="adj" fmla="val 50000"/>
            </a:avLst>
          </a:prstGeom>
          <a:solidFill>
            <a:srgbClr val="DEF4E8"/>
          </a:solidFill>
          <a:ln/>
        </p:spPr>
        <p:txBody>
          <a:bodyPr wrap="square" lIns="85725" tIns="47625" rIns="85725" bIns="47625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33" kern="0" dirty="0">
                <a:solidFill>
                  <a:srgbClr val="177B54"/>
                </a:solidFill>
                <a:highlight>
                  <a:srgbClr val="DEF4E8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03</a:t>
            </a:r>
            <a:endParaRPr lang="en-US" sz="825" dirty="0"/>
          </a:p>
        </p:txBody>
      </p:sp>
      <p:sp>
        <p:nvSpPr>
          <p:cNvPr id="29" name="TextBox 39"/>
          <p:cNvSpPr/>
          <p:nvPr/>
        </p:nvSpPr>
        <p:spPr>
          <a:xfrm>
            <a:off x="9906006" y="2156143"/>
            <a:ext cx="163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repair LB</a:t>
            </a:r>
            <a:endParaRPr lang="en-US" sz="15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+ certified UB</a:t>
            </a:r>
            <a:endParaRPr lang="en-US" sz="1500" dirty="0"/>
          </a:p>
        </p:txBody>
      </p:sp>
      <p:sp>
        <p:nvSpPr>
          <p:cNvPr id="30" name="TextBox 40"/>
          <p:cNvSpPr/>
          <p:nvPr/>
        </p:nvSpPr>
        <p:spPr>
          <a:xfrm>
            <a:off x="9906006" y="2689543"/>
            <a:ext cx="1638300" cy="167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526A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Polyak trackを整合。</a:t>
            </a:r>
            <a:endParaRPr lang="en-US" sz="975" dirty="0"/>
          </a:p>
        </p:txBody>
      </p:sp>
      <p:sp>
        <p:nvSpPr>
          <p:cNvPr id="31" name="Shape 44"/>
          <p:cNvSpPr/>
          <p:nvPr/>
        </p:nvSpPr>
        <p:spPr>
          <a:xfrm>
            <a:off x="495306" y="3368994"/>
            <a:ext cx="5514816" cy="1217930"/>
          </a:xfrm>
          <a:prstGeom prst="roundRect">
            <a:avLst>
              <a:gd name="adj" fmla="val 10167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32" name="TextBox 45"/>
          <p:cNvSpPr/>
          <p:nvPr/>
        </p:nvSpPr>
        <p:spPr>
          <a:xfrm>
            <a:off x="657231" y="3521394"/>
            <a:ext cx="5190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ORIGINAL DAFS</a:t>
            </a:r>
            <a:endParaRPr lang="en-US" sz="825" dirty="0"/>
          </a:p>
        </p:txBody>
      </p:sp>
      <p:sp>
        <p:nvSpPr>
          <p:cNvPr id="33" name="TextBox 46"/>
          <p:cNvSpPr/>
          <p:nvPr/>
        </p:nvSpPr>
        <p:spPr>
          <a:xfrm>
            <a:off x="657231" y="3749994"/>
            <a:ext cx="51909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BD45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decompose</a:t>
            </a:r>
            <a:endParaRPr lang="en-US" sz="2175" dirty="0"/>
          </a:p>
        </p:txBody>
      </p:sp>
      <p:sp>
        <p:nvSpPr>
          <p:cNvPr id="34" name="TextBox 47"/>
          <p:cNvSpPr/>
          <p:nvPr/>
        </p:nvSpPr>
        <p:spPr>
          <a:xfrm>
            <a:off x="657231" y="4092894"/>
            <a:ext cx="5190966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MEA/IPをx / y / z / wへ分解し、subgradientで整合性を回復する。</a:t>
            </a:r>
            <a:endParaRPr lang="en-US" sz="975" dirty="0"/>
          </a:p>
        </p:txBody>
      </p:sp>
      <p:sp>
        <p:nvSpPr>
          <p:cNvPr id="35" name="Shape 48"/>
          <p:cNvSpPr/>
          <p:nvPr/>
        </p:nvSpPr>
        <p:spPr>
          <a:xfrm>
            <a:off x="6181573" y="3368994"/>
            <a:ext cx="5514816" cy="1217930"/>
          </a:xfrm>
          <a:prstGeom prst="roundRect">
            <a:avLst>
              <a:gd name="adj" fmla="val 10167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36" name="TextBox 49"/>
          <p:cNvSpPr/>
          <p:nvPr/>
        </p:nvSpPr>
        <p:spPr>
          <a:xfrm>
            <a:off x="6343498" y="3521394"/>
            <a:ext cx="5190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THIS PROJECT</a:t>
            </a:r>
            <a:endParaRPr lang="en-US" sz="825" dirty="0"/>
          </a:p>
        </p:txBody>
      </p:sp>
      <p:sp>
        <p:nvSpPr>
          <p:cNvPr id="37" name="TextBox 50"/>
          <p:cNvSpPr/>
          <p:nvPr/>
        </p:nvSpPr>
        <p:spPr>
          <a:xfrm>
            <a:off x="6343498" y="3749994"/>
            <a:ext cx="519096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decompose + scale + certify</a:t>
            </a:r>
            <a:endParaRPr lang="en-US" sz="2175" dirty="0"/>
          </a:p>
        </p:txBody>
      </p:sp>
      <p:sp>
        <p:nvSpPr>
          <p:cNvPr id="38" name="TextBox 51"/>
          <p:cNvSpPr/>
          <p:nvPr/>
        </p:nvSpPr>
        <p:spPr>
          <a:xfrm>
            <a:off x="6343498" y="4092894"/>
            <a:ext cx="5190966" cy="341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分解の意味を保ちつつ、長さ依存の各部を線形化し、RIBOSUM・dynamic CBP・厳密UB/LBを追加。</a:t>
            </a:r>
            <a:endParaRPr lang="en-US" sz="975" dirty="0"/>
          </a:p>
        </p:txBody>
      </p:sp>
      <p:pic>
        <p:nvPicPr>
          <p:cNvPr id="39" name="Picture 5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777425"/>
            <a:ext cx="11201083" cy="401955"/>
          </a:xfrm>
          <a:prstGeom prst="rect">
            <a:avLst/>
          </a:prstGeom>
        </p:spPr>
      </p:pic>
      <p:sp>
        <p:nvSpPr>
          <p:cNvPr id="40" name="TextBox 53"/>
          <p:cNvSpPr/>
          <p:nvPr/>
        </p:nvSpPr>
        <p:spPr>
          <a:xfrm>
            <a:off x="495306" y="4777425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一言で：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「DAFSを別の方法にした」のではなく、DAFSのdual decompositionを長鎖向けの疎・固定幅・証明付き実装へ拡張した。</a:t>
            </a:r>
            <a:endParaRPr lang="en-US" sz="975" dirty="0"/>
          </a:p>
        </p:txBody>
      </p:sp>
      <p:sp>
        <p:nvSpPr>
          <p:cNvPr id="41" name="TextBox 55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Original formulation: Sato et al., Bioinformatics 2012 · implementation map: docs/linearization_paper_draft_ja.md §§2–4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08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EXPERIMENTS / MURLET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Murlet：RIBOSUMの重みは nonlinear / linear で分ける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RIBOSUMなし／ありを同じ評価軸で並べ、linearではρ=.3、nonlinearではρ=.075が最も良い条件として比較する。</a:t>
            </a:r>
            <a:endParaRPr lang="en-US" sz="1275" dirty="0"/>
          </a:p>
        </p:txBody>
      </p:sp>
      <p:sp>
        <p:nvSpPr>
          <p:cNvPr id="7" name="Shape 12"/>
          <p:cNvSpPr/>
          <p:nvPr/>
        </p:nvSpPr>
        <p:spPr>
          <a:xfrm>
            <a:off x="495306" y="1453516"/>
            <a:ext cx="6629241" cy="1047115"/>
          </a:xfrm>
          <a:prstGeom prst="roundRect">
            <a:avLst>
              <a:gd name="adj" fmla="val 10916"/>
            </a:avLst>
          </a:prstGeom>
          <a:solidFill>
            <a:srgbClr val="102337"/>
          </a:solidFill>
          <a:ln/>
        </p:spPr>
      </p:sp>
      <p:sp>
        <p:nvSpPr>
          <p:cNvPr id="8" name="TextBox 13"/>
          <p:cNvSpPr/>
          <p:nvPr/>
        </p:nvSpPr>
        <p:spPr>
          <a:xfrm>
            <a:off x="638181" y="1577341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D9D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比較条件</a:t>
            </a:r>
            <a:endParaRPr lang="en-US" sz="1200" dirty="0"/>
          </a:p>
        </p:txBody>
      </p:sp>
      <p:sp>
        <p:nvSpPr>
          <p:cNvPr id="9" name="TextBox 14"/>
          <p:cNvSpPr/>
          <p:nvPr/>
        </p:nvSpPr>
        <p:spPr>
          <a:xfrm>
            <a:off x="638181" y="1863091"/>
            <a:ext cx="6343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BCED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nonlinear: CONTRAlign + CONTRAfold　·　linear: LinearAlign［LinearTurboFold score］+ lpc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BCED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--no-alifold　·　--dynamic-cbp　·　--max-iter=20　·　OMP_NUM_THREADS=1</a:t>
            </a:r>
            <a:endParaRPr lang="en-US" sz="900" dirty="0"/>
          </a:p>
        </p:txBody>
      </p:sp>
      <p:sp>
        <p:nvSpPr>
          <p:cNvPr id="10" name="Shape 15"/>
          <p:cNvSpPr/>
          <p:nvPr/>
        </p:nvSpPr>
        <p:spPr>
          <a:xfrm>
            <a:off x="7276948" y="1453516"/>
            <a:ext cx="4419441" cy="1047115"/>
          </a:xfrm>
          <a:prstGeom prst="roundRect">
            <a:avLst>
              <a:gd name="adj" fmla="val 11825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11" name="TextBox 16"/>
          <p:cNvSpPr/>
          <p:nvPr/>
        </p:nvSpPr>
        <p:spPr>
          <a:xfrm>
            <a:off x="7438873" y="1605916"/>
            <a:ext cx="4095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DATA</a:t>
            </a:r>
            <a:endParaRPr lang="en-US" sz="825" dirty="0"/>
          </a:p>
        </p:txBody>
      </p:sp>
      <p:sp>
        <p:nvSpPr>
          <p:cNvPr id="12" name="TextBox 17"/>
          <p:cNvSpPr/>
          <p:nvPr/>
        </p:nvSpPr>
        <p:spPr>
          <a:xfrm>
            <a:off x="7438873" y="1834516"/>
            <a:ext cx="40955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Murlet / 13</a:t>
            </a:r>
            <a:endParaRPr lang="en-US" sz="2175" dirty="0"/>
          </a:p>
        </p:txBody>
      </p:sp>
      <p:sp>
        <p:nvSpPr>
          <p:cNvPr id="13" name="TextBox 18"/>
          <p:cNvSpPr/>
          <p:nvPr/>
        </p:nvSpPr>
        <p:spPr>
          <a:xfrm>
            <a:off x="7438873" y="2177416"/>
            <a:ext cx="4095591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reference-based accuracy + SCI + resource usage</a:t>
            </a:r>
            <a:endParaRPr lang="en-US" sz="975" dirty="0"/>
          </a:p>
        </p:txBody>
      </p:sp>
      <p:sp>
        <p:nvSpPr>
          <p:cNvPr id="14" name="Shape 20"/>
          <p:cNvSpPr/>
          <p:nvPr/>
        </p:nvSpPr>
        <p:spPr>
          <a:xfrm>
            <a:off x="495306" y="2653029"/>
            <a:ext cx="11201083" cy="2075656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9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6" y="2653029"/>
          <a:ext cx="11201083" cy="914400"/>
        </p:xfrm>
        <a:graphic>
          <a:graphicData uri="http://schemas.openxmlformats.org/drawingml/2006/table">
            <a:tbl>
              <a:tblPr/>
              <a:tblGrid>
                <a:gridCol w="2421890"/>
                <a:gridCol w="1810385"/>
                <a:gridCol w="994886"/>
                <a:gridCol w="994886"/>
                <a:gridCol w="1259205"/>
                <a:gridCol w="994886"/>
                <a:gridCol w="1295083"/>
                <a:gridCol w="142033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構成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Ρ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SPS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MCC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CBP F1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WALL S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RSS MIB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nonlinear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 / 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.8191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.6784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.5919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.6326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11.5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nonlinear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あり / .075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.8224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.6861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.5974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.6590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11.6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/ LTF score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 / 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.8220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.6502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.5690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.5682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2.28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17.0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/ LTF score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あり / .3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.8222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.6772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.5898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.6396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2.38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17.2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LinearTurboFold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—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.8452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.6559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.5509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.6255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7.82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39.2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890613"/>
            <a:ext cx="11201083" cy="401955"/>
          </a:xfrm>
          <a:prstGeom prst="rect">
            <a:avLst/>
          </a:prstGeom>
        </p:spPr>
      </p:pic>
      <p:sp>
        <p:nvSpPr>
          <p:cNvPr id="17" name="TextBox 22"/>
          <p:cNvSpPr/>
          <p:nvPr/>
        </p:nvSpPr>
        <p:spPr>
          <a:xfrm>
            <a:off x="495306" y="4890613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nonlinearはρ=.075、linearはLinearTurboFold由来scoreでρ=.3。linearではMCC・CBP F1・SCIが改善し、LinearTurboFold本体より少ない計算資源で動く。</a:t>
            </a:r>
            <a:endParaRPr lang="en-US" sz="975" dirty="0"/>
          </a:p>
        </p:txBody>
      </p:sp>
      <p:sp>
        <p:nvSpPr>
          <p:cNvPr id="18" name="TextBox 24"/>
          <p:cNvSpPr/>
          <p:nvPr/>
        </p:nvSpPr>
        <p:spPr>
          <a:xfrm>
            <a:off x="495306" y="5378290"/>
            <a:ext cx="11201083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値はMurlet 13 casesの平均。RIBOSUMありの重みは、nonlinear / linearを別々に評価した結果を採用。</a:t>
            </a:r>
            <a:endParaRPr lang="en-US" sz="825" dirty="0"/>
          </a:p>
        </p:txBody>
      </p:sp>
      <p:sp>
        <p:nvSpPr>
          <p:cNvPr id="19" name="TextBox 26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Stored analysis: results-ribosum-sweep-murlet（linear_ribosum_w0300）, results-comparison/linearturbofold-accuracy · commit 9360ad8</a:t>
            </a:r>
            <a:endParaRPr lang="en-US" sz="6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09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EXPERIMENTS / 16S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16S：linear化で長鎖の時間・メモリを抑える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RIBOSUMありは nonlinear ρ=.075、linear ρ=.3。LinearTurboFoldを同じ長鎖入力群で比較する。</a:t>
            </a:r>
            <a:endParaRPr lang="en-US" sz="1275" dirty="0"/>
          </a:p>
        </p:txBody>
      </p:sp>
      <p:sp>
        <p:nvSpPr>
          <p:cNvPr id="7" name="Shape 12"/>
          <p:cNvSpPr/>
          <p:nvPr/>
        </p:nvSpPr>
        <p:spPr>
          <a:xfrm>
            <a:off x="495306" y="1453516"/>
            <a:ext cx="6629241" cy="1047115"/>
          </a:xfrm>
          <a:prstGeom prst="roundRect">
            <a:avLst>
              <a:gd name="adj" fmla="val 10916"/>
            </a:avLst>
          </a:prstGeom>
          <a:solidFill>
            <a:srgbClr val="102337"/>
          </a:solidFill>
          <a:ln/>
        </p:spPr>
      </p:sp>
      <p:sp>
        <p:nvSpPr>
          <p:cNvPr id="8" name="TextBox 13"/>
          <p:cNvSpPr/>
          <p:nvPr/>
        </p:nvSpPr>
        <p:spPr>
          <a:xfrm>
            <a:off x="638181" y="1577341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D9D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共通設定</a:t>
            </a:r>
            <a:endParaRPr lang="en-US" sz="1200" dirty="0"/>
          </a:p>
        </p:txBody>
      </p:sp>
      <p:sp>
        <p:nvSpPr>
          <p:cNvPr id="9" name="TextBox 14"/>
          <p:cNvSpPr/>
          <p:nvPr/>
        </p:nvSpPr>
        <p:spPr>
          <a:xfrm>
            <a:off x="638181" y="1863091"/>
            <a:ext cx="6343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BCED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25 groups　·　--no-alifold　·　--dynamic-cbp　·　--max-iter=20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BCED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OMP_NUM_THREADS=1　·　入力長 1440–1560 nt</a:t>
            </a:r>
            <a:endParaRPr lang="en-US" sz="900" dirty="0"/>
          </a:p>
        </p:txBody>
      </p:sp>
      <p:sp>
        <p:nvSpPr>
          <p:cNvPr id="10" name="Shape 15"/>
          <p:cNvSpPr/>
          <p:nvPr/>
        </p:nvSpPr>
        <p:spPr>
          <a:xfrm>
            <a:off x="7276948" y="1453516"/>
            <a:ext cx="4419441" cy="1047115"/>
          </a:xfrm>
          <a:prstGeom prst="roundRect">
            <a:avLst>
              <a:gd name="adj" fmla="val 11825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11" name="TextBox 16"/>
          <p:cNvSpPr/>
          <p:nvPr/>
        </p:nvSpPr>
        <p:spPr>
          <a:xfrm>
            <a:off x="7438873" y="1605916"/>
            <a:ext cx="4095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 / RIBOSUM ON</a:t>
            </a:r>
            <a:endParaRPr lang="en-US" sz="825" dirty="0"/>
          </a:p>
        </p:txBody>
      </p:sp>
      <p:sp>
        <p:nvSpPr>
          <p:cNvPr id="12" name="TextBox 17"/>
          <p:cNvSpPr/>
          <p:nvPr/>
        </p:nvSpPr>
        <p:spPr>
          <a:xfrm>
            <a:off x="7438873" y="1834516"/>
            <a:ext cx="40955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ρ=.3</a:t>
            </a:r>
            <a:endParaRPr lang="en-US" sz="2175" dirty="0"/>
          </a:p>
        </p:txBody>
      </p:sp>
      <p:sp>
        <p:nvSpPr>
          <p:cNvPr id="13" name="TextBox 18"/>
          <p:cNvSpPr/>
          <p:nvPr/>
        </p:nvSpPr>
        <p:spPr>
          <a:xfrm>
            <a:off x="7438873" y="2177416"/>
            <a:ext cx="4095591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LinearAlign［LTF score］+ lpc</a:t>
            </a:r>
            <a:endParaRPr lang="en-US" sz="975" dirty="0"/>
          </a:p>
        </p:txBody>
      </p:sp>
      <p:sp>
        <p:nvSpPr>
          <p:cNvPr id="14" name="Shape 20"/>
          <p:cNvSpPr/>
          <p:nvPr/>
        </p:nvSpPr>
        <p:spPr>
          <a:xfrm>
            <a:off x="495306" y="2653029"/>
            <a:ext cx="11201083" cy="2075656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10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6" y="2653029"/>
          <a:ext cx="11201083" cy="914400"/>
        </p:xfrm>
        <a:graphic>
          <a:graphicData uri="http://schemas.openxmlformats.org/drawingml/2006/table">
            <a:tbl>
              <a:tblPr/>
              <a:tblGrid>
                <a:gridCol w="2635885"/>
                <a:gridCol w="1970405"/>
                <a:gridCol w="1082834"/>
                <a:gridCol w="1409541"/>
                <a:gridCol w="1534795"/>
                <a:gridCol w="255809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構成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Ρ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WALL S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RSS MIB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比較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nonlinear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 / 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.9724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67.27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217.8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原来経路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nonlinear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あり / .075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.9739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68.04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218.6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on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/ LTF score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 / 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.9489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37.12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176.1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path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/ LTF score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あり / .3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.9555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38.65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177.7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on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LinearTurboFold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—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.9398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43.95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352.5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external baseline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890613"/>
            <a:ext cx="11201083" cy="401955"/>
          </a:xfrm>
          <a:prstGeom prst="rect">
            <a:avLst/>
          </a:prstGeom>
        </p:spPr>
      </p:pic>
      <p:sp>
        <p:nvSpPr>
          <p:cNvPr id="17" name="TextBox 22"/>
          <p:cNvSpPr/>
          <p:nvPr/>
        </p:nvSpPr>
        <p:spPr>
          <a:xfrm>
            <a:off x="495306" y="4890613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RIBOSUMあり同士でlinearはnonlinearより約1.76倍高速、RSS約19%削減。LinearTurboFoldより約1.14倍高速で、RSSは約50%少ない。</a:t>
            </a:r>
            <a:endParaRPr lang="en-US" sz="975" dirty="0"/>
          </a:p>
        </p:txBody>
      </p:sp>
      <p:sp>
        <p:nvSpPr>
          <p:cNvPr id="18" name="TextBox 24"/>
          <p:cNvSpPr/>
          <p:nvPr/>
        </p:nvSpPr>
        <p:spPr>
          <a:xfrm>
            <a:off x="495306" y="5378290"/>
            <a:ext cx="11201083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SCIは共通構造の保全指標。SPS / MCC / CBP F1は長鎖ベンチマークでは未集計。</a:t>
            </a:r>
            <a:endParaRPr lang="en-US" sz="825" dirty="0"/>
          </a:p>
        </p:txBody>
      </p:sp>
      <p:sp>
        <p:nvSpPr>
          <p:cNvPr id="19" name="TextBox 26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Stored analysis: results-comparison/dafs-16s, results-linear-ribosum-03/16s, results-comparison/linearturbofold-16s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EXPERIMENTS / 23S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23S：さらに長い入力でlinear化の差が広がる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23SでもRIBOSUMありの方式別条件を固定し、nonlinear・linear・LinearTurboFoldを同じ表で比較する。</a:t>
            </a:r>
            <a:endParaRPr lang="en-US" sz="1275" dirty="0"/>
          </a:p>
        </p:txBody>
      </p:sp>
      <p:sp>
        <p:nvSpPr>
          <p:cNvPr id="7" name="Shape 12"/>
          <p:cNvSpPr/>
          <p:nvPr/>
        </p:nvSpPr>
        <p:spPr>
          <a:xfrm>
            <a:off x="495306" y="1453516"/>
            <a:ext cx="6629241" cy="1047115"/>
          </a:xfrm>
          <a:prstGeom prst="roundRect">
            <a:avLst>
              <a:gd name="adj" fmla="val 10916"/>
            </a:avLst>
          </a:prstGeom>
          <a:solidFill>
            <a:srgbClr val="102337"/>
          </a:solidFill>
          <a:ln/>
        </p:spPr>
      </p:sp>
      <p:sp>
        <p:nvSpPr>
          <p:cNvPr id="8" name="TextBox 13"/>
          <p:cNvSpPr/>
          <p:nvPr/>
        </p:nvSpPr>
        <p:spPr>
          <a:xfrm>
            <a:off x="638181" y="1577341"/>
            <a:ext cx="60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2D9D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共通設定</a:t>
            </a:r>
            <a:endParaRPr lang="en-US" sz="1200" dirty="0"/>
          </a:p>
        </p:txBody>
      </p:sp>
      <p:sp>
        <p:nvSpPr>
          <p:cNvPr id="9" name="TextBox 14"/>
          <p:cNvSpPr/>
          <p:nvPr/>
        </p:nvSpPr>
        <p:spPr>
          <a:xfrm>
            <a:off x="638181" y="1863091"/>
            <a:ext cx="6343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BCED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 groups　·　--no-alifold　·　--dynamic-cbp　·　--max-iter=20</a:t>
            </a:r>
            <a:endParaRPr lang="en-US" sz="900" dirty="0"/>
          </a:p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BBCED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OMP_NUM_THREADS=1　·　入力長 2850–2926 nt</a:t>
            </a:r>
            <a:endParaRPr lang="en-US" sz="900" dirty="0"/>
          </a:p>
        </p:txBody>
      </p:sp>
      <p:sp>
        <p:nvSpPr>
          <p:cNvPr id="10" name="Shape 15"/>
          <p:cNvSpPr/>
          <p:nvPr/>
        </p:nvSpPr>
        <p:spPr>
          <a:xfrm>
            <a:off x="7276948" y="1453516"/>
            <a:ext cx="4419441" cy="1047115"/>
          </a:xfrm>
          <a:prstGeom prst="roundRect">
            <a:avLst>
              <a:gd name="adj" fmla="val 11825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11" name="TextBox 16"/>
          <p:cNvSpPr/>
          <p:nvPr/>
        </p:nvSpPr>
        <p:spPr>
          <a:xfrm>
            <a:off x="7438873" y="1605916"/>
            <a:ext cx="4095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 / RIBOSUM ON</a:t>
            </a:r>
            <a:endParaRPr lang="en-US" sz="825" dirty="0"/>
          </a:p>
        </p:txBody>
      </p:sp>
      <p:sp>
        <p:nvSpPr>
          <p:cNvPr id="12" name="TextBox 17"/>
          <p:cNvSpPr/>
          <p:nvPr/>
        </p:nvSpPr>
        <p:spPr>
          <a:xfrm>
            <a:off x="7438873" y="1834516"/>
            <a:ext cx="40955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98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ρ=.3</a:t>
            </a:r>
            <a:endParaRPr lang="en-US" sz="2175" dirty="0"/>
          </a:p>
        </p:txBody>
      </p:sp>
      <p:sp>
        <p:nvSpPr>
          <p:cNvPr id="13" name="TextBox 18"/>
          <p:cNvSpPr/>
          <p:nvPr/>
        </p:nvSpPr>
        <p:spPr>
          <a:xfrm>
            <a:off x="7438873" y="2177416"/>
            <a:ext cx="4095591" cy="170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45"/>
              </a:lnSpc>
              <a:buNone/>
            </a:pPr>
            <a:r>
              <a:rPr lang="en-US" sz="975" dirty="0">
                <a:solidFill>
                  <a:srgbClr val="4F66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LinearAlign［LTF score］+ lpc</a:t>
            </a:r>
            <a:endParaRPr lang="en-US" sz="975" dirty="0"/>
          </a:p>
        </p:txBody>
      </p:sp>
      <p:sp>
        <p:nvSpPr>
          <p:cNvPr id="14" name="Shape 20"/>
          <p:cNvSpPr/>
          <p:nvPr/>
        </p:nvSpPr>
        <p:spPr>
          <a:xfrm>
            <a:off x="495306" y="2653029"/>
            <a:ext cx="11201083" cy="2075656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1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6" y="2653029"/>
          <a:ext cx="11201083" cy="914400"/>
        </p:xfrm>
        <a:graphic>
          <a:graphicData uri="http://schemas.openxmlformats.org/drawingml/2006/table">
            <a:tbl>
              <a:tblPr/>
              <a:tblGrid>
                <a:gridCol w="2635885"/>
                <a:gridCol w="1970405"/>
                <a:gridCol w="1082834"/>
                <a:gridCol w="1409541"/>
                <a:gridCol w="1534795"/>
                <a:gridCol w="2558097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構成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Ρ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WALL S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RSS MIB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比較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nonlinear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 / 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.8736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479.25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813.0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原来経路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nonlinear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あり / .075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.8776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485.82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812.8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on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/ LTF score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 / 0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.8519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103.01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427.1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FF7E3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path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 / LTF score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あり / .3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.8627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101.64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429.8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RIBOSUM on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173348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LinearTurboFold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—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.8508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131.51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791.6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53"/>
                        </a:lnSpc>
                        <a:buNone/>
                      </a:pPr>
                      <a:r>
                        <a:rPr lang="en-US" sz="900" dirty="0">
                          <a:solidFill>
                            <a:srgbClr val="14263B"/>
                          </a:solidFill>
                          <a:highlight>
                            <a:srgbClr val="F0EEFB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external baseline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95250" marR="95250" marT="104775" marB="1047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0EEFB"/>
                    </a:solidFill>
                  </a:tcPr>
                </a:tc>
              </a:tr>
            </a:tbl>
          </a:graphicData>
        </a:graphic>
      </p:graphicFrame>
      <p:pic>
        <p:nvPicPr>
          <p:cNvPr id="16" name="Picture 2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890613"/>
            <a:ext cx="11201083" cy="401955"/>
          </a:xfrm>
          <a:prstGeom prst="rect">
            <a:avLst/>
          </a:prstGeom>
        </p:spPr>
      </p:pic>
      <p:sp>
        <p:nvSpPr>
          <p:cNvPr id="17" name="TextBox 22"/>
          <p:cNvSpPr/>
          <p:nvPr/>
        </p:nvSpPr>
        <p:spPr>
          <a:xfrm>
            <a:off x="495306" y="4890613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要点：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RIBOSUMあり同士でlinearはnonlinearより約4.78倍高速、RSS約47%削減。LinearTurboFoldより約1.29倍高速で、RSSは約46%少ない。</a:t>
            </a:r>
            <a:endParaRPr lang="en-US" sz="975" dirty="0"/>
          </a:p>
        </p:txBody>
      </p:sp>
      <p:sp>
        <p:nvSpPr>
          <p:cNvPr id="18" name="TextBox 24"/>
          <p:cNvSpPr/>
          <p:nvPr/>
        </p:nvSpPr>
        <p:spPr>
          <a:xfrm>
            <a:off x="495306" y="5378290"/>
            <a:ext cx="11201083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23Sは速度・メモリ差が最も明瞭。正しいLinearAlign条件ではSCI .8627で、LinearTurboFoldの.8508も上回る。</a:t>
            </a:r>
            <a:endParaRPr lang="en-US" sz="825" dirty="0"/>
          </a:p>
        </p:txBody>
      </p:sp>
      <p:sp>
        <p:nvSpPr>
          <p:cNvPr id="19" name="TextBox 26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Stored analysis: results-comparison/dafs-23s, results-linear-ribosum-03/23s, results-comparison/linearturbofold-23s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11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EXPERIMENTS / LENGTH SCALING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RIBOSUMあり：nonlinear・linear・LinearTurboFoldの長さ依存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横軸は入力FASTAの最大配列長。点は個別入力、線は方式ごとのフィットで、色は方式だけに対応する。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24941"/>
            <a:ext cx="5538629" cy="3117532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609606" y="1539241"/>
            <a:ext cx="5310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実行時間（秒）</a:t>
            </a:r>
            <a:endParaRPr lang="en-US" sz="900" dirty="0"/>
          </a:p>
        </p:txBody>
      </p:sp>
      <p:pic>
        <p:nvPicPr>
          <p:cNvPr id="9" name="Picture 16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6" y="1929766"/>
            <a:ext cx="4719479" cy="1952625"/>
          </a:xfrm>
          <a:prstGeom prst="rect">
            <a:avLst/>
          </a:prstGeom>
        </p:spPr>
      </p:pic>
      <p:sp>
        <p:nvSpPr>
          <p:cNvPr id="10" name="TextBox 17"/>
          <p:cNvSpPr/>
          <p:nvPr/>
        </p:nvSpPr>
        <p:spPr>
          <a:xfrm>
            <a:off x="1109669" y="3987166"/>
            <a:ext cx="47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</a:t>
            </a:r>
            <a:endParaRPr lang="en-US" sz="750" dirty="0"/>
          </a:p>
        </p:txBody>
      </p:sp>
      <p:sp>
        <p:nvSpPr>
          <p:cNvPr id="11" name="TextBox 18"/>
          <p:cNvSpPr/>
          <p:nvPr/>
        </p:nvSpPr>
        <p:spPr>
          <a:xfrm>
            <a:off x="2239492" y="398716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750</a:t>
            </a:r>
            <a:endParaRPr lang="en-US" sz="750" dirty="0"/>
          </a:p>
        </p:txBody>
      </p:sp>
      <p:sp>
        <p:nvSpPr>
          <p:cNvPr id="12" name="TextBox 19"/>
          <p:cNvSpPr/>
          <p:nvPr/>
        </p:nvSpPr>
        <p:spPr>
          <a:xfrm>
            <a:off x="3393129" y="3987166"/>
            <a:ext cx="19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1.5k</a:t>
            </a:r>
            <a:endParaRPr lang="en-US" sz="750" dirty="0"/>
          </a:p>
        </p:txBody>
      </p:sp>
      <p:sp>
        <p:nvSpPr>
          <p:cNvPr id="13" name="TextBox 20"/>
          <p:cNvSpPr/>
          <p:nvPr/>
        </p:nvSpPr>
        <p:spPr>
          <a:xfrm>
            <a:off x="4546765" y="3987166"/>
            <a:ext cx="238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2.25k</a:t>
            </a:r>
            <a:endParaRPr lang="en-US" sz="750" dirty="0"/>
          </a:p>
        </p:txBody>
      </p:sp>
      <p:sp>
        <p:nvSpPr>
          <p:cNvPr id="14" name="TextBox 21"/>
          <p:cNvSpPr/>
          <p:nvPr/>
        </p:nvSpPr>
        <p:spPr>
          <a:xfrm>
            <a:off x="5795810" y="3987166"/>
            <a:ext cx="95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3k</a:t>
            </a:r>
            <a:endParaRPr lang="en-US" sz="750" dirty="0"/>
          </a:p>
        </p:txBody>
      </p:sp>
      <p:sp>
        <p:nvSpPr>
          <p:cNvPr id="15" name="Shape 22"/>
          <p:cNvSpPr/>
          <p:nvPr/>
        </p:nvSpPr>
        <p:spPr>
          <a:xfrm>
            <a:off x="1133481" y="386334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6" name="TextBox 23"/>
          <p:cNvSpPr/>
          <p:nvPr/>
        </p:nvSpPr>
        <p:spPr>
          <a:xfrm>
            <a:off x="676281" y="380142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</a:t>
            </a:r>
            <a:endParaRPr lang="en-US" sz="750" dirty="0"/>
          </a:p>
        </p:txBody>
      </p:sp>
      <p:sp>
        <p:nvSpPr>
          <p:cNvPr id="17" name="Shape 24"/>
          <p:cNvSpPr/>
          <p:nvPr/>
        </p:nvSpPr>
        <p:spPr>
          <a:xfrm>
            <a:off x="1133481" y="353949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8" name="TextBox 25"/>
          <p:cNvSpPr/>
          <p:nvPr/>
        </p:nvSpPr>
        <p:spPr>
          <a:xfrm>
            <a:off x="676281" y="347757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</a:t>
            </a:r>
            <a:endParaRPr lang="en-US" sz="750" dirty="0"/>
          </a:p>
        </p:txBody>
      </p:sp>
      <p:sp>
        <p:nvSpPr>
          <p:cNvPr id="19" name="Shape 26"/>
          <p:cNvSpPr/>
          <p:nvPr/>
        </p:nvSpPr>
        <p:spPr>
          <a:xfrm>
            <a:off x="1133481" y="321564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0" name="TextBox 27"/>
          <p:cNvSpPr/>
          <p:nvPr/>
        </p:nvSpPr>
        <p:spPr>
          <a:xfrm>
            <a:off x="676281" y="315372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200</a:t>
            </a:r>
            <a:endParaRPr lang="en-US" sz="750" dirty="0"/>
          </a:p>
        </p:txBody>
      </p:sp>
      <p:sp>
        <p:nvSpPr>
          <p:cNvPr id="21" name="Shape 28"/>
          <p:cNvSpPr/>
          <p:nvPr/>
        </p:nvSpPr>
        <p:spPr>
          <a:xfrm>
            <a:off x="1133481" y="289179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2" name="TextBox 29"/>
          <p:cNvSpPr/>
          <p:nvPr/>
        </p:nvSpPr>
        <p:spPr>
          <a:xfrm>
            <a:off x="676281" y="282987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300</a:t>
            </a:r>
            <a:endParaRPr lang="en-US" sz="750" dirty="0"/>
          </a:p>
        </p:txBody>
      </p:sp>
      <p:sp>
        <p:nvSpPr>
          <p:cNvPr id="23" name="Shape 30"/>
          <p:cNvSpPr/>
          <p:nvPr/>
        </p:nvSpPr>
        <p:spPr>
          <a:xfrm>
            <a:off x="1133481" y="256794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4" name="TextBox 31"/>
          <p:cNvSpPr/>
          <p:nvPr/>
        </p:nvSpPr>
        <p:spPr>
          <a:xfrm>
            <a:off x="676281" y="250602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400</a:t>
            </a:r>
            <a:endParaRPr lang="en-US" sz="750" dirty="0"/>
          </a:p>
        </p:txBody>
      </p:sp>
      <p:sp>
        <p:nvSpPr>
          <p:cNvPr id="25" name="Shape 32"/>
          <p:cNvSpPr/>
          <p:nvPr/>
        </p:nvSpPr>
        <p:spPr>
          <a:xfrm>
            <a:off x="1133481" y="224409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6" name="TextBox 33"/>
          <p:cNvSpPr/>
          <p:nvPr/>
        </p:nvSpPr>
        <p:spPr>
          <a:xfrm>
            <a:off x="676281" y="218217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500</a:t>
            </a:r>
            <a:endParaRPr lang="en-US" sz="750" dirty="0"/>
          </a:p>
        </p:txBody>
      </p:sp>
      <p:sp>
        <p:nvSpPr>
          <p:cNvPr id="27" name="Shape 34"/>
          <p:cNvSpPr/>
          <p:nvPr/>
        </p:nvSpPr>
        <p:spPr>
          <a:xfrm>
            <a:off x="1133481" y="192024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8" name="TextBox 35"/>
          <p:cNvSpPr/>
          <p:nvPr/>
        </p:nvSpPr>
        <p:spPr>
          <a:xfrm>
            <a:off x="676281" y="185832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600</a:t>
            </a:r>
            <a:endParaRPr lang="en-US" sz="750" dirty="0"/>
          </a:p>
        </p:txBody>
      </p:sp>
      <p:sp>
        <p:nvSpPr>
          <p:cNvPr id="29" name="TextBox 36"/>
          <p:cNvSpPr/>
          <p:nvPr/>
        </p:nvSpPr>
        <p:spPr>
          <a:xfrm>
            <a:off x="676281" y="1767841"/>
            <a:ext cx="4460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</a:t>
            </a:r>
            <a:endParaRPr lang="en-US" sz="750" dirty="0"/>
          </a:p>
        </p:txBody>
      </p:sp>
      <p:sp>
        <p:nvSpPr>
          <p:cNvPr id="30" name="Shape 37"/>
          <p:cNvSpPr/>
          <p:nvPr/>
        </p:nvSpPr>
        <p:spPr>
          <a:xfrm>
            <a:off x="1286834" y="379539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1" name="Shape 38"/>
          <p:cNvSpPr/>
          <p:nvPr/>
        </p:nvSpPr>
        <p:spPr>
          <a:xfrm>
            <a:off x="1360653" y="379444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2" name="Shape 39"/>
          <p:cNvSpPr/>
          <p:nvPr/>
        </p:nvSpPr>
        <p:spPr>
          <a:xfrm>
            <a:off x="1352715" y="3794127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3" name="Shape 40"/>
          <p:cNvSpPr/>
          <p:nvPr/>
        </p:nvSpPr>
        <p:spPr>
          <a:xfrm>
            <a:off x="1401452" y="379333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4" name="Shape 41"/>
          <p:cNvSpPr/>
          <p:nvPr/>
        </p:nvSpPr>
        <p:spPr>
          <a:xfrm>
            <a:off x="1223969" y="3796187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5" name="Shape 42"/>
          <p:cNvSpPr/>
          <p:nvPr/>
        </p:nvSpPr>
        <p:spPr>
          <a:xfrm>
            <a:off x="1570996" y="378587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6" name="Shape 43"/>
          <p:cNvSpPr/>
          <p:nvPr/>
        </p:nvSpPr>
        <p:spPr>
          <a:xfrm>
            <a:off x="1202061" y="379635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7" name="Shape 44"/>
          <p:cNvSpPr/>
          <p:nvPr/>
        </p:nvSpPr>
        <p:spPr>
          <a:xfrm>
            <a:off x="1277467" y="379571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8" name="Shape 45"/>
          <p:cNvSpPr/>
          <p:nvPr/>
        </p:nvSpPr>
        <p:spPr>
          <a:xfrm>
            <a:off x="1706092" y="378602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39" name="Shape 46"/>
          <p:cNvSpPr/>
          <p:nvPr/>
        </p:nvSpPr>
        <p:spPr>
          <a:xfrm>
            <a:off x="1487811" y="379222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0" name="Shape 47"/>
          <p:cNvSpPr/>
          <p:nvPr/>
        </p:nvSpPr>
        <p:spPr>
          <a:xfrm>
            <a:off x="1258577" y="379587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1" name="Shape 48"/>
          <p:cNvSpPr/>
          <p:nvPr/>
        </p:nvSpPr>
        <p:spPr>
          <a:xfrm>
            <a:off x="1283659" y="379571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2" name="Shape 49"/>
          <p:cNvSpPr/>
          <p:nvPr/>
        </p:nvSpPr>
        <p:spPr>
          <a:xfrm>
            <a:off x="1183170" y="379650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3" name="Shape 50"/>
          <p:cNvSpPr/>
          <p:nvPr/>
        </p:nvSpPr>
        <p:spPr>
          <a:xfrm>
            <a:off x="3379635" y="357489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4" name="Shape 51"/>
          <p:cNvSpPr/>
          <p:nvPr/>
        </p:nvSpPr>
        <p:spPr>
          <a:xfrm>
            <a:off x="3425197" y="3587907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5" name="Shape 52"/>
          <p:cNvSpPr/>
          <p:nvPr/>
        </p:nvSpPr>
        <p:spPr>
          <a:xfrm>
            <a:off x="3425197" y="356711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6" name="Shape 53"/>
          <p:cNvSpPr/>
          <p:nvPr/>
        </p:nvSpPr>
        <p:spPr>
          <a:xfrm>
            <a:off x="3432975" y="357997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7" name="Shape 54"/>
          <p:cNvSpPr/>
          <p:nvPr/>
        </p:nvSpPr>
        <p:spPr>
          <a:xfrm>
            <a:off x="3371856" y="3577275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8" name="Shape 55"/>
          <p:cNvSpPr/>
          <p:nvPr/>
        </p:nvSpPr>
        <p:spPr>
          <a:xfrm>
            <a:off x="3382810" y="357568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49" name="Shape 56"/>
          <p:cNvSpPr/>
          <p:nvPr/>
        </p:nvSpPr>
        <p:spPr>
          <a:xfrm>
            <a:off x="3434562" y="355758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0" name="Shape 57"/>
          <p:cNvSpPr/>
          <p:nvPr/>
        </p:nvSpPr>
        <p:spPr>
          <a:xfrm>
            <a:off x="3544417" y="356076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1" name="Shape 58"/>
          <p:cNvSpPr/>
          <p:nvPr/>
        </p:nvSpPr>
        <p:spPr>
          <a:xfrm>
            <a:off x="3432975" y="356076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2" name="Shape 59"/>
          <p:cNvSpPr/>
          <p:nvPr/>
        </p:nvSpPr>
        <p:spPr>
          <a:xfrm>
            <a:off x="3542830" y="358124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3" name="Shape 60"/>
          <p:cNvSpPr/>
          <p:nvPr/>
        </p:nvSpPr>
        <p:spPr>
          <a:xfrm>
            <a:off x="3426784" y="356520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4" name="Shape 61"/>
          <p:cNvSpPr/>
          <p:nvPr/>
        </p:nvSpPr>
        <p:spPr>
          <a:xfrm>
            <a:off x="3422021" y="359060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5" name="Shape 62"/>
          <p:cNvSpPr/>
          <p:nvPr/>
        </p:nvSpPr>
        <p:spPr>
          <a:xfrm>
            <a:off x="3437738" y="357901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6" name="Shape 63"/>
          <p:cNvSpPr/>
          <p:nvPr/>
        </p:nvSpPr>
        <p:spPr>
          <a:xfrm>
            <a:off x="3440913" y="357330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7" name="Shape 64"/>
          <p:cNvSpPr/>
          <p:nvPr/>
        </p:nvSpPr>
        <p:spPr>
          <a:xfrm>
            <a:off x="3356140" y="3582195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8" name="Shape 65"/>
          <p:cNvSpPr/>
          <p:nvPr/>
        </p:nvSpPr>
        <p:spPr>
          <a:xfrm>
            <a:off x="3387414" y="3579335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59" name="Shape 66"/>
          <p:cNvSpPr/>
          <p:nvPr/>
        </p:nvSpPr>
        <p:spPr>
          <a:xfrm>
            <a:off x="3422021" y="3564257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0" name="Shape 67"/>
          <p:cNvSpPr/>
          <p:nvPr/>
        </p:nvSpPr>
        <p:spPr>
          <a:xfrm>
            <a:off x="3400114" y="358235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1" name="Shape 68"/>
          <p:cNvSpPr/>
          <p:nvPr/>
        </p:nvSpPr>
        <p:spPr>
          <a:xfrm>
            <a:off x="3404718" y="357219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2" name="Shape 69"/>
          <p:cNvSpPr/>
          <p:nvPr/>
        </p:nvSpPr>
        <p:spPr>
          <a:xfrm>
            <a:off x="3420434" y="356775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3" name="Shape 70"/>
          <p:cNvSpPr/>
          <p:nvPr/>
        </p:nvSpPr>
        <p:spPr>
          <a:xfrm>
            <a:off x="3420434" y="359473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4" name="Shape 71"/>
          <p:cNvSpPr/>
          <p:nvPr/>
        </p:nvSpPr>
        <p:spPr>
          <a:xfrm>
            <a:off x="3376460" y="359060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5" name="Shape 72"/>
          <p:cNvSpPr/>
          <p:nvPr/>
        </p:nvSpPr>
        <p:spPr>
          <a:xfrm>
            <a:off x="3396939" y="357711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6" name="Shape 73"/>
          <p:cNvSpPr/>
          <p:nvPr/>
        </p:nvSpPr>
        <p:spPr>
          <a:xfrm>
            <a:off x="3429800" y="358124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7" name="Shape 74"/>
          <p:cNvSpPr/>
          <p:nvPr/>
        </p:nvSpPr>
        <p:spPr>
          <a:xfrm>
            <a:off x="3379635" y="358600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8" name="Shape 75"/>
          <p:cNvSpPr/>
          <p:nvPr/>
        </p:nvSpPr>
        <p:spPr>
          <a:xfrm>
            <a:off x="5569749" y="237728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69" name="Shape 76"/>
          <p:cNvSpPr/>
          <p:nvPr/>
        </p:nvSpPr>
        <p:spPr>
          <a:xfrm>
            <a:off x="5620074" y="219313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70" name="Shape 77"/>
          <p:cNvSpPr/>
          <p:nvPr/>
        </p:nvSpPr>
        <p:spPr>
          <a:xfrm>
            <a:off x="5689131" y="222646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71" name="Shape 78"/>
          <p:cNvSpPr/>
          <p:nvPr/>
        </p:nvSpPr>
        <p:spPr>
          <a:xfrm>
            <a:off x="5659285" y="221249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72" name="Shape 79"/>
          <p:cNvSpPr/>
          <p:nvPr/>
        </p:nvSpPr>
        <p:spPr>
          <a:xfrm>
            <a:off x="5689131" y="210756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73" name="Shape 80"/>
          <p:cNvSpPr/>
          <p:nvPr/>
        </p:nvSpPr>
        <p:spPr>
          <a:xfrm rot="-180000">
            <a:off x="1393752" y="386445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74" name="Shape 81"/>
          <p:cNvSpPr/>
          <p:nvPr/>
        </p:nvSpPr>
        <p:spPr>
          <a:xfrm rot="-180000">
            <a:off x="1524324" y="385715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75" name="Shape 82"/>
          <p:cNvSpPr/>
          <p:nvPr/>
        </p:nvSpPr>
        <p:spPr>
          <a:xfrm rot="-180000">
            <a:off x="1654895" y="385024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76" name="Shape 83"/>
          <p:cNvSpPr/>
          <p:nvPr/>
        </p:nvSpPr>
        <p:spPr>
          <a:xfrm rot="-180000">
            <a:off x="1785706" y="3843416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77" name="Shape 84"/>
          <p:cNvSpPr/>
          <p:nvPr/>
        </p:nvSpPr>
        <p:spPr>
          <a:xfrm rot="-180000">
            <a:off x="1916436" y="3836431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78" name="Shape 85"/>
          <p:cNvSpPr/>
          <p:nvPr/>
        </p:nvSpPr>
        <p:spPr>
          <a:xfrm rot="-180000">
            <a:off x="2047008" y="3828972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79" name="Shape 86"/>
          <p:cNvSpPr/>
          <p:nvPr/>
        </p:nvSpPr>
        <p:spPr>
          <a:xfrm rot="-240000">
            <a:off x="2177818" y="3820714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0" name="Shape 87"/>
          <p:cNvSpPr/>
          <p:nvPr/>
        </p:nvSpPr>
        <p:spPr>
          <a:xfrm rot="-240000">
            <a:off x="2308470" y="381127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1" name="Shape 88"/>
          <p:cNvSpPr/>
          <p:nvPr/>
        </p:nvSpPr>
        <p:spPr>
          <a:xfrm rot="-300000">
            <a:off x="2439200" y="380079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2" name="Shape 89"/>
          <p:cNvSpPr/>
          <p:nvPr/>
        </p:nvSpPr>
        <p:spPr>
          <a:xfrm rot="-360000">
            <a:off x="2570010" y="3788171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3" name="Shape 90"/>
          <p:cNvSpPr/>
          <p:nvPr/>
        </p:nvSpPr>
        <p:spPr>
          <a:xfrm rot="-420000">
            <a:off x="2700582" y="377388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4" name="Shape 91"/>
          <p:cNvSpPr/>
          <p:nvPr/>
        </p:nvSpPr>
        <p:spPr>
          <a:xfrm rot="-480000">
            <a:off x="2831313" y="3757136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5" name="Shape 92"/>
          <p:cNvSpPr/>
          <p:nvPr/>
        </p:nvSpPr>
        <p:spPr>
          <a:xfrm rot="-540000">
            <a:off x="2962202" y="3737691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6" name="Shape 93"/>
          <p:cNvSpPr/>
          <p:nvPr/>
        </p:nvSpPr>
        <p:spPr>
          <a:xfrm rot="-600000">
            <a:off x="3092695" y="3715545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7" name="Shape 94"/>
          <p:cNvSpPr/>
          <p:nvPr/>
        </p:nvSpPr>
        <p:spPr>
          <a:xfrm rot="-720000">
            <a:off x="3223425" y="3689985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8" name="Shape 95"/>
          <p:cNvSpPr/>
          <p:nvPr/>
        </p:nvSpPr>
        <p:spPr>
          <a:xfrm rot="-780000">
            <a:off x="3354156" y="3661171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89" name="Shape 96"/>
          <p:cNvSpPr/>
          <p:nvPr/>
        </p:nvSpPr>
        <p:spPr>
          <a:xfrm rot="-900000">
            <a:off x="3484886" y="362831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0" name="Shape 97"/>
          <p:cNvSpPr/>
          <p:nvPr/>
        </p:nvSpPr>
        <p:spPr>
          <a:xfrm rot="-1020000">
            <a:off x="3615458" y="3591479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1" name="Shape 98"/>
          <p:cNvSpPr/>
          <p:nvPr/>
        </p:nvSpPr>
        <p:spPr>
          <a:xfrm rot="-1080000">
            <a:off x="3746268" y="3550048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2" name="Shape 99"/>
          <p:cNvSpPr/>
          <p:nvPr/>
        </p:nvSpPr>
        <p:spPr>
          <a:xfrm rot="-1200000">
            <a:off x="3872157" y="3504088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3" name="Shape 100"/>
          <p:cNvSpPr/>
          <p:nvPr/>
        </p:nvSpPr>
        <p:spPr>
          <a:xfrm rot="-1320000">
            <a:off x="4002808" y="3452891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4" name="Shape 101"/>
          <p:cNvSpPr/>
          <p:nvPr/>
        </p:nvSpPr>
        <p:spPr>
          <a:xfrm rot="-1440000">
            <a:off x="4133618" y="3396617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5" name="Shape 102"/>
          <p:cNvSpPr/>
          <p:nvPr/>
        </p:nvSpPr>
        <p:spPr>
          <a:xfrm rot="-1560000">
            <a:off x="4264190" y="3334542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6" name="Shape 103"/>
          <p:cNvSpPr/>
          <p:nvPr/>
        </p:nvSpPr>
        <p:spPr>
          <a:xfrm rot="-1740000">
            <a:off x="4390159" y="3266521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7" name="Shape 104"/>
          <p:cNvSpPr/>
          <p:nvPr/>
        </p:nvSpPr>
        <p:spPr>
          <a:xfrm rot="-1860000">
            <a:off x="4520968" y="3192384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8" name="Shape 105"/>
          <p:cNvSpPr/>
          <p:nvPr/>
        </p:nvSpPr>
        <p:spPr>
          <a:xfrm rot="-1980000">
            <a:off x="4651699" y="3111578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99" name="Shape 106"/>
          <p:cNvSpPr/>
          <p:nvPr/>
        </p:nvSpPr>
        <p:spPr>
          <a:xfrm rot="-2100000">
            <a:off x="4777587" y="3023950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0" name="Shape 107"/>
          <p:cNvSpPr/>
          <p:nvPr/>
        </p:nvSpPr>
        <p:spPr>
          <a:xfrm rot="-2220000">
            <a:off x="4908398" y="2929094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1" name="Shape 108"/>
          <p:cNvSpPr/>
          <p:nvPr/>
        </p:nvSpPr>
        <p:spPr>
          <a:xfrm rot="-2340000">
            <a:off x="5034207" y="2826942"/>
            <a:ext cx="1714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2" name="Shape 109"/>
          <p:cNvSpPr/>
          <p:nvPr/>
        </p:nvSpPr>
        <p:spPr>
          <a:xfrm rot="-2460000">
            <a:off x="5164938" y="2717006"/>
            <a:ext cx="1714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3" name="Shape 110"/>
          <p:cNvSpPr/>
          <p:nvPr/>
        </p:nvSpPr>
        <p:spPr>
          <a:xfrm rot="-2580000">
            <a:off x="5290905" y="2598977"/>
            <a:ext cx="1809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4" name="Shape 111"/>
          <p:cNvSpPr/>
          <p:nvPr/>
        </p:nvSpPr>
        <p:spPr>
          <a:xfrm rot="-2700000">
            <a:off x="5421637" y="2472531"/>
            <a:ext cx="1809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5" name="Shape 112"/>
          <p:cNvSpPr/>
          <p:nvPr/>
        </p:nvSpPr>
        <p:spPr>
          <a:xfrm rot="-2820000">
            <a:off x="5547446" y="2337355"/>
            <a:ext cx="1905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6" name="Shape 113"/>
          <p:cNvSpPr/>
          <p:nvPr/>
        </p:nvSpPr>
        <p:spPr>
          <a:xfrm rot="-2940000">
            <a:off x="5673573" y="2193451"/>
            <a:ext cx="2000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107" name="Shape 114"/>
          <p:cNvSpPr/>
          <p:nvPr/>
        </p:nvSpPr>
        <p:spPr>
          <a:xfrm>
            <a:off x="1282072" y="378349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08" name="Shape 115"/>
          <p:cNvSpPr/>
          <p:nvPr/>
        </p:nvSpPr>
        <p:spPr>
          <a:xfrm>
            <a:off x="1355890" y="378095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09" name="Shape 116"/>
          <p:cNvSpPr/>
          <p:nvPr/>
        </p:nvSpPr>
        <p:spPr>
          <a:xfrm>
            <a:off x="1347953" y="377983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0" name="Shape 117"/>
          <p:cNvSpPr/>
          <p:nvPr/>
        </p:nvSpPr>
        <p:spPr>
          <a:xfrm>
            <a:off x="1396689" y="377761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1" name="Shape 118"/>
          <p:cNvSpPr/>
          <p:nvPr/>
        </p:nvSpPr>
        <p:spPr>
          <a:xfrm>
            <a:off x="1219206" y="378587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2" name="Shape 119"/>
          <p:cNvSpPr/>
          <p:nvPr/>
        </p:nvSpPr>
        <p:spPr>
          <a:xfrm>
            <a:off x="1566234" y="3763645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3" name="Shape 120"/>
          <p:cNvSpPr/>
          <p:nvPr/>
        </p:nvSpPr>
        <p:spPr>
          <a:xfrm>
            <a:off x="1197299" y="378618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4" name="Shape 121"/>
          <p:cNvSpPr/>
          <p:nvPr/>
        </p:nvSpPr>
        <p:spPr>
          <a:xfrm>
            <a:off x="1272705" y="378428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5" name="Shape 122"/>
          <p:cNvSpPr/>
          <p:nvPr/>
        </p:nvSpPr>
        <p:spPr>
          <a:xfrm>
            <a:off x="1701330" y="3762375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6" name="Shape 123"/>
          <p:cNvSpPr/>
          <p:nvPr/>
        </p:nvSpPr>
        <p:spPr>
          <a:xfrm>
            <a:off x="1483049" y="377507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7" name="Shape 124"/>
          <p:cNvSpPr/>
          <p:nvPr/>
        </p:nvSpPr>
        <p:spPr>
          <a:xfrm>
            <a:off x="1253814" y="378476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8" name="Shape 125"/>
          <p:cNvSpPr/>
          <p:nvPr/>
        </p:nvSpPr>
        <p:spPr>
          <a:xfrm>
            <a:off x="1278896" y="3783332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19" name="Shape 126"/>
          <p:cNvSpPr/>
          <p:nvPr/>
        </p:nvSpPr>
        <p:spPr>
          <a:xfrm>
            <a:off x="1178408" y="3786504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0" name="Shape 127"/>
          <p:cNvSpPr/>
          <p:nvPr/>
        </p:nvSpPr>
        <p:spPr>
          <a:xfrm>
            <a:off x="3374872" y="367014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1" name="Shape 128"/>
          <p:cNvSpPr/>
          <p:nvPr/>
        </p:nvSpPr>
        <p:spPr>
          <a:xfrm>
            <a:off x="3420434" y="366538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2" name="Shape 129"/>
          <p:cNvSpPr/>
          <p:nvPr/>
        </p:nvSpPr>
        <p:spPr>
          <a:xfrm>
            <a:off x="3420434" y="3663474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3" name="Shape 130"/>
          <p:cNvSpPr/>
          <p:nvPr/>
        </p:nvSpPr>
        <p:spPr>
          <a:xfrm>
            <a:off x="3428213" y="366538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4" name="Shape 131"/>
          <p:cNvSpPr/>
          <p:nvPr/>
        </p:nvSpPr>
        <p:spPr>
          <a:xfrm>
            <a:off x="3367094" y="366506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5" name="Shape 132"/>
          <p:cNvSpPr/>
          <p:nvPr/>
        </p:nvSpPr>
        <p:spPr>
          <a:xfrm>
            <a:off x="3378048" y="365823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6" name="Shape 133"/>
          <p:cNvSpPr/>
          <p:nvPr/>
        </p:nvSpPr>
        <p:spPr>
          <a:xfrm>
            <a:off x="3429800" y="365998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7" name="Shape 134"/>
          <p:cNvSpPr/>
          <p:nvPr/>
        </p:nvSpPr>
        <p:spPr>
          <a:xfrm>
            <a:off x="3539655" y="365918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8" name="Shape 135"/>
          <p:cNvSpPr/>
          <p:nvPr/>
        </p:nvSpPr>
        <p:spPr>
          <a:xfrm>
            <a:off x="3428213" y="3664744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29" name="Shape 136"/>
          <p:cNvSpPr/>
          <p:nvPr/>
        </p:nvSpPr>
        <p:spPr>
          <a:xfrm>
            <a:off x="3538068" y="366061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0" name="Shape 137"/>
          <p:cNvSpPr/>
          <p:nvPr/>
        </p:nvSpPr>
        <p:spPr>
          <a:xfrm>
            <a:off x="3422021" y="365950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1" name="Shape 138"/>
          <p:cNvSpPr/>
          <p:nvPr/>
        </p:nvSpPr>
        <p:spPr>
          <a:xfrm>
            <a:off x="3417259" y="365569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2" name="Shape 139"/>
          <p:cNvSpPr/>
          <p:nvPr/>
        </p:nvSpPr>
        <p:spPr>
          <a:xfrm>
            <a:off x="3432975" y="366204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3" name="Shape 140"/>
          <p:cNvSpPr/>
          <p:nvPr/>
        </p:nvSpPr>
        <p:spPr>
          <a:xfrm>
            <a:off x="3436150" y="366426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4" name="Shape 141"/>
          <p:cNvSpPr/>
          <p:nvPr/>
        </p:nvSpPr>
        <p:spPr>
          <a:xfrm>
            <a:off x="3351378" y="366759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5" name="Shape 142"/>
          <p:cNvSpPr/>
          <p:nvPr/>
        </p:nvSpPr>
        <p:spPr>
          <a:xfrm>
            <a:off x="3382652" y="365236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6" name="Shape 143"/>
          <p:cNvSpPr/>
          <p:nvPr/>
        </p:nvSpPr>
        <p:spPr>
          <a:xfrm>
            <a:off x="3417259" y="365855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7" name="Shape 144"/>
          <p:cNvSpPr/>
          <p:nvPr/>
        </p:nvSpPr>
        <p:spPr>
          <a:xfrm>
            <a:off x="3395351" y="365236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8" name="Shape 145"/>
          <p:cNvSpPr/>
          <p:nvPr/>
        </p:nvSpPr>
        <p:spPr>
          <a:xfrm>
            <a:off x="3399955" y="366013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39" name="Shape 146"/>
          <p:cNvSpPr/>
          <p:nvPr/>
        </p:nvSpPr>
        <p:spPr>
          <a:xfrm>
            <a:off x="3415672" y="366204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0" name="Shape 147"/>
          <p:cNvSpPr/>
          <p:nvPr/>
        </p:nvSpPr>
        <p:spPr>
          <a:xfrm>
            <a:off x="3415672" y="367315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1" name="Shape 148"/>
          <p:cNvSpPr/>
          <p:nvPr/>
        </p:nvSpPr>
        <p:spPr>
          <a:xfrm>
            <a:off x="3371698" y="365506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2" name="Shape 149"/>
          <p:cNvSpPr/>
          <p:nvPr/>
        </p:nvSpPr>
        <p:spPr>
          <a:xfrm>
            <a:off x="3392177" y="366680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3" name="Shape 150"/>
          <p:cNvSpPr/>
          <p:nvPr/>
        </p:nvSpPr>
        <p:spPr>
          <a:xfrm>
            <a:off x="3425037" y="366394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4" name="Shape 151"/>
          <p:cNvSpPr/>
          <p:nvPr/>
        </p:nvSpPr>
        <p:spPr>
          <a:xfrm>
            <a:off x="3374872" y="3665855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5" name="Shape 152"/>
          <p:cNvSpPr/>
          <p:nvPr/>
        </p:nvSpPr>
        <p:spPr>
          <a:xfrm>
            <a:off x="5564987" y="347583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6" name="Shape 153"/>
          <p:cNvSpPr/>
          <p:nvPr/>
        </p:nvSpPr>
        <p:spPr>
          <a:xfrm>
            <a:off x="5615312" y="344709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7" name="Shape 154"/>
          <p:cNvSpPr/>
          <p:nvPr/>
        </p:nvSpPr>
        <p:spPr>
          <a:xfrm>
            <a:off x="5684368" y="345916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8" name="Shape 155"/>
          <p:cNvSpPr/>
          <p:nvPr/>
        </p:nvSpPr>
        <p:spPr>
          <a:xfrm>
            <a:off x="5654522" y="344614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49" name="Shape 156"/>
          <p:cNvSpPr/>
          <p:nvPr/>
        </p:nvSpPr>
        <p:spPr>
          <a:xfrm>
            <a:off x="5684368" y="346202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150" name="Shape 157"/>
          <p:cNvSpPr/>
          <p:nvPr/>
        </p:nvSpPr>
        <p:spPr>
          <a:xfrm rot="-240000">
            <a:off x="1472016" y="3719590"/>
            <a:ext cx="4371975" cy="19050"/>
          </a:xfrm>
          <a:prstGeom prst="rect">
            <a:avLst/>
          </a:prstGeom>
          <a:solidFill>
            <a:srgbClr val="10ADBB">
              <a:alpha val="92000"/>
            </a:srgbClr>
          </a:solidFill>
          <a:ln/>
        </p:spPr>
      </p:sp>
      <p:sp>
        <p:nvSpPr>
          <p:cNvPr id="151" name="Shape 158"/>
          <p:cNvSpPr/>
          <p:nvPr/>
        </p:nvSpPr>
        <p:spPr>
          <a:xfrm>
            <a:off x="1282072" y="377523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2" name="Shape 159"/>
          <p:cNvSpPr/>
          <p:nvPr/>
        </p:nvSpPr>
        <p:spPr>
          <a:xfrm>
            <a:off x="1355890" y="376555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3" name="Shape 160"/>
          <p:cNvSpPr/>
          <p:nvPr/>
        </p:nvSpPr>
        <p:spPr>
          <a:xfrm>
            <a:off x="1347953" y="376317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4" name="Shape 161"/>
          <p:cNvSpPr/>
          <p:nvPr/>
        </p:nvSpPr>
        <p:spPr>
          <a:xfrm>
            <a:off x="1396689" y="374904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5" name="Shape 162"/>
          <p:cNvSpPr/>
          <p:nvPr/>
        </p:nvSpPr>
        <p:spPr>
          <a:xfrm>
            <a:off x="1219206" y="378237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6" name="Shape 163"/>
          <p:cNvSpPr/>
          <p:nvPr/>
        </p:nvSpPr>
        <p:spPr>
          <a:xfrm>
            <a:off x="1566234" y="368951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7" name="Shape 164"/>
          <p:cNvSpPr/>
          <p:nvPr/>
        </p:nvSpPr>
        <p:spPr>
          <a:xfrm>
            <a:off x="1197299" y="378333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8" name="Shape 165"/>
          <p:cNvSpPr/>
          <p:nvPr/>
        </p:nvSpPr>
        <p:spPr>
          <a:xfrm>
            <a:off x="1272705" y="3777774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59" name="Shape 166"/>
          <p:cNvSpPr/>
          <p:nvPr/>
        </p:nvSpPr>
        <p:spPr>
          <a:xfrm>
            <a:off x="1701330" y="3721894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0" name="Shape 167"/>
          <p:cNvSpPr/>
          <p:nvPr/>
        </p:nvSpPr>
        <p:spPr>
          <a:xfrm>
            <a:off x="1483049" y="375618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1" name="Shape 168"/>
          <p:cNvSpPr/>
          <p:nvPr/>
        </p:nvSpPr>
        <p:spPr>
          <a:xfrm>
            <a:off x="1253814" y="3779044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2" name="Shape 169"/>
          <p:cNvSpPr/>
          <p:nvPr/>
        </p:nvSpPr>
        <p:spPr>
          <a:xfrm>
            <a:off x="1278896" y="377682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3" name="Shape 170"/>
          <p:cNvSpPr/>
          <p:nvPr/>
        </p:nvSpPr>
        <p:spPr>
          <a:xfrm>
            <a:off x="1178408" y="378491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4" name="Shape 171"/>
          <p:cNvSpPr/>
          <p:nvPr/>
        </p:nvSpPr>
        <p:spPr>
          <a:xfrm>
            <a:off x="3374872" y="365712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5" name="Shape 172"/>
          <p:cNvSpPr/>
          <p:nvPr/>
        </p:nvSpPr>
        <p:spPr>
          <a:xfrm>
            <a:off x="3420434" y="365633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6" name="Shape 173"/>
          <p:cNvSpPr/>
          <p:nvPr/>
        </p:nvSpPr>
        <p:spPr>
          <a:xfrm>
            <a:off x="3420434" y="365331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7" name="Shape 174"/>
          <p:cNvSpPr/>
          <p:nvPr/>
        </p:nvSpPr>
        <p:spPr>
          <a:xfrm>
            <a:off x="3428213" y="365664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8" name="Shape 175"/>
          <p:cNvSpPr/>
          <p:nvPr/>
        </p:nvSpPr>
        <p:spPr>
          <a:xfrm>
            <a:off x="3367094" y="365918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69" name="Shape 176"/>
          <p:cNvSpPr/>
          <p:nvPr/>
        </p:nvSpPr>
        <p:spPr>
          <a:xfrm>
            <a:off x="3378048" y="365458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0" name="Shape 177"/>
          <p:cNvSpPr/>
          <p:nvPr/>
        </p:nvSpPr>
        <p:spPr>
          <a:xfrm>
            <a:off x="3429800" y="365458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1" name="Shape 178"/>
          <p:cNvSpPr/>
          <p:nvPr/>
        </p:nvSpPr>
        <p:spPr>
          <a:xfrm>
            <a:off x="3539655" y="341074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2" name="Shape 179"/>
          <p:cNvSpPr/>
          <p:nvPr/>
        </p:nvSpPr>
        <p:spPr>
          <a:xfrm>
            <a:off x="3428213" y="365648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3" name="Shape 180"/>
          <p:cNvSpPr/>
          <p:nvPr/>
        </p:nvSpPr>
        <p:spPr>
          <a:xfrm>
            <a:off x="3538068" y="364616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4" name="Shape 181"/>
          <p:cNvSpPr/>
          <p:nvPr/>
        </p:nvSpPr>
        <p:spPr>
          <a:xfrm>
            <a:off x="3422021" y="365426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5" name="Shape 182"/>
          <p:cNvSpPr/>
          <p:nvPr/>
        </p:nvSpPr>
        <p:spPr>
          <a:xfrm>
            <a:off x="3417259" y="365490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6" name="Shape 183"/>
          <p:cNvSpPr/>
          <p:nvPr/>
        </p:nvSpPr>
        <p:spPr>
          <a:xfrm>
            <a:off x="3432975" y="364521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7" name="Shape 184"/>
          <p:cNvSpPr/>
          <p:nvPr/>
        </p:nvSpPr>
        <p:spPr>
          <a:xfrm>
            <a:off x="3436150" y="365156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8" name="Shape 185"/>
          <p:cNvSpPr/>
          <p:nvPr/>
        </p:nvSpPr>
        <p:spPr>
          <a:xfrm>
            <a:off x="3351378" y="365823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79" name="Shape 186"/>
          <p:cNvSpPr/>
          <p:nvPr/>
        </p:nvSpPr>
        <p:spPr>
          <a:xfrm>
            <a:off x="3382652" y="365029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0" name="Shape 187"/>
          <p:cNvSpPr/>
          <p:nvPr/>
        </p:nvSpPr>
        <p:spPr>
          <a:xfrm>
            <a:off x="3417259" y="3653633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1" name="Shape 188"/>
          <p:cNvSpPr/>
          <p:nvPr/>
        </p:nvSpPr>
        <p:spPr>
          <a:xfrm>
            <a:off x="3395351" y="365506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2" name="Shape 189"/>
          <p:cNvSpPr/>
          <p:nvPr/>
        </p:nvSpPr>
        <p:spPr>
          <a:xfrm>
            <a:off x="3399955" y="365220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3" name="Shape 190"/>
          <p:cNvSpPr/>
          <p:nvPr/>
        </p:nvSpPr>
        <p:spPr>
          <a:xfrm>
            <a:off x="3415672" y="364934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4" name="Shape 191"/>
          <p:cNvSpPr/>
          <p:nvPr/>
        </p:nvSpPr>
        <p:spPr>
          <a:xfrm>
            <a:off x="3415672" y="366061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5" name="Shape 192"/>
          <p:cNvSpPr/>
          <p:nvPr/>
        </p:nvSpPr>
        <p:spPr>
          <a:xfrm>
            <a:off x="3371698" y="3654744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6" name="Shape 193"/>
          <p:cNvSpPr/>
          <p:nvPr/>
        </p:nvSpPr>
        <p:spPr>
          <a:xfrm>
            <a:off x="3392177" y="365633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7" name="Shape 194"/>
          <p:cNvSpPr/>
          <p:nvPr/>
        </p:nvSpPr>
        <p:spPr>
          <a:xfrm>
            <a:off x="3425037" y="365887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8" name="Shape 195"/>
          <p:cNvSpPr/>
          <p:nvPr/>
        </p:nvSpPr>
        <p:spPr>
          <a:xfrm>
            <a:off x="3374872" y="366140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89" name="Shape 196"/>
          <p:cNvSpPr/>
          <p:nvPr/>
        </p:nvSpPr>
        <p:spPr>
          <a:xfrm>
            <a:off x="5564987" y="309736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90" name="Shape 197"/>
          <p:cNvSpPr/>
          <p:nvPr/>
        </p:nvSpPr>
        <p:spPr>
          <a:xfrm>
            <a:off x="5615312" y="347742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91" name="Shape 198"/>
          <p:cNvSpPr/>
          <p:nvPr/>
        </p:nvSpPr>
        <p:spPr>
          <a:xfrm>
            <a:off x="5684368" y="335232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92" name="Shape 199"/>
          <p:cNvSpPr/>
          <p:nvPr/>
        </p:nvSpPr>
        <p:spPr>
          <a:xfrm>
            <a:off x="5654522" y="345995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93" name="Shape 200"/>
          <p:cNvSpPr/>
          <p:nvPr/>
        </p:nvSpPr>
        <p:spPr>
          <a:xfrm>
            <a:off x="5684368" y="3419633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194" name="Shape 201"/>
          <p:cNvSpPr/>
          <p:nvPr/>
        </p:nvSpPr>
        <p:spPr>
          <a:xfrm rot="-300000">
            <a:off x="1426613" y="3686809"/>
            <a:ext cx="4419600" cy="19050"/>
          </a:xfrm>
          <a:prstGeom prst="rect">
            <a:avLst/>
          </a:prstGeom>
          <a:solidFill>
            <a:srgbClr val="7664B5">
              <a:alpha val="92000"/>
            </a:srgbClr>
          </a:solidFill>
          <a:ln/>
        </p:spPr>
      </p:sp>
      <p:sp>
        <p:nvSpPr>
          <p:cNvPr id="195" name="TextBox 202"/>
          <p:cNvSpPr/>
          <p:nvPr/>
        </p:nvSpPr>
        <p:spPr>
          <a:xfrm>
            <a:off x="609606" y="4311016"/>
            <a:ext cx="5310029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C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nonlinearは3次関数、linear / LinearTurboFoldは1次関数でフィット。</a:t>
            </a:r>
            <a:endParaRPr lang="en-US" sz="825" dirty="0"/>
          </a:p>
        </p:txBody>
      </p:sp>
      <p:sp>
        <p:nvSpPr>
          <p:cNvPr id="196" name="Shape 204"/>
          <p:cNvSpPr/>
          <p:nvPr/>
        </p:nvSpPr>
        <p:spPr>
          <a:xfrm>
            <a:off x="6157760" y="1424941"/>
            <a:ext cx="5538629" cy="3117532"/>
          </a:xfrm>
          <a:prstGeom prst="roundRect">
            <a:avLst>
              <a:gd name="adj" fmla="val 3972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97" name="TextBox 205"/>
          <p:cNvSpPr/>
          <p:nvPr/>
        </p:nvSpPr>
        <p:spPr>
          <a:xfrm>
            <a:off x="6272060" y="1539241"/>
            <a:ext cx="53100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最大メモリ（MiB）</a:t>
            </a:r>
            <a:endParaRPr lang="en-US" sz="900" dirty="0"/>
          </a:p>
        </p:txBody>
      </p:sp>
      <p:pic>
        <p:nvPicPr>
          <p:cNvPr id="198" name="Picture 20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6410" y="1929766"/>
            <a:ext cx="4719479" cy="1952625"/>
          </a:xfrm>
          <a:prstGeom prst="rect">
            <a:avLst/>
          </a:prstGeom>
        </p:spPr>
      </p:pic>
      <p:sp>
        <p:nvSpPr>
          <p:cNvPr id="199" name="TextBox 208"/>
          <p:cNvSpPr/>
          <p:nvPr/>
        </p:nvSpPr>
        <p:spPr>
          <a:xfrm>
            <a:off x="6772123" y="3987166"/>
            <a:ext cx="476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</a:t>
            </a:r>
            <a:endParaRPr lang="en-US" sz="750" dirty="0"/>
          </a:p>
        </p:txBody>
      </p:sp>
      <p:sp>
        <p:nvSpPr>
          <p:cNvPr id="200" name="TextBox 209"/>
          <p:cNvSpPr/>
          <p:nvPr/>
        </p:nvSpPr>
        <p:spPr>
          <a:xfrm>
            <a:off x="7901947" y="3987166"/>
            <a:ext cx="1428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750</a:t>
            </a:r>
            <a:endParaRPr lang="en-US" sz="750" dirty="0"/>
          </a:p>
        </p:txBody>
      </p:sp>
      <p:sp>
        <p:nvSpPr>
          <p:cNvPr id="201" name="TextBox 210"/>
          <p:cNvSpPr/>
          <p:nvPr/>
        </p:nvSpPr>
        <p:spPr>
          <a:xfrm>
            <a:off x="9055583" y="3987166"/>
            <a:ext cx="1905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1.5k</a:t>
            </a:r>
            <a:endParaRPr lang="en-US" sz="750" dirty="0"/>
          </a:p>
        </p:txBody>
      </p:sp>
      <p:sp>
        <p:nvSpPr>
          <p:cNvPr id="202" name="TextBox 211"/>
          <p:cNvSpPr/>
          <p:nvPr/>
        </p:nvSpPr>
        <p:spPr>
          <a:xfrm>
            <a:off x="10209219" y="3987166"/>
            <a:ext cx="2381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2.25k</a:t>
            </a:r>
            <a:endParaRPr lang="en-US" sz="750" dirty="0"/>
          </a:p>
        </p:txBody>
      </p:sp>
      <p:sp>
        <p:nvSpPr>
          <p:cNvPr id="203" name="TextBox 212"/>
          <p:cNvSpPr/>
          <p:nvPr/>
        </p:nvSpPr>
        <p:spPr>
          <a:xfrm>
            <a:off x="11458264" y="3987166"/>
            <a:ext cx="952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3k</a:t>
            </a:r>
            <a:endParaRPr lang="en-US" sz="750" dirty="0"/>
          </a:p>
        </p:txBody>
      </p:sp>
      <p:sp>
        <p:nvSpPr>
          <p:cNvPr id="204" name="Shape 213"/>
          <p:cNvSpPr/>
          <p:nvPr/>
        </p:nvSpPr>
        <p:spPr>
          <a:xfrm>
            <a:off x="6795935" y="386334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05" name="TextBox 214"/>
          <p:cNvSpPr/>
          <p:nvPr/>
        </p:nvSpPr>
        <p:spPr>
          <a:xfrm>
            <a:off x="6338735" y="380142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</a:t>
            </a:r>
            <a:endParaRPr lang="en-US" sz="750" dirty="0"/>
          </a:p>
        </p:txBody>
      </p:sp>
      <p:sp>
        <p:nvSpPr>
          <p:cNvPr id="206" name="Shape 215"/>
          <p:cNvSpPr/>
          <p:nvPr/>
        </p:nvSpPr>
        <p:spPr>
          <a:xfrm>
            <a:off x="6795935" y="3431539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07" name="TextBox 216"/>
          <p:cNvSpPr/>
          <p:nvPr/>
        </p:nvSpPr>
        <p:spPr>
          <a:xfrm>
            <a:off x="6338735" y="3369627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200</a:t>
            </a:r>
            <a:endParaRPr lang="en-US" sz="750" dirty="0"/>
          </a:p>
        </p:txBody>
      </p:sp>
      <p:sp>
        <p:nvSpPr>
          <p:cNvPr id="208" name="Shape 217"/>
          <p:cNvSpPr/>
          <p:nvPr/>
        </p:nvSpPr>
        <p:spPr>
          <a:xfrm>
            <a:off x="6795935" y="2999738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09" name="TextBox 218"/>
          <p:cNvSpPr/>
          <p:nvPr/>
        </p:nvSpPr>
        <p:spPr>
          <a:xfrm>
            <a:off x="6338735" y="2937825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400</a:t>
            </a:r>
            <a:endParaRPr lang="en-US" sz="750" dirty="0"/>
          </a:p>
        </p:txBody>
      </p:sp>
      <p:sp>
        <p:nvSpPr>
          <p:cNvPr id="210" name="Shape 219"/>
          <p:cNvSpPr/>
          <p:nvPr/>
        </p:nvSpPr>
        <p:spPr>
          <a:xfrm>
            <a:off x="6795935" y="2567941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11" name="TextBox 220"/>
          <p:cNvSpPr/>
          <p:nvPr/>
        </p:nvSpPr>
        <p:spPr>
          <a:xfrm>
            <a:off x="6338735" y="2506028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600</a:t>
            </a:r>
            <a:endParaRPr lang="en-US" sz="750" dirty="0"/>
          </a:p>
        </p:txBody>
      </p:sp>
      <p:sp>
        <p:nvSpPr>
          <p:cNvPr id="212" name="Shape 221"/>
          <p:cNvSpPr/>
          <p:nvPr/>
        </p:nvSpPr>
        <p:spPr>
          <a:xfrm>
            <a:off x="6795935" y="2136139"/>
            <a:ext cx="4709954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213" name="TextBox 222"/>
          <p:cNvSpPr/>
          <p:nvPr/>
        </p:nvSpPr>
        <p:spPr>
          <a:xfrm>
            <a:off x="6338735" y="2074227"/>
            <a:ext cx="4000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800</a:t>
            </a:r>
            <a:endParaRPr lang="en-US" sz="750" dirty="0"/>
          </a:p>
        </p:txBody>
      </p:sp>
      <p:sp>
        <p:nvSpPr>
          <p:cNvPr id="214" name="TextBox 223"/>
          <p:cNvSpPr/>
          <p:nvPr/>
        </p:nvSpPr>
        <p:spPr>
          <a:xfrm>
            <a:off x="6338735" y="1767841"/>
            <a:ext cx="166053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MiB</a:t>
            </a:r>
            <a:endParaRPr lang="en-US" sz="750" dirty="0"/>
          </a:p>
        </p:txBody>
      </p:sp>
      <p:sp>
        <p:nvSpPr>
          <p:cNvPr id="215" name="Shape 224"/>
          <p:cNvSpPr/>
          <p:nvPr/>
        </p:nvSpPr>
        <p:spPr>
          <a:xfrm>
            <a:off x="6949287" y="377666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16" name="Shape 225"/>
          <p:cNvSpPr/>
          <p:nvPr/>
        </p:nvSpPr>
        <p:spPr>
          <a:xfrm>
            <a:off x="7023106" y="377348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17" name="Shape 226"/>
          <p:cNvSpPr/>
          <p:nvPr/>
        </p:nvSpPr>
        <p:spPr>
          <a:xfrm>
            <a:off x="7015168" y="377174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18" name="Shape 227"/>
          <p:cNvSpPr/>
          <p:nvPr/>
        </p:nvSpPr>
        <p:spPr>
          <a:xfrm>
            <a:off x="7063905" y="376951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19" name="Shape 228"/>
          <p:cNvSpPr/>
          <p:nvPr/>
        </p:nvSpPr>
        <p:spPr>
          <a:xfrm>
            <a:off x="6886423" y="377904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0" name="Shape 229"/>
          <p:cNvSpPr/>
          <p:nvPr/>
        </p:nvSpPr>
        <p:spPr>
          <a:xfrm>
            <a:off x="7233450" y="375173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1" name="Shape 230"/>
          <p:cNvSpPr/>
          <p:nvPr/>
        </p:nvSpPr>
        <p:spPr>
          <a:xfrm>
            <a:off x="6864515" y="377920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2" name="Shape 231"/>
          <p:cNvSpPr/>
          <p:nvPr/>
        </p:nvSpPr>
        <p:spPr>
          <a:xfrm>
            <a:off x="6939922" y="377730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3" name="Shape 232"/>
          <p:cNvSpPr/>
          <p:nvPr/>
        </p:nvSpPr>
        <p:spPr>
          <a:xfrm>
            <a:off x="7368547" y="374824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4" name="Shape 233"/>
          <p:cNvSpPr/>
          <p:nvPr/>
        </p:nvSpPr>
        <p:spPr>
          <a:xfrm>
            <a:off x="7150265" y="376682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5" name="Shape 234"/>
          <p:cNvSpPr/>
          <p:nvPr/>
        </p:nvSpPr>
        <p:spPr>
          <a:xfrm>
            <a:off x="6921030" y="377761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6" name="Shape 235"/>
          <p:cNvSpPr/>
          <p:nvPr/>
        </p:nvSpPr>
        <p:spPr>
          <a:xfrm>
            <a:off x="6946112" y="377824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7" name="Shape 236"/>
          <p:cNvSpPr/>
          <p:nvPr/>
        </p:nvSpPr>
        <p:spPr>
          <a:xfrm>
            <a:off x="6845624" y="3781425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8" name="Shape 237"/>
          <p:cNvSpPr/>
          <p:nvPr/>
        </p:nvSpPr>
        <p:spPr>
          <a:xfrm>
            <a:off x="9042089" y="333644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29" name="Shape 238"/>
          <p:cNvSpPr/>
          <p:nvPr/>
        </p:nvSpPr>
        <p:spPr>
          <a:xfrm>
            <a:off x="9087650" y="333248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0" name="Shape 239"/>
          <p:cNvSpPr/>
          <p:nvPr/>
        </p:nvSpPr>
        <p:spPr>
          <a:xfrm>
            <a:off x="9087650" y="3322797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1" name="Shape 240"/>
          <p:cNvSpPr/>
          <p:nvPr/>
        </p:nvSpPr>
        <p:spPr>
          <a:xfrm>
            <a:off x="9095428" y="332390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2" name="Shape 241"/>
          <p:cNvSpPr/>
          <p:nvPr/>
        </p:nvSpPr>
        <p:spPr>
          <a:xfrm>
            <a:off x="9034310" y="333105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3" name="Shape 242"/>
          <p:cNvSpPr/>
          <p:nvPr/>
        </p:nvSpPr>
        <p:spPr>
          <a:xfrm>
            <a:off x="9045264" y="333248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4" name="Shape 243"/>
          <p:cNvSpPr/>
          <p:nvPr/>
        </p:nvSpPr>
        <p:spPr>
          <a:xfrm>
            <a:off x="9097017" y="331438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5" name="Shape 244"/>
          <p:cNvSpPr/>
          <p:nvPr/>
        </p:nvSpPr>
        <p:spPr>
          <a:xfrm>
            <a:off x="9206872" y="328358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6" name="Shape 245"/>
          <p:cNvSpPr/>
          <p:nvPr/>
        </p:nvSpPr>
        <p:spPr>
          <a:xfrm>
            <a:off x="9095428" y="332327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7" name="Shape 246"/>
          <p:cNvSpPr/>
          <p:nvPr/>
        </p:nvSpPr>
        <p:spPr>
          <a:xfrm>
            <a:off x="9205283" y="330025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8" name="Shape 247"/>
          <p:cNvSpPr/>
          <p:nvPr/>
        </p:nvSpPr>
        <p:spPr>
          <a:xfrm>
            <a:off x="9089237" y="332724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39" name="Shape 248"/>
          <p:cNvSpPr/>
          <p:nvPr/>
        </p:nvSpPr>
        <p:spPr>
          <a:xfrm>
            <a:off x="9084474" y="3339624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0" name="Shape 249"/>
          <p:cNvSpPr/>
          <p:nvPr/>
        </p:nvSpPr>
        <p:spPr>
          <a:xfrm>
            <a:off x="9100191" y="332390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1" name="Shape 250"/>
          <p:cNvSpPr/>
          <p:nvPr/>
        </p:nvSpPr>
        <p:spPr>
          <a:xfrm>
            <a:off x="9103366" y="331200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2" name="Shape 251"/>
          <p:cNvSpPr/>
          <p:nvPr/>
        </p:nvSpPr>
        <p:spPr>
          <a:xfrm>
            <a:off x="9018594" y="3344545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3" name="Shape 252"/>
          <p:cNvSpPr/>
          <p:nvPr/>
        </p:nvSpPr>
        <p:spPr>
          <a:xfrm>
            <a:off x="9049867" y="332311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4" name="Shape 253"/>
          <p:cNvSpPr/>
          <p:nvPr/>
        </p:nvSpPr>
        <p:spPr>
          <a:xfrm>
            <a:off x="9084474" y="331962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5" name="Shape 254"/>
          <p:cNvSpPr/>
          <p:nvPr/>
        </p:nvSpPr>
        <p:spPr>
          <a:xfrm>
            <a:off x="9062568" y="332787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6" name="Shape 255"/>
          <p:cNvSpPr/>
          <p:nvPr/>
        </p:nvSpPr>
        <p:spPr>
          <a:xfrm>
            <a:off x="9067171" y="3328829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7" name="Shape 256"/>
          <p:cNvSpPr/>
          <p:nvPr/>
        </p:nvSpPr>
        <p:spPr>
          <a:xfrm>
            <a:off x="9082887" y="3318825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8" name="Shape 257"/>
          <p:cNvSpPr/>
          <p:nvPr/>
        </p:nvSpPr>
        <p:spPr>
          <a:xfrm>
            <a:off x="9082887" y="332819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49" name="Shape 258"/>
          <p:cNvSpPr/>
          <p:nvPr/>
        </p:nvSpPr>
        <p:spPr>
          <a:xfrm>
            <a:off x="9038914" y="3338196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0" name="Shape 259"/>
          <p:cNvSpPr/>
          <p:nvPr/>
        </p:nvSpPr>
        <p:spPr>
          <a:xfrm>
            <a:off x="9059392" y="3327560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1" name="Shape 260"/>
          <p:cNvSpPr/>
          <p:nvPr/>
        </p:nvSpPr>
        <p:spPr>
          <a:xfrm>
            <a:off x="9092254" y="331771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2" name="Shape 261"/>
          <p:cNvSpPr/>
          <p:nvPr/>
        </p:nvSpPr>
        <p:spPr>
          <a:xfrm>
            <a:off x="9042089" y="3343912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3" name="Shape 262"/>
          <p:cNvSpPr/>
          <p:nvPr/>
        </p:nvSpPr>
        <p:spPr>
          <a:xfrm>
            <a:off x="11232204" y="208883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4" name="Shape 263"/>
          <p:cNvSpPr/>
          <p:nvPr/>
        </p:nvSpPr>
        <p:spPr>
          <a:xfrm>
            <a:off x="11282528" y="2063907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5" name="Shape 264"/>
          <p:cNvSpPr/>
          <p:nvPr/>
        </p:nvSpPr>
        <p:spPr>
          <a:xfrm>
            <a:off x="11351584" y="2015491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6" name="Shape 265"/>
          <p:cNvSpPr/>
          <p:nvPr/>
        </p:nvSpPr>
        <p:spPr>
          <a:xfrm>
            <a:off x="11321739" y="2038508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7" name="Shape 266"/>
          <p:cNvSpPr/>
          <p:nvPr/>
        </p:nvSpPr>
        <p:spPr>
          <a:xfrm>
            <a:off x="11351584" y="2002473"/>
            <a:ext cx="76200" cy="76200"/>
          </a:xfrm>
          <a:prstGeom prst="ellipse">
            <a:avLst/>
          </a:prstGeom>
          <a:solidFill>
            <a:srgbClr val="DF6687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F6687">
                <a:alpha val="100000"/>
              </a:srgbClr>
            </a:outerShdw>
          </a:effectLst>
        </p:spPr>
      </p:sp>
      <p:sp>
        <p:nvSpPr>
          <p:cNvPr id="258" name="Shape 267"/>
          <p:cNvSpPr/>
          <p:nvPr/>
        </p:nvSpPr>
        <p:spPr>
          <a:xfrm rot="-120000">
            <a:off x="6794665" y="385842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59" name="Shape 268"/>
          <p:cNvSpPr/>
          <p:nvPr/>
        </p:nvSpPr>
        <p:spPr>
          <a:xfrm rot="-180000">
            <a:off x="6925316" y="3852467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0" name="Shape 269"/>
          <p:cNvSpPr/>
          <p:nvPr/>
        </p:nvSpPr>
        <p:spPr>
          <a:xfrm rot="-240000">
            <a:off x="7056205" y="384413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1" name="Shape 270"/>
          <p:cNvSpPr/>
          <p:nvPr/>
        </p:nvSpPr>
        <p:spPr>
          <a:xfrm rot="-300000">
            <a:off x="7186778" y="3833259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2" name="Shape 271"/>
          <p:cNvSpPr/>
          <p:nvPr/>
        </p:nvSpPr>
        <p:spPr>
          <a:xfrm rot="-360000">
            <a:off x="7317269" y="3820162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3" name="Shape 272"/>
          <p:cNvSpPr/>
          <p:nvPr/>
        </p:nvSpPr>
        <p:spPr>
          <a:xfrm rot="-420000">
            <a:off x="7448160" y="380436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4" name="Shape 273"/>
          <p:cNvSpPr/>
          <p:nvPr/>
        </p:nvSpPr>
        <p:spPr>
          <a:xfrm rot="-480000">
            <a:off x="7578811" y="3786425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5" name="Shape 274"/>
          <p:cNvSpPr/>
          <p:nvPr/>
        </p:nvSpPr>
        <p:spPr>
          <a:xfrm rot="-600000">
            <a:off x="7709462" y="376571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6" name="Shape 275"/>
          <p:cNvSpPr/>
          <p:nvPr/>
        </p:nvSpPr>
        <p:spPr>
          <a:xfrm rot="-660000">
            <a:off x="7840351" y="3742530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7" name="Shape 276"/>
          <p:cNvSpPr/>
          <p:nvPr/>
        </p:nvSpPr>
        <p:spPr>
          <a:xfrm rot="-720000">
            <a:off x="7971003" y="371665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8" name="Shape 277"/>
          <p:cNvSpPr/>
          <p:nvPr/>
        </p:nvSpPr>
        <p:spPr>
          <a:xfrm rot="-780000">
            <a:off x="8101654" y="3688237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69" name="Shape 278"/>
          <p:cNvSpPr/>
          <p:nvPr/>
        </p:nvSpPr>
        <p:spPr>
          <a:xfrm rot="-840000">
            <a:off x="8232464" y="3657281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0" name="Shape 279"/>
          <p:cNvSpPr/>
          <p:nvPr/>
        </p:nvSpPr>
        <p:spPr>
          <a:xfrm rot="-900000">
            <a:off x="8362957" y="3623548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1" name="Shape 280"/>
          <p:cNvSpPr/>
          <p:nvPr/>
        </p:nvSpPr>
        <p:spPr>
          <a:xfrm rot="-960000">
            <a:off x="8493687" y="3587193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2" name="Shape 281"/>
          <p:cNvSpPr/>
          <p:nvPr/>
        </p:nvSpPr>
        <p:spPr>
          <a:xfrm rot="-1020000">
            <a:off x="8624497" y="3548061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3" name="Shape 282"/>
          <p:cNvSpPr/>
          <p:nvPr/>
        </p:nvSpPr>
        <p:spPr>
          <a:xfrm rot="-1080000">
            <a:off x="8755148" y="3506152"/>
            <a:ext cx="1333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4" name="Shape 283"/>
          <p:cNvSpPr/>
          <p:nvPr/>
        </p:nvSpPr>
        <p:spPr>
          <a:xfrm rot="-1140000">
            <a:off x="8881037" y="3461462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5" name="Shape 284"/>
          <p:cNvSpPr/>
          <p:nvPr/>
        </p:nvSpPr>
        <p:spPr>
          <a:xfrm rot="-1260000">
            <a:off x="9011847" y="3413917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6" name="Shape 285"/>
          <p:cNvSpPr/>
          <p:nvPr/>
        </p:nvSpPr>
        <p:spPr>
          <a:xfrm rot="-1320000">
            <a:off x="9142577" y="3363596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7" name="Shape 286"/>
          <p:cNvSpPr/>
          <p:nvPr/>
        </p:nvSpPr>
        <p:spPr>
          <a:xfrm rot="-1380000">
            <a:off x="9273150" y="3310334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8" name="Shape 287"/>
          <p:cNvSpPr/>
          <p:nvPr/>
        </p:nvSpPr>
        <p:spPr>
          <a:xfrm rot="-1440000">
            <a:off x="9404039" y="3254297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79" name="Shape 288"/>
          <p:cNvSpPr/>
          <p:nvPr/>
        </p:nvSpPr>
        <p:spPr>
          <a:xfrm rot="-1500000">
            <a:off x="9534611" y="3195162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0" name="Shape 289"/>
          <p:cNvSpPr/>
          <p:nvPr/>
        </p:nvSpPr>
        <p:spPr>
          <a:xfrm rot="-1560000">
            <a:off x="9665262" y="3133250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1" name="Shape 290"/>
          <p:cNvSpPr/>
          <p:nvPr/>
        </p:nvSpPr>
        <p:spPr>
          <a:xfrm rot="-1620000">
            <a:off x="9796151" y="3068162"/>
            <a:ext cx="14287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2" name="Shape 291"/>
          <p:cNvSpPr/>
          <p:nvPr/>
        </p:nvSpPr>
        <p:spPr>
          <a:xfrm rot="-1680000">
            <a:off x="9922040" y="3000218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3" name="Shape 292"/>
          <p:cNvSpPr/>
          <p:nvPr/>
        </p:nvSpPr>
        <p:spPr>
          <a:xfrm rot="-1740000">
            <a:off x="10052691" y="2929019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4" name="Shape 293"/>
          <p:cNvSpPr/>
          <p:nvPr/>
        </p:nvSpPr>
        <p:spPr>
          <a:xfrm rot="-1800000">
            <a:off x="10183501" y="2854880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5" name="Shape 294"/>
          <p:cNvSpPr/>
          <p:nvPr/>
        </p:nvSpPr>
        <p:spPr>
          <a:xfrm rot="-1860000">
            <a:off x="10314153" y="2777649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6" name="Shape 295"/>
          <p:cNvSpPr/>
          <p:nvPr/>
        </p:nvSpPr>
        <p:spPr>
          <a:xfrm rot="-1920000">
            <a:off x="10444725" y="2697004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7" name="Shape 296"/>
          <p:cNvSpPr/>
          <p:nvPr/>
        </p:nvSpPr>
        <p:spPr>
          <a:xfrm rot="-1980000">
            <a:off x="10575535" y="2613424"/>
            <a:ext cx="15240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8" name="Shape 297"/>
          <p:cNvSpPr/>
          <p:nvPr/>
        </p:nvSpPr>
        <p:spPr>
          <a:xfrm rot="-2040000">
            <a:off x="10701344" y="2526584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89" name="Shape 298"/>
          <p:cNvSpPr/>
          <p:nvPr/>
        </p:nvSpPr>
        <p:spPr>
          <a:xfrm rot="-2100000">
            <a:off x="10832154" y="2436493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90" name="Shape 299"/>
          <p:cNvSpPr/>
          <p:nvPr/>
        </p:nvSpPr>
        <p:spPr>
          <a:xfrm rot="-2160000">
            <a:off x="10962964" y="2343152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91" name="Shape 300"/>
          <p:cNvSpPr/>
          <p:nvPr/>
        </p:nvSpPr>
        <p:spPr>
          <a:xfrm rot="-2220000">
            <a:off x="11093536" y="2246392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92" name="Shape 301"/>
          <p:cNvSpPr/>
          <p:nvPr/>
        </p:nvSpPr>
        <p:spPr>
          <a:xfrm rot="-2280000">
            <a:off x="11224187" y="2146381"/>
            <a:ext cx="161925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93" name="Shape 302"/>
          <p:cNvSpPr/>
          <p:nvPr/>
        </p:nvSpPr>
        <p:spPr>
          <a:xfrm rot="-2340000">
            <a:off x="11350155" y="2043193"/>
            <a:ext cx="171450" cy="19050"/>
          </a:xfrm>
          <a:prstGeom prst="rect">
            <a:avLst/>
          </a:prstGeom>
          <a:solidFill>
            <a:srgbClr val="DF6687">
              <a:alpha val="92000"/>
            </a:srgbClr>
          </a:solidFill>
          <a:ln/>
        </p:spPr>
      </p:sp>
      <p:sp>
        <p:nvSpPr>
          <p:cNvPr id="294" name="Shape 303"/>
          <p:cNvSpPr/>
          <p:nvPr/>
        </p:nvSpPr>
        <p:spPr>
          <a:xfrm>
            <a:off x="6944525" y="3758882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295" name="Shape 304"/>
          <p:cNvSpPr/>
          <p:nvPr/>
        </p:nvSpPr>
        <p:spPr>
          <a:xfrm>
            <a:off x="7018344" y="375285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296" name="Shape 305"/>
          <p:cNvSpPr/>
          <p:nvPr/>
        </p:nvSpPr>
        <p:spPr>
          <a:xfrm>
            <a:off x="7010406" y="3749515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297" name="Shape 306"/>
          <p:cNvSpPr/>
          <p:nvPr/>
        </p:nvSpPr>
        <p:spPr>
          <a:xfrm>
            <a:off x="7059142" y="374300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298" name="Shape 307"/>
          <p:cNvSpPr/>
          <p:nvPr/>
        </p:nvSpPr>
        <p:spPr>
          <a:xfrm>
            <a:off x="6881660" y="376539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299" name="Shape 308"/>
          <p:cNvSpPr/>
          <p:nvPr/>
        </p:nvSpPr>
        <p:spPr>
          <a:xfrm>
            <a:off x="7228688" y="371490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0" name="Shape 309"/>
          <p:cNvSpPr/>
          <p:nvPr/>
        </p:nvSpPr>
        <p:spPr>
          <a:xfrm>
            <a:off x="6859752" y="376682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1" name="Shape 310"/>
          <p:cNvSpPr/>
          <p:nvPr/>
        </p:nvSpPr>
        <p:spPr>
          <a:xfrm>
            <a:off x="6935159" y="376221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2" name="Shape 311"/>
          <p:cNvSpPr/>
          <p:nvPr/>
        </p:nvSpPr>
        <p:spPr>
          <a:xfrm>
            <a:off x="7363784" y="371109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3" name="Shape 312"/>
          <p:cNvSpPr/>
          <p:nvPr/>
        </p:nvSpPr>
        <p:spPr>
          <a:xfrm>
            <a:off x="7145502" y="3734274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4" name="Shape 313"/>
          <p:cNvSpPr/>
          <p:nvPr/>
        </p:nvSpPr>
        <p:spPr>
          <a:xfrm>
            <a:off x="6916267" y="376205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5" name="Shape 314"/>
          <p:cNvSpPr/>
          <p:nvPr/>
        </p:nvSpPr>
        <p:spPr>
          <a:xfrm>
            <a:off x="6941349" y="376046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6" name="Shape 315"/>
          <p:cNvSpPr/>
          <p:nvPr/>
        </p:nvSpPr>
        <p:spPr>
          <a:xfrm>
            <a:off x="6840861" y="376936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7" name="Shape 316"/>
          <p:cNvSpPr/>
          <p:nvPr/>
        </p:nvSpPr>
        <p:spPr>
          <a:xfrm>
            <a:off x="9037326" y="3403602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8" name="Shape 317"/>
          <p:cNvSpPr/>
          <p:nvPr/>
        </p:nvSpPr>
        <p:spPr>
          <a:xfrm>
            <a:off x="9082887" y="342296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09" name="Shape 318"/>
          <p:cNvSpPr/>
          <p:nvPr/>
        </p:nvSpPr>
        <p:spPr>
          <a:xfrm>
            <a:off x="9082887" y="339359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0" name="Shape 319"/>
          <p:cNvSpPr/>
          <p:nvPr/>
        </p:nvSpPr>
        <p:spPr>
          <a:xfrm>
            <a:off x="9090666" y="341804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1" name="Shape 320"/>
          <p:cNvSpPr/>
          <p:nvPr/>
        </p:nvSpPr>
        <p:spPr>
          <a:xfrm>
            <a:off x="9029548" y="339978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2" name="Shape 321"/>
          <p:cNvSpPr/>
          <p:nvPr/>
        </p:nvSpPr>
        <p:spPr>
          <a:xfrm>
            <a:off x="9040502" y="340344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3" name="Shape 322"/>
          <p:cNvSpPr/>
          <p:nvPr/>
        </p:nvSpPr>
        <p:spPr>
          <a:xfrm>
            <a:off x="9092254" y="339217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4" name="Shape 323"/>
          <p:cNvSpPr/>
          <p:nvPr/>
        </p:nvSpPr>
        <p:spPr>
          <a:xfrm>
            <a:off x="9202109" y="336343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5" name="Shape 324"/>
          <p:cNvSpPr/>
          <p:nvPr/>
        </p:nvSpPr>
        <p:spPr>
          <a:xfrm>
            <a:off x="9090666" y="340883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6" name="Shape 325"/>
          <p:cNvSpPr/>
          <p:nvPr/>
        </p:nvSpPr>
        <p:spPr>
          <a:xfrm>
            <a:off x="9200521" y="341535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7" name="Shape 326"/>
          <p:cNvSpPr/>
          <p:nvPr/>
        </p:nvSpPr>
        <p:spPr>
          <a:xfrm>
            <a:off x="9084474" y="340820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8" name="Shape 327"/>
          <p:cNvSpPr/>
          <p:nvPr/>
        </p:nvSpPr>
        <p:spPr>
          <a:xfrm>
            <a:off x="9079712" y="341439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19" name="Shape 328"/>
          <p:cNvSpPr/>
          <p:nvPr/>
        </p:nvSpPr>
        <p:spPr>
          <a:xfrm>
            <a:off x="9095428" y="3404392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0" name="Shape 329"/>
          <p:cNvSpPr/>
          <p:nvPr/>
        </p:nvSpPr>
        <p:spPr>
          <a:xfrm>
            <a:off x="9098604" y="340089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1" name="Shape 330"/>
          <p:cNvSpPr/>
          <p:nvPr/>
        </p:nvSpPr>
        <p:spPr>
          <a:xfrm>
            <a:off x="9013831" y="340487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2" name="Shape 331"/>
          <p:cNvSpPr/>
          <p:nvPr/>
        </p:nvSpPr>
        <p:spPr>
          <a:xfrm>
            <a:off x="9045105" y="340899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3" name="Shape 332"/>
          <p:cNvSpPr/>
          <p:nvPr/>
        </p:nvSpPr>
        <p:spPr>
          <a:xfrm>
            <a:off x="9079712" y="339312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4" name="Shape 333"/>
          <p:cNvSpPr/>
          <p:nvPr/>
        </p:nvSpPr>
        <p:spPr>
          <a:xfrm>
            <a:off x="9057805" y="340122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5" name="Shape 334"/>
          <p:cNvSpPr/>
          <p:nvPr/>
        </p:nvSpPr>
        <p:spPr>
          <a:xfrm>
            <a:off x="9062408" y="3402011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6" name="Shape 335"/>
          <p:cNvSpPr/>
          <p:nvPr/>
        </p:nvSpPr>
        <p:spPr>
          <a:xfrm>
            <a:off x="9078125" y="338963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7" name="Shape 336"/>
          <p:cNvSpPr/>
          <p:nvPr/>
        </p:nvSpPr>
        <p:spPr>
          <a:xfrm>
            <a:off x="9078125" y="341090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8" name="Shape 337"/>
          <p:cNvSpPr/>
          <p:nvPr/>
        </p:nvSpPr>
        <p:spPr>
          <a:xfrm>
            <a:off x="9034152" y="3410587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29" name="Shape 338"/>
          <p:cNvSpPr/>
          <p:nvPr/>
        </p:nvSpPr>
        <p:spPr>
          <a:xfrm>
            <a:off x="9054630" y="3403123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0" name="Shape 339"/>
          <p:cNvSpPr/>
          <p:nvPr/>
        </p:nvSpPr>
        <p:spPr>
          <a:xfrm>
            <a:off x="9087492" y="340376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1" name="Shape 340"/>
          <p:cNvSpPr/>
          <p:nvPr/>
        </p:nvSpPr>
        <p:spPr>
          <a:xfrm>
            <a:off x="9037326" y="3411694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2" name="Shape 341"/>
          <p:cNvSpPr/>
          <p:nvPr/>
        </p:nvSpPr>
        <p:spPr>
          <a:xfrm>
            <a:off x="11227441" y="2857500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3" name="Shape 342"/>
          <p:cNvSpPr/>
          <p:nvPr/>
        </p:nvSpPr>
        <p:spPr>
          <a:xfrm>
            <a:off x="11277765" y="2876234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4" name="Shape 343"/>
          <p:cNvSpPr/>
          <p:nvPr/>
        </p:nvSpPr>
        <p:spPr>
          <a:xfrm>
            <a:off x="11346821" y="2858928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5" name="Shape 344"/>
          <p:cNvSpPr/>
          <p:nvPr/>
        </p:nvSpPr>
        <p:spPr>
          <a:xfrm>
            <a:off x="11316977" y="2855756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6" name="Shape 345"/>
          <p:cNvSpPr/>
          <p:nvPr/>
        </p:nvSpPr>
        <p:spPr>
          <a:xfrm>
            <a:off x="11346821" y="2847659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37" name="Shape 346"/>
          <p:cNvSpPr/>
          <p:nvPr/>
        </p:nvSpPr>
        <p:spPr>
          <a:xfrm rot="-660000">
            <a:off x="6973577" y="3430666"/>
            <a:ext cx="4572000" cy="19050"/>
          </a:xfrm>
          <a:prstGeom prst="rect">
            <a:avLst/>
          </a:prstGeom>
          <a:solidFill>
            <a:srgbClr val="10ADBB">
              <a:alpha val="92000"/>
            </a:srgbClr>
          </a:solidFill>
          <a:ln/>
        </p:spPr>
      </p:sp>
      <p:sp>
        <p:nvSpPr>
          <p:cNvPr id="338" name="Shape 347"/>
          <p:cNvSpPr/>
          <p:nvPr/>
        </p:nvSpPr>
        <p:spPr>
          <a:xfrm>
            <a:off x="6944525" y="373126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39" name="Shape 348"/>
          <p:cNvSpPr/>
          <p:nvPr/>
        </p:nvSpPr>
        <p:spPr>
          <a:xfrm>
            <a:off x="7018344" y="370998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0" name="Shape 349"/>
          <p:cNvSpPr/>
          <p:nvPr/>
        </p:nvSpPr>
        <p:spPr>
          <a:xfrm>
            <a:off x="7010406" y="370093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1" name="Shape 350"/>
          <p:cNvSpPr/>
          <p:nvPr/>
        </p:nvSpPr>
        <p:spPr>
          <a:xfrm>
            <a:off x="7059142" y="368045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2" name="Shape 351"/>
          <p:cNvSpPr/>
          <p:nvPr/>
        </p:nvSpPr>
        <p:spPr>
          <a:xfrm>
            <a:off x="6881660" y="375078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3" name="Shape 352"/>
          <p:cNvSpPr/>
          <p:nvPr/>
        </p:nvSpPr>
        <p:spPr>
          <a:xfrm>
            <a:off x="7228688" y="357536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4" name="Shape 353"/>
          <p:cNvSpPr/>
          <p:nvPr/>
        </p:nvSpPr>
        <p:spPr>
          <a:xfrm>
            <a:off x="6859752" y="375031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5" name="Shape 354"/>
          <p:cNvSpPr/>
          <p:nvPr/>
        </p:nvSpPr>
        <p:spPr>
          <a:xfrm>
            <a:off x="6935159" y="373713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6" name="Shape 355"/>
          <p:cNvSpPr/>
          <p:nvPr/>
        </p:nvSpPr>
        <p:spPr>
          <a:xfrm>
            <a:off x="7363784" y="359187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7" name="Shape 356"/>
          <p:cNvSpPr/>
          <p:nvPr/>
        </p:nvSpPr>
        <p:spPr>
          <a:xfrm>
            <a:off x="7145502" y="367077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8" name="Shape 357"/>
          <p:cNvSpPr/>
          <p:nvPr/>
        </p:nvSpPr>
        <p:spPr>
          <a:xfrm>
            <a:off x="6916267" y="373983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49" name="Shape 358"/>
          <p:cNvSpPr/>
          <p:nvPr/>
        </p:nvSpPr>
        <p:spPr>
          <a:xfrm>
            <a:off x="6941349" y="373681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0" name="Shape 359"/>
          <p:cNvSpPr/>
          <p:nvPr/>
        </p:nvSpPr>
        <p:spPr>
          <a:xfrm>
            <a:off x="6840861" y="375825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1" name="Shape 360"/>
          <p:cNvSpPr/>
          <p:nvPr/>
        </p:nvSpPr>
        <p:spPr>
          <a:xfrm>
            <a:off x="9037326" y="304006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2" name="Shape 361"/>
          <p:cNvSpPr/>
          <p:nvPr/>
        </p:nvSpPr>
        <p:spPr>
          <a:xfrm>
            <a:off x="9082887" y="3043554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3" name="Shape 362"/>
          <p:cNvSpPr/>
          <p:nvPr/>
        </p:nvSpPr>
        <p:spPr>
          <a:xfrm>
            <a:off x="9082887" y="301656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4" name="Shape 363"/>
          <p:cNvSpPr/>
          <p:nvPr/>
        </p:nvSpPr>
        <p:spPr>
          <a:xfrm>
            <a:off x="9090666" y="301497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5" name="Shape 364"/>
          <p:cNvSpPr/>
          <p:nvPr/>
        </p:nvSpPr>
        <p:spPr>
          <a:xfrm>
            <a:off x="9029548" y="301101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6" name="Shape 365"/>
          <p:cNvSpPr/>
          <p:nvPr/>
        </p:nvSpPr>
        <p:spPr>
          <a:xfrm>
            <a:off x="9040502" y="302815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7" name="Shape 366"/>
          <p:cNvSpPr/>
          <p:nvPr/>
        </p:nvSpPr>
        <p:spPr>
          <a:xfrm>
            <a:off x="9092254" y="301005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8" name="Shape 367"/>
          <p:cNvSpPr/>
          <p:nvPr/>
        </p:nvSpPr>
        <p:spPr>
          <a:xfrm>
            <a:off x="9202109" y="297862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59" name="Shape 368"/>
          <p:cNvSpPr/>
          <p:nvPr/>
        </p:nvSpPr>
        <p:spPr>
          <a:xfrm>
            <a:off x="9090666" y="303847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0" name="Shape 369"/>
          <p:cNvSpPr/>
          <p:nvPr/>
        </p:nvSpPr>
        <p:spPr>
          <a:xfrm>
            <a:off x="9200521" y="302053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1" name="Shape 370"/>
          <p:cNvSpPr/>
          <p:nvPr/>
        </p:nvSpPr>
        <p:spPr>
          <a:xfrm>
            <a:off x="9084474" y="302641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2" name="Shape 371"/>
          <p:cNvSpPr/>
          <p:nvPr/>
        </p:nvSpPr>
        <p:spPr>
          <a:xfrm>
            <a:off x="9079712" y="303927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3" name="Shape 372"/>
          <p:cNvSpPr/>
          <p:nvPr/>
        </p:nvSpPr>
        <p:spPr>
          <a:xfrm>
            <a:off x="9095428" y="303212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4" name="Shape 373"/>
          <p:cNvSpPr/>
          <p:nvPr/>
        </p:nvSpPr>
        <p:spPr>
          <a:xfrm>
            <a:off x="9098604" y="302387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5" name="Shape 374"/>
          <p:cNvSpPr/>
          <p:nvPr/>
        </p:nvSpPr>
        <p:spPr>
          <a:xfrm>
            <a:off x="9013831" y="305625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6" name="Shape 375"/>
          <p:cNvSpPr/>
          <p:nvPr/>
        </p:nvSpPr>
        <p:spPr>
          <a:xfrm>
            <a:off x="9045105" y="302720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7" name="Shape 376"/>
          <p:cNvSpPr/>
          <p:nvPr/>
        </p:nvSpPr>
        <p:spPr>
          <a:xfrm>
            <a:off x="9079712" y="302958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8" name="Shape 377"/>
          <p:cNvSpPr/>
          <p:nvPr/>
        </p:nvSpPr>
        <p:spPr>
          <a:xfrm>
            <a:off x="9057805" y="3023076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69" name="Shape 378"/>
          <p:cNvSpPr/>
          <p:nvPr/>
        </p:nvSpPr>
        <p:spPr>
          <a:xfrm>
            <a:off x="9062408" y="301751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0" name="Shape 379"/>
          <p:cNvSpPr/>
          <p:nvPr/>
        </p:nvSpPr>
        <p:spPr>
          <a:xfrm>
            <a:off x="9078125" y="3031331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1" name="Shape 380"/>
          <p:cNvSpPr/>
          <p:nvPr/>
        </p:nvSpPr>
        <p:spPr>
          <a:xfrm>
            <a:off x="9078125" y="3032285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2" name="Shape 381"/>
          <p:cNvSpPr/>
          <p:nvPr/>
        </p:nvSpPr>
        <p:spPr>
          <a:xfrm>
            <a:off x="9034152" y="3033712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3" name="Shape 382"/>
          <p:cNvSpPr/>
          <p:nvPr/>
        </p:nvSpPr>
        <p:spPr>
          <a:xfrm>
            <a:off x="9054630" y="303768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4" name="Shape 383"/>
          <p:cNvSpPr/>
          <p:nvPr/>
        </p:nvSpPr>
        <p:spPr>
          <a:xfrm>
            <a:off x="9087492" y="301418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5" name="Shape 384"/>
          <p:cNvSpPr/>
          <p:nvPr/>
        </p:nvSpPr>
        <p:spPr>
          <a:xfrm>
            <a:off x="9037326" y="303037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6" name="Shape 385"/>
          <p:cNvSpPr/>
          <p:nvPr/>
        </p:nvSpPr>
        <p:spPr>
          <a:xfrm>
            <a:off x="11227441" y="2115820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7" name="Shape 386"/>
          <p:cNvSpPr/>
          <p:nvPr/>
        </p:nvSpPr>
        <p:spPr>
          <a:xfrm>
            <a:off x="11277765" y="2041527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8" name="Shape 387"/>
          <p:cNvSpPr/>
          <p:nvPr/>
        </p:nvSpPr>
        <p:spPr>
          <a:xfrm>
            <a:off x="11346821" y="2087719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79" name="Shape 388"/>
          <p:cNvSpPr/>
          <p:nvPr/>
        </p:nvSpPr>
        <p:spPr>
          <a:xfrm>
            <a:off x="11316977" y="2125028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80" name="Shape 389"/>
          <p:cNvSpPr/>
          <p:nvPr/>
        </p:nvSpPr>
        <p:spPr>
          <a:xfrm>
            <a:off x="11346821" y="2020253"/>
            <a:ext cx="85725" cy="85725"/>
          </a:xfrm>
          <a:prstGeom prst="ellipse">
            <a:avLst/>
          </a:prstGeom>
          <a:solidFill>
            <a:srgbClr val="7664B5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7664B5">
                <a:alpha val="100000"/>
              </a:srgbClr>
            </a:outerShdw>
          </a:effectLst>
        </p:spPr>
      </p:sp>
      <p:sp>
        <p:nvSpPr>
          <p:cNvPr id="381" name="Shape 390"/>
          <p:cNvSpPr/>
          <p:nvPr/>
        </p:nvSpPr>
        <p:spPr>
          <a:xfrm rot="-1200000">
            <a:off x="6781886" y="3036730"/>
            <a:ext cx="4867275" cy="19050"/>
          </a:xfrm>
          <a:prstGeom prst="rect">
            <a:avLst/>
          </a:prstGeom>
          <a:solidFill>
            <a:srgbClr val="7664B5">
              <a:alpha val="92000"/>
            </a:srgbClr>
          </a:solidFill>
          <a:ln/>
        </p:spPr>
      </p:sp>
      <p:sp>
        <p:nvSpPr>
          <p:cNvPr id="382" name="TextBox 391"/>
          <p:cNvSpPr/>
          <p:nvPr/>
        </p:nvSpPr>
        <p:spPr>
          <a:xfrm>
            <a:off x="6272060" y="4311016"/>
            <a:ext cx="5310029" cy="136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C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RIBOSUMありの条件を方式間で比較。ファミリー色は使わない。</a:t>
            </a:r>
            <a:endParaRPr lang="en-US" sz="825" dirty="0"/>
          </a:p>
        </p:txBody>
      </p:sp>
      <p:sp>
        <p:nvSpPr>
          <p:cNvPr id="383" name="TextBox 397"/>
          <p:cNvSpPr/>
          <p:nvPr/>
        </p:nvSpPr>
        <p:spPr>
          <a:xfrm>
            <a:off x="619131" y="4628197"/>
            <a:ext cx="10052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nonlinear（ρ=.075）</a:t>
            </a:r>
            <a:endParaRPr lang="en-US" sz="825" dirty="0"/>
          </a:p>
        </p:txBody>
      </p:sp>
      <p:sp>
        <p:nvSpPr>
          <p:cNvPr id="384" name="Shape 396"/>
          <p:cNvSpPr/>
          <p:nvPr/>
        </p:nvSpPr>
        <p:spPr>
          <a:xfrm>
            <a:off x="495306" y="4675822"/>
            <a:ext cx="85725" cy="85725"/>
          </a:xfrm>
          <a:prstGeom prst="ellipse">
            <a:avLst/>
          </a:prstGeom>
          <a:solidFill>
            <a:srgbClr val="DF6687"/>
          </a:solidFill>
          <a:ln/>
        </p:spPr>
      </p:sp>
      <p:sp>
        <p:nvSpPr>
          <p:cNvPr id="385" name="TextBox 400"/>
          <p:cNvSpPr/>
          <p:nvPr/>
        </p:nvSpPr>
        <p:spPr>
          <a:xfrm>
            <a:off x="1862461" y="4628197"/>
            <a:ext cx="135509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linear［LTF score］（ρ=.3）</a:t>
            </a:r>
            <a:endParaRPr lang="en-US" sz="825" dirty="0"/>
          </a:p>
        </p:txBody>
      </p:sp>
      <p:sp>
        <p:nvSpPr>
          <p:cNvPr id="386" name="Shape 399"/>
          <p:cNvSpPr/>
          <p:nvPr/>
        </p:nvSpPr>
        <p:spPr>
          <a:xfrm>
            <a:off x="1738636" y="4675822"/>
            <a:ext cx="85725" cy="85725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0ADBB"/>
            </a:solidFill>
            <a:prstDash val="solid"/>
          </a:ln>
        </p:spPr>
      </p:sp>
      <p:sp>
        <p:nvSpPr>
          <p:cNvPr id="387" name="TextBox 403"/>
          <p:cNvSpPr/>
          <p:nvPr/>
        </p:nvSpPr>
        <p:spPr>
          <a:xfrm>
            <a:off x="3455676" y="4628197"/>
            <a:ext cx="80978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LinearTurboFold</a:t>
            </a:r>
            <a:endParaRPr lang="en-US" sz="825" dirty="0"/>
          </a:p>
        </p:txBody>
      </p:sp>
      <p:sp>
        <p:nvSpPr>
          <p:cNvPr id="388" name="Shape 402"/>
          <p:cNvSpPr/>
          <p:nvPr/>
        </p:nvSpPr>
        <p:spPr>
          <a:xfrm>
            <a:off x="3331851" y="4675822"/>
            <a:ext cx="85725" cy="85725"/>
          </a:xfrm>
          <a:prstGeom prst="ellipse">
            <a:avLst/>
          </a:prstGeom>
          <a:solidFill>
            <a:srgbClr val="7664B5"/>
          </a:solidFill>
          <a:ln/>
        </p:spPr>
      </p:sp>
      <p:sp>
        <p:nvSpPr>
          <p:cNvPr id="389" name="TextBox 404"/>
          <p:cNvSpPr/>
          <p:nvPr/>
        </p:nvSpPr>
        <p:spPr>
          <a:xfrm>
            <a:off x="4379760" y="4628197"/>
            <a:ext cx="10947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● 個別点　━ フィット</a:t>
            </a:r>
            <a:endParaRPr lang="en-US" sz="825" dirty="0"/>
          </a:p>
        </p:txBody>
      </p:sp>
      <p:sp>
        <p:nvSpPr>
          <p:cNvPr id="390" name="Shape 407"/>
          <p:cNvSpPr/>
          <p:nvPr/>
        </p:nvSpPr>
        <p:spPr>
          <a:xfrm>
            <a:off x="495306" y="4875847"/>
            <a:ext cx="5514816" cy="1005364"/>
          </a:xfrm>
          <a:prstGeom prst="roundRect">
            <a:avLst>
              <a:gd name="adj" fmla="val 12316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391" name="TextBox 408"/>
          <p:cNvSpPr/>
          <p:nvPr/>
        </p:nvSpPr>
        <p:spPr>
          <a:xfrm>
            <a:off x="657231" y="5028247"/>
            <a:ext cx="5190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TIME FIT</a:t>
            </a:r>
            <a:endParaRPr lang="en-US" sz="825" dirty="0"/>
          </a:p>
        </p:txBody>
      </p:sp>
      <p:sp>
        <p:nvSpPr>
          <p:cNvPr id="392" name="TextBox 409"/>
          <p:cNvSpPr/>
          <p:nvPr/>
        </p:nvSpPr>
        <p:spPr>
          <a:xfrm>
            <a:off x="657231" y="5228272"/>
            <a:ext cx="5190966" cy="14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26B7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nonlinear: cubic fit · R²=0.998</a:t>
            </a:r>
            <a:endParaRPr lang="en-US" sz="825" dirty="0"/>
          </a:p>
        </p:txBody>
      </p:sp>
      <p:sp>
        <p:nvSpPr>
          <p:cNvPr id="393" name="TextBox 410"/>
          <p:cNvSpPr/>
          <p:nvPr/>
        </p:nvSpPr>
        <p:spPr>
          <a:xfrm>
            <a:off x="657231" y="5407819"/>
            <a:ext cx="5190966" cy="14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26B7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linear: linear fit · slope=34.0/1000 nt · R²=0.962</a:t>
            </a:r>
            <a:endParaRPr lang="en-US" sz="825" dirty="0"/>
          </a:p>
        </p:txBody>
      </p:sp>
      <p:sp>
        <p:nvSpPr>
          <p:cNvPr id="394" name="TextBox 411"/>
          <p:cNvSpPr/>
          <p:nvPr/>
        </p:nvSpPr>
        <p:spPr>
          <a:xfrm>
            <a:off x="657231" y="5587366"/>
            <a:ext cx="5190966" cy="14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26B7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LTF: linear fit · slope=40.9/1000 nt · R²=0.718</a:t>
            </a:r>
            <a:endParaRPr lang="en-US" sz="825" dirty="0"/>
          </a:p>
        </p:txBody>
      </p:sp>
      <p:sp>
        <p:nvSpPr>
          <p:cNvPr id="395" name="Shape 412"/>
          <p:cNvSpPr/>
          <p:nvPr/>
        </p:nvSpPr>
        <p:spPr>
          <a:xfrm>
            <a:off x="6181573" y="4875847"/>
            <a:ext cx="5514816" cy="1005364"/>
          </a:xfrm>
          <a:prstGeom prst="roundRect">
            <a:avLst>
              <a:gd name="adj" fmla="val 12316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396" name="TextBox 413"/>
          <p:cNvSpPr/>
          <p:nvPr/>
        </p:nvSpPr>
        <p:spPr>
          <a:xfrm>
            <a:off x="6343498" y="5028247"/>
            <a:ext cx="51909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MEMORY FIT</a:t>
            </a:r>
            <a:endParaRPr lang="en-US" sz="825" dirty="0"/>
          </a:p>
        </p:txBody>
      </p:sp>
      <p:sp>
        <p:nvSpPr>
          <p:cNvPr id="397" name="TextBox 414"/>
          <p:cNvSpPr/>
          <p:nvPr/>
        </p:nvSpPr>
        <p:spPr>
          <a:xfrm>
            <a:off x="6343498" y="5228272"/>
            <a:ext cx="5190966" cy="14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26B7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nonlinear: cubic fit · R²=1.000</a:t>
            </a:r>
            <a:endParaRPr lang="en-US" sz="825" dirty="0"/>
          </a:p>
        </p:txBody>
      </p:sp>
      <p:sp>
        <p:nvSpPr>
          <p:cNvPr id="398" name="TextBox 415"/>
          <p:cNvSpPr/>
          <p:nvPr/>
        </p:nvSpPr>
        <p:spPr>
          <a:xfrm>
            <a:off x="6343498" y="5407819"/>
            <a:ext cx="5190966" cy="14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26B7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linear: linear fit · slope=143.3/1000 nt · R²=0.977</a:t>
            </a:r>
            <a:endParaRPr lang="en-US" sz="825" dirty="0"/>
          </a:p>
        </p:txBody>
      </p:sp>
      <p:sp>
        <p:nvSpPr>
          <p:cNvPr id="399" name="TextBox 416"/>
          <p:cNvSpPr/>
          <p:nvPr/>
        </p:nvSpPr>
        <p:spPr>
          <a:xfrm>
            <a:off x="6343498" y="5587366"/>
            <a:ext cx="5190966" cy="14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26B7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LTF: linear fit · slope=265.7/1000 nt · R²=0.988</a:t>
            </a:r>
            <a:endParaRPr lang="en-US" sz="825" dirty="0"/>
          </a:p>
        </p:txBody>
      </p:sp>
      <p:sp>
        <p:nvSpPr>
          <p:cNvPr id="400" name="TextBox 418"/>
          <p:cNvSpPr/>
          <p:nvPr/>
        </p:nvSpPr>
        <p:spPr>
          <a:xfrm>
            <a:off x="495306" y="5976463"/>
            <a:ext cx="11201083" cy="136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点数は各方式43点（Murlet 13、16S 25、23S 5）。nonlinearは3次、linearとLinearTurboFoldは1次の最小二乗フィット。長さ方向の傾きを方式間で比較するため、ファミリー別の色分けはしていない。</a:t>
            </a:r>
            <a:endParaRPr lang="en-US" sz="825" dirty="0"/>
          </a:p>
        </p:txBody>
      </p:sp>
      <p:sp>
        <p:nvSpPr>
          <p:cNvPr id="401" name="TextBox 420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Data: nonlinear = CONTRAlign + CONTRAfold, ρ=.075 · linear = LinearAlign（LinearTurboFold score）+ lpc, ρ=.3 · LTF baseline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12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PROJECT UPDATE / 2026-09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前回資料からの差分：線形化の先を評価できる段階へ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前回デッキ（9月初旬・基準commit 9360ad8）以降、プロフィールモデル、DD収束、条件探索を追加で検証した。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72566"/>
            <a:ext cx="3644741" cy="2114550"/>
          </a:xfrm>
          <a:prstGeom prst="roundRect">
            <a:avLst>
              <a:gd name="adj" fmla="val 6306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8" name="TextBox 15"/>
          <p:cNvSpPr/>
          <p:nvPr/>
        </p:nvSpPr>
        <p:spPr>
          <a:xfrm>
            <a:off x="676281" y="1653541"/>
            <a:ext cx="32827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PROFILE MODEL</a:t>
            </a:r>
            <a:endParaRPr lang="en-US" sz="825" dirty="0"/>
          </a:p>
        </p:txBody>
      </p:sp>
      <p:sp>
        <p:nvSpPr>
          <p:cNvPr id="9" name="TextBox 17"/>
          <p:cNvSpPr/>
          <p:nvPr/>
        </p:nvSpPr>
        <p:spPr>
          <a:xfrm>
            <a:off x="676281" y="1929766"/>
            <a:ext cx="32827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325" b="1" spc="-9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LinearAlifold</a:t>
            </a:r>
            <a:endParaRPr lang="en-US" sz="2325" dirty="0"/>
          </a:p>
        </p:txBody>
      </p:sp>
      <p:sp>
        <p:nvSpPr>
          <p:cNvPr id="10" name="TextBox 19"/>
          <p:cNvSpPr/>
          <p:nvPr/>
        </p:nvSpPr>
        <p:spPr>
          <a:xfrm>
            <a:off x="676281" y="2320291"/>
            <a:ext cx="3282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線形プロフィールPFを統合</a:t>
            </a:r>
            <a:endParaRPr lang="en-US" sz="1500" dirty="0"/>
          </a:p>
        </p:txBody>
      </p:sp>
      <p:sp>
        <p:nvSpPr>
          <p:cNvPr id="11" name="TextBox 21"/>
          <p:cNvSpPr/>
          <p:nvPr/>
        </p:nvSpPr>
        <p:spPr>
          <a:xfrm>
            <a:off x="676281" y="2634611"/>
            <a:ext cx="3282791" cy="580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Inside / outsideからプロフィールの分配関数とBPPを計算。RNAalifoldに近い熱力学モードと、progressive / final段階の切替を追加。</a:t>
            </a:r>
            <a:endParaRPr lang="en-US" sz="1050" dirty="0"/>
          </a:p>
        </p:txBody>
      </p:sp>
      <p:sp>
        <p:nvSpPr>
          <p:cNvPr id="12" name="Shape 24"/>
          <p:cNvSpPr/>
          <p:nvPr/>
        </p:nvSpPr>
        <p:spPr>
          <a:xfrm>
            <a:off x="4273397" y="1472566"/>
            <a:ext cx="3644741" cy="2114550"/>
          </a:xfrm>
          <a:prstGeom prst="roundRect">
            <a:avLst>
              <a:gd name="adj" fmla="val 6306"/>
            </a:avLst>
          </a:prstGeom>
          <a:solidFill>
            <a:srgbClr val="FFF7E3"/>
          </a:solidFill>
          <a:ln w="9525">
            <a:solidFill>
              <a:srgbClr val="EFDBAE"/>
            </a:solidFill>
            <a:prstDash val="solid"/>
          </a:ln>
        </p:spPr>
      </p:sp>
      <p:sp>
        <p:nvSpPr>
          <p:cNvPr id="13" name="TextBox 26"/>
          <p:cNvSpPr/>
          <p:nvPr/>
        </p:nvSpPr>
        <p:spPr>
          <a:xfrm>
            <a:off x="4454372" y="1653541"/>
            <a:ext cx="32827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 / CERTIFICATES</a:t>
            </a:r>
            <a:endParaRPr lang="en-US" sz="825" dirty="0"/>
          </a:p>
        </p:txBody>
      </p:sp>
      <p:sp>
        <p:nvSpPr>
          <p:cNvPr id="14" name="TextBox 28"/>
          <p:cNvSpPr/>
          <p:nvPr/>
        </p:nvSpPr>
        <p:spPr>
          <a:xfrm>
            <a:off x="4454372" y="1929766"/>
            <a:ext cx="32827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325" b="1" spc="-93" kern="0" dirty="0">
                <a:solidFill>
                  <a:srgbClr val="BD456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 cases</a:t>
            </a:r>
            <a:endParaRPr lang="en-US" sz="2325" dirty="0"/>
          </a:p>
        </p:txBody>
      </p:sp>
      <p:sp>
        <p:nvSpPr>
          <p:cNvPr id="15" name="TextBox 30"/>
          <p:cNvSpPr/>
          <p:nvPr/>
        </p:nvSpPr>
        <p:spPr>
          <a:xfrm>
            <a:off x="4454372" y="2320291"/>
            <a:ext cx="3282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収束と停止を切り分け</a:t>
            </a:r>
            <a:endParaRPr lang="en-US" sz="1500" dirty="0"/>
          </a:p>
        </p:txBody>
      </p:sp>
      <p:sp>
        <p:nvSpPr>
          <p:cNvPr id="16" name="TextBox 32"/>
          <p:cNvSpPr/>
          <p:nvPr/>
        </p:nvSpPr>
        <p:spPr>
          <a:xfrm>
            <a:off x="4454372" y="2634611"/>
            <a:ext cx="3282791" cy="580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上界、Polyak更新、実行可能解の回収を個別に評価。厳密な小規模診断と、反復予算・実行時間の比較を追加。</a:t>
            </a:r>
            <a:endParaRPr lang="en-US" sz="1050" dirty="0"/>
          </a:p>
        </p:txBody>
      </p:sp>
      <p:sp>
        <p:nvSpPr>
          <p:cNvPr id="17" name="Shape 35"/>
          <p:cNvSpPr/>
          <p:nvPr/>
        </p:nvSpPr>
        <p:spPr>
          <a:xfrm>
            <a:off x="8051489" y="1472566"/>
            <a:ext cx="3644741" cy="2114550"/>
          </a:xfrm>
          <a:prstGeom prst="roundRect">
            <a:avLst>
              <a:gd name="adj" fmla="val 6306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8" name="TextBox 37"/>
          <p:cNvSpPr/>
          <p:nvPr/>
        </p:nvSpPr>
        <p:spPr>
          <a:xfrm>
            <a:off x="8232464" y="1653541"/>
            <a:ext cx="32827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BENCHMARK SCALE</a:t>
            </a:r>
            <a:endParaRPr lang="en-US" sz="825" dirty="0"/>
          </a:p>
        </p:txBody>
      </p:sp>
      <p:sp>
        <p:nvSpPr>
          <p:cNvPr id="19" name="TextBox 39"/>
          <p:cNvSpPr/>
          <p:nvPr/>
        </p:nvSpPr>
        <p:spPr>
          <a:xfrm>
            <a:off x="8232464" y="1929766"/>
            <a:ext cx="328279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2325" b="1" spc="-9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27,200 runs</a:t>
            </a:r>
            <a:endParaRPr lang="en-US" sz="2325" dirty="0"/>
          </a:p>
        </p:txBody>
      </p:sp>
      <p:sp>
        <p:nvSpPr>
          <p:cNvPr id="20" name="TextBox 41"/>
          <p:cNvSpPr/>
          <p:nvPr/>
        </p:nvSpPr>
        <p:spPr>
          <a:xfrm>
            <a:off x="8232464" y="2320291"/>
            <a:ext cx="32827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13例の比較から全85例へ</a:t>
            </a:r>
            <a:endParaRPr lang="en-US" sz="1500" dirty="0"/>
          </a:p>
        </p:txBody>
      </p:sp>
      <p:sp>
        <p:nvSpPr>
          <p:cNvPr id="21" name="TextBox 43"/>
          <p:cNvSpPr/>
          <p:nvPr/>
        </p:nvSpPr>
        <p:spPr>
          <a:xfrm>
            <a:off x="8232464" y="2634611"/>
            <a:ext cx="3282791" cy="580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Murlet dataset1の320条件を85ケースで再評価。さらにLinearAlifoldの反復数スイープ3,400 runで、品質と時間の変化を測定。</a:t>
            </a:r>
            <a:endParaRPr lang="en-US" sz="1050" dirty="0"/>
          </a:p>
        </p:txBody>
      </p:sp>
      <p:sp>
        <p:nvSpPr>
          <p:cNvPr id="22" name="Shape 49"/>
          <p:cNvSpPr/>
          <p:nvPr/>
        </p:nvSpPr>
        <p:spPr>
          <a:xfrm>
            <a:off x="495306" y="3739511"/>
            <a:ext cx="6087269" cy="1106805"/>
          </a:xfrm>
          <a:prstGeom prst="roundRect">
            <a:avLst>
              <a:gd name="adj" fmla="val 10327"/>
            </a:avLst>
          </a:prstGeom>
          <a:solidFill>
            <a:srgbClr val="EDF8F7"/>
          </a:solidFill>
          <a:ln w="9525">
            <a:solidFill>
              <a:srgbClr val="CFE4E5"/>
            </a:solidFill>
            <a:prstDash val="solid"/>
          </a:ln>
        </p:spPr>
      </p:sp>
      <p:sp>
        <p:nvSpPr>
          <p:cNvPr id="23" name="TextBox 52"/>
          <p:cNvSpPr/>
          <p:nvPr/>
        </p:nvSpPr>
        <p:spPr>
          <a:xfrm>
            <a:off x="657231" y="4318639"/>
            <a:ext cx="573389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94C5B"/>
                </a:solidFill>
                <a:highlight>
                  <a:srgbClr val="EDF8F7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85ケースのMCC重視スイープで選び直した値。前回の.3とは評価対象と条件探索範囲が異なる。</a:t>
            </a:r>
            <a:endParaRPr lang="en-US" sz="1050" dirty="0"/>
          </a:p>
        </p:txBody>
      </p:sp>
      <p:sp>
        <p:nvSpPr>
          <p:cNvPr id="24" name="TextBox 50"/>
          <p:cNvSpPr/>
          <p:nvPr/>
        </p:nvSpPr>
        <p:spPr>
          <a:xfrm>
            <a:off x="657231" y="3882386"/>
            <a:ext cx="5763419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OPERATING POINT UPDATE</a:t>
            </a:r>
            <a:endParaRPr lang="en-US" sz="825" dirty="0"/>
          </a:p>
        </p:txBody>
      </p:sp>
      <p:sp>
        <p:nvSpPr>
          <p:cNvPr id="25" name="TextBox 51"/>
          <p:cNvSpPr/>
          <p:nvPr/>
        </p:nvSpPr>
        <p:spPr>
          <a:xfrm>
            <a:off x="657231" y="4076700"/>
            <a:ext cx="5763419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LinearAlign + LPC：RIBOSUM ρ = .3 → .5</a:t>
            </a:r>
            <a:endParaRPr lang="en-US" sz="1425" dirty="0"/>
          </a:p>
        </p:txBody>
      </p:sp>
      <p:sp>
        <p:nvSpPr>
          <p:cNvPr id="26" name="Shape 54"/>
          <p:cNvSpPr/>
          <p:nvPr/>
        </p:nvSpPr>
        <p:spPr>
          <a:xfrm>
            <a:off x="6715925" y="3739511"/>
            <a:ext cx="4980463" cy="1106805"/>
          </a:xfrm>
          <a:prstGeom prst="roundRect">
            <a:avLst>
              <a:gd name="adj" fmla="val 10327"/>
            </a:avLst>
          </a:prstGeom>
          <a:solidFill>
            <a:srgbClr val="EDF8F7"/>
          </a:solidFill>
          <a:ln w="9525">
            <a:solidFill>
              <a:srgbClr val="CFE4E5"/>
            </a:solidFill>
            <a:prstDash val="solid"/>
          </a:ln>
        </p:spPr>
      </p:sp>
      <p:sp>
        <p:nvSpPr>
          <p:cNvPr id="27" name="TextBox 57"/>
          <p:cNvSpPr/>
          <p:nvPr/>
        </p:nvSpPr>
        <p:spPr>
          <a:xfrm>
            <a:off x="6877850" y="4318639"/>
            <a:ext cx="45339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294C5B"/>
                </a:solidFill>
                <a:highlight>
                  <a:srgbClr val="EDF8F7"/>
                </a:highlight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新機能を足すだけでなく、改善した箇所と効果が出なかった箇所を実験で分けた。</a:t>
            </a:r>
            <a:endParaRPr lang="en-US" sz="1050" dirty="0"/>
          </a:p>
        </p:txBody>
      </p:sp>
      <p:sp>
        <p:nvSpPr>
          <p:cNvPr id="28" name="TextBox 55"/>
          <p:cNvSpPr/>
          <p:nvPr/>
        </p:nvSpPr>
        <p:spPr>
          <a:xfrm>
            <a:off x="6877850" y="3882386"/>
            <a:ext cx="4656614" cy="146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UPDATED TAKEAWAY</a:t>
            </a:r>
            <a:endParaRPr lang="en-US" sz="825" dirty="0"/>
          </a:p>
        </p:txBody>
      </p:sp>
      <p:sp>
        <p:nvSpPr>
          <p:cNvPr id="29" name="TextBox 56"/>
          <p:cNvSpPr/>
          <p:nvPr/>
        </p:nvSpPr>
        <p:spPr>
          <a:xfrm>
            <a:off x="6877850" y="4076700"/>
            <a:ext cx="4656614" cy="253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精度・収束・速度を別々に評価</a:t>
            </a:r>
            <a:endParaRPr lang="en-US" sz="1425" dirty="0"/>
          </a:p>
        </p:txBody>
      </p:sp>
      <p:sp>
        <p:nvSpPr>
          <p:cNvPr id="30" name="TextBox 60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 window: 2026-09-03 → 2026-09-21 · docs/handoff_2026-09-18_ja.md · docs/murlet_dataset1_condition_sweep_2026-09-18_ja.md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13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 / LINEAR PROFILE FOLDING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LinearAlifoldを統合し、効く段階を分けて測った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線形プロフィールfoldingの確率計算を整え、progressive alignmentとfinal structure predictionの影響を分離した。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43986"/>
            <a:ext cx="4533900" cy="3133725"/>
          </a:xfrm>
          <a:prstGeom prst="roundRect">
            <a:avLst>
              <a:gd name="adj" fmla="val 3951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8" name="TextBox 15"/>
          <p:cNvSpPr/>
          <p:nvPr/>
        </p:nvSpPr>
        <p:spPr>
          <a:xfrm>
            <a:off x="657231" y="1605911"/>
            <a:ext cx="42100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IMPLEMENTATION</a:t>
            </a:r>
            <a:endParaRPr lang="en-US" sz="825" dirty="0"/>
          </a:p>
        </p:txBody>
      </p:sp>
      <p:sp>
        <p:nvSpPr>
          <p:cNvPr id="9" name="TextBox 17"/>
          <p:cNvSpPr/>
          <p:nvPr/>
        </p:nvSpPr>
        <p:spPr>
          <a:xfrm>
            <a:off x="657231" y="1844036"/>
            <a:ext cx="421005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プロフィールの確率を</a:t>
            </a:r>
            <a:endParaRPr lang="en-US" sz="1425" dirty="0"/>
          </a:p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inside / outsideで計算</a:t>
            </a:r>
            <a:endParaRPr lang="en-US" sz="1425" dirty="0"/>
          </a:p>
        </p:txBody>
      </p:sp>
      <p:sp>
        <p:nvSpPr>
          <p:cNvPr id="10" name="TextBox 19"/>
          <p:cNvSpPr/>
          <p:nvPr/>
        </p:nvSpPr>
        <p:spPr>
          <a:xfrm>
            <a:off x="657231" y="2354582"/>
            <a:ext cx="4210050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ViennaRNA 2.7.2の熱力学関数を使う。PFとBPPはLinearFold beamで計算し、DAFSのRIBOSUMはprofile PFから分離する。</a:t>
            </a:r>
            <a:endParaRPr lang="en-US" sz="975" dirty="0"/>
          </a:p>
        </p:txBody>
      </p:sp>
      <p:sp>
        <p:nvSpPr>
          <p:cNvPr id="11" name="TextBox 22"/>
          <p:cNvSpPr/>
          <p:nvPr/>
        </p:nvSpPr>
        <p:spPr>
          <a:xfrm>
            <a:off x="657231" y="2825111"/>
            <a:ext cx="1924050" cy="571500"/>
          </a:xfrm>
          <a:prstGeom prst="roundRect">
            <a:avLst>
              <a:gd name="adj" fmla="val 16667"/>
            </a:avLst>
          </a:prstGeom>
          <a:solidFill>
            <a:srgbClr val="DEF4F3"/>
          </a:solidFill>
          <a:ln w="9525">
            <a:solidFill>
              <a:srgbClr val="B9E5E2"/>
            </a:solidFill>
            <a:prstDash val="solid"/>
          </a:ln>
        </p:spPr>
        <p:txBody>
          <a:bodyPr wrap="square" lIns="85725" tIns="104775" rIns="85725" bIns="104775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progressive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merge</a:t>
            </a:r>
            <a:endParaRPr lang="en-US" sz="900" dirty="0"/>
          </a:p>
        </p:txBody>
      </p:sp>
      <p:sp>
        <p:nvSpPr>
          <p:cNvPr id="12" name="TextBox 23"/>
          <p:cNvSpPr/>
          <p:nvPr/>
        </p:nvSpPr>
        <p:spPr>
          <a:xfrm>
            <a:off x="2647956" y="2967986"/>
            <a:ext cx="228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9AB1B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→</a:t>
            </a:r>
            <a:endParaRPr lang="en-US" sz="1500" dirty="0"/>
          </a:p>
        </p:txBody>
      </p:sp>
      <p:sp>
        <p:nvSpPr>
          <p:cNvPr id="13" name="TextBox 24"/>
          <p:cNvSpPr/>
          <p:nvPr/>
        </p:nvSpPr>
        <p:spPr>
          <a:xfrm>
            <a:off x="2943231" y="2825111"/>
            <a:ext cx="1924050" cy="571500"/>
          </a:xfrm>
          <a:prstGeom prst="roundRect">
            <a:avLst>
              <a:gd name="adj" fmla="val 16667"/>
            </a:avLst>
          </a:prstGeom>
          <a:solidFill>
            <a:srgbClr val="DEF4F3"/>
          </a:solidFill>
          <a:ln w="9525">
            <a:solidFill>
              <a:srgbClr val="B9E5E2"/>
            </a:solidFill>
            <a:prstDash val="solid"/>
          </a:ln>
        </p:spPr>
        <p:txBody>
          <a:bodyPr wrap="square" lIns="85725" tIns="104775" rIns="85725" bIns="104775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final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structure</a:t>
            </a:r>
            <a:endParaRPr lang="en-US" sz="900" dirty="0"/>
          </a:p>
        </p:txBody>
      </p:sp>
      <p:sp>
        <p:nvSpPr>
          <p:cNvPr id="14" name="TextBox 26"/>
          <p:cNvSpPr/>
          <p:nvPr/>
        </p:nvSpPr>
        <p:spPr>
          <a:xfrm>
            <a:off x="657231" y="3472811"/>
            <a:ext cx="421005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検証：</a:t>
            </a: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130個の単一配列profileでlogZ/BPPをViennaRNAと照合。CTest 17/17成功。multi-sequence profile全体がRNAalifoldと同一になる主張ではない。</a:t>
            </a:r>
            <a:endParaRPr lang="en-US" sz="975" dirty="0"/>
          </a:p>
        </p:txBody>
      </p:sp>
      <p:sp>
        <p:nvSpPr>
          <p:cNvPr id="15" name="TextBox 28"/>
          <p:cNvSpPr/>
          <p:nvPr/>
        </p:nvSpPr>
        <p:spPr>
          <a:xfrm>
            <a:off x="657231" y="4069082"/>
            <a:ext cx="4210050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切替：</a:t>
            </a:r>
            <a:r>
              <a:rPr lang="en-US" sz="975" dirty="0">
                <a:solidFill>
                  <a:srgbClr val="506879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--alifold-stages</a:t>
            </a: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で段階を選び、</a:t>
            </a:r>
            <a:r>
              <a:rPr lang="en-US" sz="975" dirty="0">
                <a:solidFill>
                  <a:srgbClr val="506879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--linear-profile-energy</a:t>
            </a: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で熱力学モードを比較可能。</a:t>
            </a:r>
            <a:endParaRPr lang="en-US" sz="975" dirty="0"/>
          </a:p>
        </p:txBody>
      </p:sp>
      <p:sp>
        <p:nvSpPr>
          <p:cNvPr id="16" name="Shape 31"/>
          <p:cNvSpPr/>
          <p:nvPr/>
        </p:nvSpPr>
        <p:spPr>
          <a:xfrm>
            <a:off x="5172081" y="1443986"/>
            <a:ext cx="6524308" cy="3133725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7" name="TextBox 33"/>
          <p:cNvSpPr/>
          <p:nvPr/>
        </p:nvSpPr>
        <p:spPr>
          <a:xfrm>
            <a:off x="5334006" y="1605911"/>
            <a:ext cx="620045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STAGE ABLATION / LPC × LINEARALIGN / 85 CASES</a:t>
            </a:r>
            <a:endParaRPr lang="en-US" sz="825" dirty="0"/>
          </a:p>
        </p:txBody>
      </p:sp>
      <p:sp>
        <p:nvSpPr>
          <p:cNvPr id="18" name="Shape 35"/>
          <p:cNvSpPr/>
          <p:nvPr/>
        </p:nvSpPr>
        <p:spPr>
          <a:xfrm>
            <a:off x="5334006" y="1863086"/>
            <a:ext cx="6200458" cy="1914525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14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4006" y="1863086"/>
          <a:ext cx="6200458" cy="914400"/>
        </p:xfrm>
        <a:graphic>
          <a:graphicData uri="http://schemas.openxmlformats.org/drawingml/2006/table">
            <a:tbl>
              <a:tblPr/>
              <a:tblGrid>
                <a:gridCol w="1964373"/>
                <a:gridCol w="1070769"/>
                <a:gridCol w="1070928"/>
                <a:gridCol w="1070769"/>
                <a:gridCol w="10140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有効段階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MCC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SPS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秒/例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なし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.6881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.6721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.7569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2.18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progressive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.6909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.6966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.7456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4.42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final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.6867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.6721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.7569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2.38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両方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.6913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.6966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.7456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4.57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</a:tr>
            </a:tbl>
          </a:graphicData>
        </a:graphic>
      </p:graphicFrame>
      <p:sp>
        <p:nvSpPr>
          <p:cNvPr id="20" name="TextBox 37"/>
          <p:cNvSpPr/>
          <p:nvPr/>
        </p:nvSpPr>
        <p:spPr>
          <a:xfrm>
            <a:off x="5334006" y="3863336"/>
            <a:ext cx="6200458" cy="28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max-iter=100。progressiveはSCIを上げる一方、SPSを下げ、約2.2秒/例を追加。final単独ではアラインメント指標は変わらず、MCCへの効果も小さく、組合せ依存。</a:t>
            </a:r>
            <a:endParaRPr lang="en-US" sz="825" dirty="0"/>
          </a:p>
        </p:txBody>
      </p:sp>
      <p:pic>
        <p:nvPicPr>
          <p:cNvPr id="21" name="Picture 4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720586"/>
            <a:ext cx="11201083" cy="401955"/>
          </a:xfrm>
          <a:prstGeom prst="rect">
            <a:avLst/>
          </a:prstGeom>
        </p:spPr>
      </p:pic>
      <p:sp>
        <p:nvSpPr>
          <p:cNvPr id="22" name="TextBox 41"/>
          <p:cNvSpPr/>
          <p:nvPr/>
        </p:nvSpPr>
        <p:spPr>
          <a:xfrm>
            <a:off x="495306" y="4720586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今回の結論：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LinearAlifoldの追加を一律の精度改善とは扱わない。適用段階で構造精度・alignment保全・計算時間のトレードオフが変わる。</a:t>
            </a:r>
            <a:endParaRPr lang="en-US" sz="975" dirty="0"/>
          </a:p>
        </p:txBody>
      </p:sp>
      <p:sp>
        <p:nvSpPr>
          <p:cNvPr id="23" name="TextBox 43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docs/dafs_linearalifold_2026-09-19_ja.md · docs/dafs_alifold_stage_ablation_2026-09-20_ja.md · docs/dafs_profile_energy_rnaalifold_comparison_2026-09-21_ja.md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14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 / MURLET FULL DATASET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85ケースで条件を再探索し、反復数の効果も測った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小規模なMurlet比較から全dataset1へ広げ、RIBOSUM重みとDD予算を同じ参照指標で評価した。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43986"/>
            <a:ext cx="4312761" cy="2615565"/>
          </a:xfrm>
          <a:prstGeom prst="roundRect">
            <a:avLst>
              <a:gd name="adj" fmla="val 4734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8" name="TextBox 15"/>
          <p:cNvSpPr/>
          <p:nvPr/>
        </p:nvSpPr>
        <p:spPr>
          <a:xfrm>
            <a:off x="657231" y="1605911"/>
            <a:ext cx="398891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WEIGHT RE-SELECTION</a:t>
            </a:r>
            <a:endParaRPr lang="en-US" sz="825" dirty="0"/>
          </a:p>
        </p:txBody>
      </p:sp>
      <p:sp>
        <p:nvSpPr>
          <p:cNvPr id="9" name="TextBox 17"/>
          <p:cNvSpPr/>
          <p:nvPr/>
        </p:nvSpPr>
        <p:spPr>
          <a:xfrm>
            <a:off x="657231" y="1882136"/>
            <a:ext cx="398891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spc="-114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ρ = .5</a:t>
            </a:r>
            <a:endParaRPr lang="en-US" sz="2850" dirty="0"/>
          </a:p>
        </p:txBody>
      </p:sp>
      <p:sp>
        <p:nvSpPr>
          <p:cNvPr id="10" name="TextBox 19"/>
          <p:cNvSpPr/>
          <p:nvPr/>
        </p:nvSpPr>
        <p:spPr>
          <a:xfrm>
            <a:off x="657231" y="2320286"/>
            <a:ext cx="3988911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LinearAlign + LPC</a:t>
            </a:r>
            <a:endParaRPr lang="en-US" sz="1425" dirty="0"/>
          </a:p>
        </p:txBody>
      </p:sp>
      <p:sp>
        <p:nvSpPr>
          <p:cNvPr id="11" name="TextBox 21"/>
          <p:cNvSpPr/>
          <p:nvPr/>
        </p:nvSpPr>
        <p:spPr>
          <a:xfrm>
            <a:off x="657231" y="2613664"/>
            <a:ext cx="398891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85ケース、320条件、27,200 runの探索で、MCC最良はRIBOSUM .5、final weight .01、align-th .02。</a:t>
            </a:r>
            <a:endParaRPr lang="en-US" sz="975" dirty="0"/>
          </a:p>
        </p:txBody>
      </p:sp>
      <p:sp>
        <p:nvSpPr>
          <p:cNvPr id="12" name="TextBox 23"/>
          <p:cNvSpPr/>
          <p:nvPr/>
        </p:nvSpPr>
        <p:spPr>
          <a:xfrm>
            <a:off x="657231" y="3074668"/>
            <a:ext cx="3988911" cy="400050"/>
          </a:xfrm>
          <a:prstGeom prst="roundRect">
            <a:avLst>
              <a:gd name="adj" fmla="val 23810"/>
            </a:avLst>
          </a:prstGeom>
          <a:solidFill>
            <a:srgbClr val="DEF4F3"/>
          </a:solidFill>
          <a:ln w="9525">
            <a:solidFill>
              <a:srgbClr val="B9E5E2"/>
            </a:solidFill>
            <a:prstDash val="solid"/>
          </a:ln>
        </p:spPr>
        <p:txBody>
          <a:bodyPr wrap="square" lIns="85725" tIns="104775" rIns="85725" bIns="104775" rtlCol="0" anchor="t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MCC .6851　·　SCI .6638　·　SPS .7572</a:t>
            </a:r>
            <a:endParaRPr lang="en-US" sz="900" dirty="0"/>
          </a:p>
        </p:txBody>
      </p:sp>
      <p:sp>
        <p:nvSpPr>
          <p:cNvPr id="13" name="TextBox 25"/>
          <p:cNvSpPr/>
          <p:nvPr/>
        </p:nvSpPr>
        <p:spPr>
          <a:xfrm>
            <a:off x="657231" y="3550918"/>
            <a:ext cx="3988911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前回のρ=.3は13例の比較で使った条件。今回の値は拡張データ上で選び直した値で、独立held-out testの結果ではない。</a:t>
            </a:r>
            <a:endParaRPr lang="en-US" sz="975" dirty="0"/>
          </a:p>
        </p:txBody>
      </p:sp>
      <p:sp>
        <p:nvSpPr>
          <p:cNvPr id="14" name="Shape 28"/>
          <p:cNvSpPr/>
          <p:nvPr/>
        </p:nvSpPr>
        <p:spPr>
          <a:xfrm>
            <a:off x="4950943" y="1443986"/>
            <a:ext cx="6745446" cy="2615565"/>
          </a:xfrm>
          <a:prstGeom prst="roundRect">
            <a:avLst>
              <a:gd name="adj" fmla="val 4734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5" name="TextBox 30"/>
          <p:cNvSpPr/>
          <p:nvPr/>
        </p:nvSpPr>
        <p:spPr>
          <a:xfrm>
            <a:off x="5112868" y="1605911"/>
            <a:ext cx="642159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LINEARALIFOLD MODE / LPC × LINEARALIGN / 85 CASES</a:t>
            </a:r>
            <a:endParaRPr lang="en-US" sz="825" dirty="0"/>
          </a:p>
        </p:txBody>
      </p:sp>
      <p:sp>
        <p:nvSpPr>
          <p:cNvPr id="16" name="Shape 32"/>
          <p:cNvSpPr/>
          <p:nvPr/>
        </p:nvSpPr>
        <p:spPr>
          <a:xfrm>
            <a:off x="5112868" y="1863086"/>
            <a:ext cx="6421596" cy="1528763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15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12868" y="1863086"/>
          <a:ext cx="6421596" cy="914400"/>
        </p:xfrm>
        <a:graphic>
          <a:graphicData uri="http://schemas.openxmlformats.org/drawingml/2006/table">
            <a:tbl>
              <a:tblPr/>
              <a:tblGrid>
                <a:gridCol w="1779270"/>
                <a:gridCol w="1155541"/>
                <a:gridCol w="1155541"/>
                <a:gridCol w="1155541"/>
                <a:gridCol w="1166178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MAX-ITER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MCC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SPS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125"/>
                        </a:lnSpc>
                        <a:buNone/>
                      </a:pPr>
                      <a:r>
                        <a:rPr lang="en-US" sz="900" b="1" spc="72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秒/例</a:t>
                      </a:r>
                      <a:endParaRPr lang="en-US" sz="90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100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.6884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.6990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.7449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5.79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500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.6907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.7578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.7431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8.26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1000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.6942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.7764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.7440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313"/>
                        </a:lnSpc>
                        <a:buNone/>
                      </a:pPr>
                      <a:r>
                        <a:rPr lang="en-US" sz="1050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11.36</a:t>
                      </a:r>
                      <a:endParaRPr lang="en-US" sz="1050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104775" marR="104775" marT="114300" marB="1143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8F7F5"/>
                    </a:solidFill>
                  </a:tcPr>
                </a:tc>
              </a:tr>
            </a:tbl>
          </a:graphicData>
        </a:graphic>
      </p:graphicFrame>
      <p:sp>
        <p:nvSpPr>
          <p:cNvPr id="18" name="TextBox 34"/>
          <p:cNvSpPr/>
          <p:nvPr/>
        </p:nvSpPr>
        <p:spPr>
          <a:xfrm>
            <a:off x="5112868" y="3477574"/>
            <a:ext cx="6421596" cy="282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beam幅100、LinearAlifold + RNAalifold互換profile energyを固定。100→1000反復でSCI/MCCは上昇したが、wall timeも5.79→11.36秒/例へ増加。</a:t>
            </a:r>
            <a:endParaRPr lang="en-US" sz="825" dirty="0"/>
          </a:p>
        </p:txBody>
      </p:sp>
      <p:pic>
        <p:nvPicPr>
          <p:cNvPr id="19" name="Picture 38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202432"/>
            <a:ext cx="11201083" cy="401955"/>
          </a:xfrm>
          <a:prstGeom prst="rect">
            <a:avLst/>
          </a:prstGeom>
        </p:spPr>
      </p:pic>
      <p:sp>
        <p:nvSpPr>
          <p:cNvPr id="20" name="TextBox 38"/>
          <p:cNvSpPr/>
          <p:nvPr/>
        </p:nvSpPr>
        <p:spPr>
          <a:xfrm>
            <a:off x="495306" y="4202432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読み方：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最良条件はデータ範囲、指標の優先順位、folding/alignmentの組合せ、DD反復数に依存する。ここではMurlet dataset1上の探索結果として示す。</a:t>
            </a:r>
            <a:endParaRPr lang="en-US" sz="975" dirty="0"/>
          </a:p>
        </p:txBody>
      </p:sp>
      <p:sp>
        <p:nvSpPr>
          <p:cNvPr id="21" name="TextBox 40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docs/murlet_dataset1_condition_sweep_2026-09-18_ja.md · docs/dafs_linearalifold_profile_max_iter_sweep_2026-09-21_ja.md · all 27,200 + 3,400 runs valid</a:t>
            </a:r>
            <a:endParaRPr lang="en-US" sz="6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15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UPDATE / DD &amp; RUNTIME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DDの改善は小幅、デコーダー最適化は出力を保って短縮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収束を速める案を複数比較した結果、certificate tighteningの停止効果と、kernel-levelの実行時間短縮を区別できた。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43986"/>
            <a:ext cx="3657441" cy="2136775"/>
          </a:xfrm>
          <a:prstGeom prst="roundRect">
            <a:avLst>
              <a:gd name="adj" fmla="val 5795"/>
            </a:avLst>
          </a:prstGeom>
          <a:solidFill>
            <a:srgbClr val="EAF6F5"/>
          </a:solidFill>
          <a:ln w="9525">
            <a:solidFill>
              <a:srgbClr val="CBE9E7"/>
            </a:solidFill>
            <a:prstDash val="solid"/>
          </a:ln>
        </p:spPr>
      </p:sp>
      <p:sp>
        <p:nvSpPr>
          <p:cNvPr id="8" name="TextBox 15"/>
          <p:cNvSpPr/>
          <p:nvPr/>
        </p:nvSpPr>
        <p:spPr>
          <a:xfrm>
            <a:off x="657231" y="1605911"/>
            <a:ext cx="3333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CERTIFIED STOP</a:t>
            </a:r>
            <a:endParaRPr lang="en-US" sz="825" dirty="0"/>
          </a:p>
        </p:txBody>
      </p:sp>
      <p:sp>
        <p:nvSpPr>
          <p:cNvPr id="9" name="TextBox 17"/>
          <p:cNvSpPr/>
          <p:nvPr/>
        </p:nvSpPr>
        <p:spPr>
          <a:xfrm>
            <a:off x="657231" y="1853561"/>
            <a:ext cx="3333591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上界を締めると反復を節約</a:t>
            </a:r>
            <a:endParaRPr lang="en-US" sz="1425" dirty="0"/>
          </a:p>
        </p:txBody>
      </p:sp>
      <p:sp>
        <p:nvSpPr>
          <p:cNvPr id="10" name="TextBox 19"/>
          <p:cNvSpPr/>
          <p:nvPr/>
        </p:nvSpPr>
        <p:spPr>
          <a:xfrm>
            <a:off x="657231" y="2185039"/>
            <a:ext cx="33335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87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1.7–6.0%</a:t>
            </a:r>
            <a:endParaRPr lang="en-US" sz="2175" dirty="0"/>
          </a:p>
        </p:txBody>
      </p:sp>
      <p:sp>
        <p:nvSpPr>
          <p:cNvPr id="11" name="TextBox 21"/>
          <p:cNvSpPr/>
          <p:nvPr/>
        </p:nvSpPr>
        <p:spPr>
          <a:xfrm>
            <a:off x="657231" y="2556514"/>
            <a:ext cx="3333591" cy="351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max-iter=500で平均DD反復を削減。gapは約0.66–1.30%へ縮小。</a:t>
            </a:r>
            <a:endParaRPr lang="en-US" sz="975" dirty="0"/>
          </a:p>
        </p:txBody>
      </p:sp>
      <p:pic>
        <p:nvPicPr>
          <p:cNvPr id="12" name="Picture 23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231" y="3003547"/>
            <a:ext cx="3333591" cy="415290"/>
          </a:xfrm>
          <a:prstGeom prst="rect">
            <a:avLst/>
          </a:prstGeom>
        </p:spPr>
      </p:pic>
      <p:sp>
        <p:nvSpPr>
          <p:cNvPr id="13" name="TextBox 23"/>
          <p:cNvSpPr/>
          <p:nvPr/>
        </p:nvSpPr>
        <p:spPr>
          <a:xfrm>
            <a:off x="657231" y="3003547"/>
            <a:ext cx="3333591" cy="415290"/>
          </a:xfrm>
          <a:prstGeom prst="rect">
            <a:avLst/>
          </a:prstGeom>
          <a:noFill/>
          <a:ln/>
        </p:spPr>
        <p:txBody>
          <a:bodyPr wrap="square" lIns="0" tIns="85725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85例×4条件、1,020予測が対照とバイト一致。大幅な全体高速化ではなく、証明できて停止するmergeが増えた。</a:t>
            </a:r>
            <a:endParaRPr lang="en-US" sz="900" dirty="0"/>
          </a:p>
        </p:txBody>
      </p:sp>
      <p:sp>
        <p:nvSpPr>
          <p:cNvPr id="14" name="Shape 26"/>
          <p:cNvSpPr/>
          <p:nvPr/>
        </p:nvSpPr>
        <p:spPr>
          <a:xfrm>
            <a:off x="4267048" y="1443986"/>
            <a:ext cx="3657441" cy="2136775"/>
          </a:xfrm>
          <a:prstGeom prst="roundRect">
            <a:avLst>
              <a:gd name="adj" fmla="val 5795"/>
            </a:avLst>
          </a:prstGeom>
          <a:solidFill>
            <a:srgbClr val="FFF7E3"/>
          </a:solidFill>
          <a:ln w="9525">
            <a:solidFill>
              <a:srgbClr val="EFDBAE"/>
            </a:solidFill>
            <a:prstDash val="solid"/>
          </a:ln>
        </p:spPr>
      </p:sp>
      <p:sp>
        <p:nvSpPr>
          <p:cNvPr id="15" name="TextBox 28"/>
          <p:cNvSpPr/>
          <p:nvPr/>
        </p:nvSpPr>
        <p:spPr>
          <a:xfrm>
            <a:off x="4428973" y="1605911"/>
            <a:ext cx="3333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DD SEARCH</a:t>
            </a:r>
            <a:endParaRPr lang="en-US" sz="825" dirty="0"/>
          </a:p>
        </p:txBody>
      </p:sp>
      <p:sp>
        <p:nvSpPr>
          <p:cNvPr id="16" name="TextBox 30"/>
          <p:cNvSpPr/>
          <p:nvPr/>
        </p:nvSpPr>
        <p:spPr>
          <a:xfrm>
            <a:off x="4428973" y="1853561"/>
            <a:ext cx="3333591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反復短縮の一般解は未達</a:t>
            </a:r>
            <a:endParaRPr lang="en-US" sz="1425" dirty="0"/>
          </a:p>
        </p:txBody>
      </p:sp>
      <p:sp>
        <p:nvSpPr>
          <p:cNvPr id="17" name="TextBox 32"/>
          <p:cNvSpPr/>
          <p:nvPr/>
        </p:nvSpPr>
        <p:spPr>
          <a:xfrm>
            <a:off x="4428973" y="2185039"/>
            <a:ext cx="33335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87" kern="0" dirty="0">
                <a:solidFill>
                  <a:srgbClr val="A172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 ≠ 500</a:t>
            </a:r>
            <a:endParaRPr lang="en-US" sz="2175" dirty="0"/>
          </a:p>
        </p:txBody>
      </p:sp>
      <p:sp>
        <p:nvSpPr>
          <p:cNvPr id="18" name="TextBox 34"/>
          <p:cNvSpPr/>
          <p:nvPr/>
        </p:nvSpPr>
        <p:spPr>
          <a:xfrm>
            <a:off x="4428973" y="2556514"/>
            <a:ext cx="3333591" cy="351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全85例で100反復は500反復と同等でない（ΔMCC −.0052、ΔSCI −.0562）。</a:t>
            </a:r>
            <a:endParaRPr lang="en-US" sz="975" dirty="0"/>
          </a:p>
        </p:txBody>
      </p:sp>
      <p:pic>
        <p:nvPicPr>
          <p:cNvPr id="19" name="Picture 36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8973" y="3003547"/>
            <a:ext cx="3333591" cy="415290"/>
          </a:xfrm>
          <a:prstGeom prst="rect">
            <a:avLst/>
          </a:prstGeom>
        </p:spPr>
      </p:pic>
      <p:sp>
        <p:nvSpPr>
          <p:cNvPr id="20" name="TextBox 36"/>
          <p:cNvSpPr/>
          <p:nvPr/>
        </p:nvSpPr>
        <p:spPr>
          <a:xfrm>
            <a:off x="4428973" y="3003547"/>
            <a:ext cx="3333591" cy="415290"/>
          </a:xfrm>
          <a:prstGeom prst="rect">
            <a:avLst/>
          </a:prstGeom>
          <a:noFill/>
          <a:ln/>
        </p:spPr>
        <p:txBody>
          <a:bodyPr wrap="square" lIns="0" tIns="85725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projected-normとcolumn-boundは全体加速を示さず、実験用・既定OFF。回収頻度の変更も一律の改善には至らなかった。</a:t>
            </a:r>
            <a:endParaRPr lang="en-US" sz="900" dirty="0"/>
          </a:p>
        </p:txBody>
      </p:sp>
      <p:sp>
        <p:nvSpPr>
          <p:cNvPr id="21" name="Shape 39"/>
          <p:cNvSpPr/>
          <p:nvPr/>
        </p:nvSpPr>
        <p:spPr>
          <a:xfrm>
            <a:off x="8038789" y="1443986"/>
            <a:ext cx="3657441" cy="2136775"/>
          </a:xfrm>
          <a:prstGeom prst="roundRect">
            <a:avLst>
              <a:gd name="adj" fmla="val 5795"/>
            </a:avLst>
          </a:prstGeom>
          <a:solidFill>
            <a:srgbClr val="F0EEFB"/>
          </a:solidFill>
          <a:ln w="9525">
            <a:solidFill>
              <a:srgbClr val="D8D0F1"/>
            </a:solidFill>
            <a:prstDash val="solid"/>
          </a:ln>
        </p:spPr>
      </p:sp>
      <p:sp>
        <p:nvSpPr>
          <p:cNvPr id="22" name="TextBox 41"/>
          <p:cNvSpPr/>
          <p:nvPr/>
        </p:nvSpPr>
        <p:spPr>
          <a:xfrm>
            <a:off x="8200714" y="1605911"/>
            <a:ext cx="333359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b="1" spc="116" kern="0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DECODER KERNEL</a:t>
            </a:r>
            <a:endParaRPr lang="en-US" sz="825" dirty="0"/>
          </a:p>
        </p:txBody>
      </p:sp>
      <p:sp>
        <p:nvSpPr>
          <p:cNvPr id="23" name="TextBox 43"/>
          <p:cNvSpPr/>
          <p:nvPr/>
        </p:nvSpPr>
        <p:spPr>
          <a:xfrm>
            <a:off x="8200714" y="1853561"/>
            <a:ext cx="3333591" cy="21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LinearFoldの計算を再利用</a:t>
            </a:r>
            <a:endParaRPr lang="en-US" sz="1425" dirty="0"/>
          </a:p>
        </p:txBody>
      </p:sp>
      <p:sp>
        <p:nvSpPr>
          <p:cNvPr id="24" name="TextBox 45"/>
          <p:cNvSpPr/>
          <p:nvPr/>
        </p:nvSpPr>
        <p:spPr>
          <a:xfrm>
            <a:off x="8200714" y="2185039"/>
            <a:ext cx="333359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2175" b="1" spc="-87" kern="0" dirty="0">
                <a:solidFill>
                  <a:srgbClr val="6956A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−6.52%</a:t>
            </a:r>
            <a:endParaRPr lang="en-US" sz="2175" dirty="0"/>
          </a:p>
        </p:txBody>
      </p:sp>
      <p:sp>
        <p:nvSpPr>
          <p:cNvPr id="25" name="TextBox 47"/>
          <p:cNvSpPr/>
          <p:nvPr/>
        </p:nvSpPr>
        <p:spPr>
          <a:xfrm>
            <a:off x="8200714" y="2556514"/>
            <a:ext cx="3333591" cy="17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85"/>
              </a:lnSpc>
              <a:buNone/>
            </a:pPr>
            <a:r>
              <a:rPr lang="en-US" sz="975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平均wall 2.434 → 2.276秒/例（Murlet 85例×4条件）。</a:t>
            </a:r>
            <a:endParaRPr lang="en-US" sz="975" dirty="0"/>
          </a:p>
        </p:txBody>
      </p:sp>
      <p:pic>
        <p:nvPicPr>
          <p:cNvPr id="26" name="Picture 49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0714" y="2827651"/>
            <a:ext cx="3333591" cy="415290"/>
          </a:xfrm>
          <a:prstGeom prst="rect">
            <a:avLst/>
          </a:prstGeom>
        </p:spPr>
      </p:pic>
      <p:sp>
        <p:nvSpPr>
          <p:cNvPr id="27" name="TextBox 49"/>
          <p:cNvSpPr/>
          <p:nvPr/>
        </p:nvSpPr>
        <p:spPr>
          <a:xfrm>
            <a:off x="8200714" y="2827651"/>
            <a:ext cx="3333591" cy="415290"/>
          </a:xfrm>
          <a:prstGeom prst="rect">
            <a:avLst/>
          </a:prstGeom>
          <a:noFill/>
          <a:ln/>
        </p:spPr>
        <p:txBody>
          <a:bodyPr wrap="square" lIns="0" tIns="85725" rIns="0" bIns="0" rtlCol="0" anchor="t">
            <a:spAutoFit/>
          </a:bodyPr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26B7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340 runで予測・品質指標・非時間traceが完全一致。BPP/logZの直接probeもbitwise一致。</a:t>
            </a:r>
            <a:endParaRPr lang="en-US" sz="900" dirty="0"/>
          </a:p>
        </p:txBody>
      </p:sp>
      <p:pic>
        <p:nvPicPr>
          <p:cNvPr id="28" name="Picture 53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5306" y="3723642"/>
            <a:ext cx="11201083" cy="401955"/>
          </a:xfrm>
          <a:prstGeom prst="rect">
            <a:avLst/>
          </a:prstGeom>
        </p:spPr>
      </p:pic>
      <p:sp>
        <p:nvSpPr>
          <p:cNvPr id="29" name="TextBox 53"/>
          <p:cNvSpPr/>
          <p:nvPr/>
        </p:nvSpPr>
        <p:spPr>
          <a:xfrm>
            <a:off x="495306" y="3723642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現在のまとめ：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証明を保った一部のDD停止短縮と、予測を変えない約6.5%のデコーダー高速化を確認。一方、DD反復数を大きく減らす一般策は今後の課題。</a:t>
            </a:r>
            <a:endParaRPr lang="en-US" sz="975" dirty="0"/>
          </a:p>
        </p:txBody>
      </p:sp>
      <p:sp>
        <p:nvSpPr>
          <p:cNvPr id="30" name="TextBox 55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docs/dafs_dd_certificates_2026-09-20_ja.md · docs/dafs_dd_budget_2026-09-19_ja.md · docs/dafs_dd_acceleration_2026-09-19_ja.md · docs/dafs_linfold_optimization_round4_2026-09-19_ja.md</a:t>
            </a:r>
            <a:endParaRPr lang="en-US" sz="6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16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FULL CONDITION SWEEP · NONLINEAR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非線形fold × align：Alifold有無ごとの最良条件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85ケースで条件を探索。スコアはMCC → SCI → SPSの辞書式順で選択。</a:t>
            </a:r>
            <a:endParaRPr lang="en-US" sz="1275" dirty="0"/>
          </a:p>
        </p:txBody>
      </p:sp>
      <p:sp>
        <p:nvSpPr>
          <p:cNvPr id="7" name="Shape 11"/>
          <p:cNvSpPr/>
          <p:nvPr/>
        </p:nvSpPr>
        <p:spPr>
          <a:xfrm>
            <a:off x="495306" y="1424936"/>
            <a:ext cx="11201083" cy="1682274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17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6" y="1424936"/>
          <a:ext cx="11201083" cy="914400"/>
        </p:xfrm>
        <a:graphic>
          <a:graphicData uri="http://schemas.openxmlformats.org/drawingml/2006/table">
            <a:tbl>
              <a:tblPr/>
              <a:tblGrid>
                <a:gridCol w="2798921"/>
                <a:gridCol w="2193290"/>
                <a:gridCol w="1996281"/>
                <a:gridCol w="1366361"/>
                <a:gridCol w="746919"/>
                <a:gridCol w="711676"/>
                <a:gridCol w="711676"/>
                <a:gridCol w="666433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FOLD × ALIGN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CONSENSUS FOLDING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BEST CONDITION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DD / FINAL Ρ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MCC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SPS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秒/例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CONTRAfold × CONTRAlign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RNAalifold on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E8F7F5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cc_alifold_fth03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.10 / 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.6997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.6916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.7707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1.73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CONTRAfold × CONTRAlign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off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FFFFFF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cc_noalifold_w2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.10 / 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.6877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.6897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.7726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.97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ViennaRNA × ProbCons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RNAalifold on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E8F7F5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vp_alifold_w2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.02 / 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.6820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.6762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.7654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1.61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ViennaRNA × ProbCons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off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FFFFFF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vp_noalifold_dd_0p15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.15 / 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.6431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.6835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.7633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.84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15"/>
          <p:cNvSpPr/>
          <p:nvPr/>
        </p:nvSpPr>
        <p:spPr>
          <a:xfrm>
            <a:off x="495306" y="3259615"/>
            <a:ext cx="5543391" cy="594360"/>
          </a:xfrm>
          <a:prstGeom prst="roundRect">
            <a:avLst>
              <a:gd name="adj" fmla="val 19231"/>
            </a:avLst>
          </a:prstGeom>
          <a:solidFill>
            <a:srgbClr val="EDF8F7"/>
          </a:solidFill>
          <a:ln w="9525">
            <a:solidFill>
              <a:srgbClr val="CFE4E5"/>
            </a:solidFill>
            <a:prstDash val="solid"/>
          </a:ln>
        </p:spPr>
        <p:txBody>
          <a:bodyPr wrap="square" lIns="133350" tIns="114300" rIns="133350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CONTRAfold × CONTRAlign: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Alifoldありのbest MCCは.6997。off条件より+0.0120。</a:t>
            </a:r>
            <a:endParaRPr lang="en-US" sz="975" dirty="0"/>
          </a:p>
        </p:txBody>
      </p:sp>
      <p:sp>
        <p:nvSpPr>
          <p:cNvPr id="10" name="TextBox 17"/>
          <p:cNvSpPr/>
          <p:nvPr/>
        </p:nvSpPr>
        <p:spPr>
          <a:xfrm>
            <a:off x="6152998" y="3259615"/>
            <a:ext cx="5543391" cy="594360"/>
          </a:xfrm>
          <a:prstGeom prst="roundRect">
            <a:avLst>
              <a:gd name="adj" fmla="val 19231"/>
            </a:avLst>
          </a:prstGeom>
          <a:solidFill>
            <a:srgbClr val="EDF8F7"/>
          </a:solidFill>
          <a:ln w="9525">
            <a:solidFill>
              <a:srgbClr val="CFE4E5"/>
            </a:solidFill>
            <a:prstDash val="solid"/>
          </a:ln>
        </p:spPr>
        <p:txBody>
          <a:bodyPr wrap="square" lIns="133350" tIns="114300" rIns="133350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ViennaRNA × ProbCons: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AlifoldありでMCC +0.0389。SCIはoffの方が高く、目的指標の選択が重要。</a:t>
            </a:r>
            <a:endParaRPr lang="en-US" sz="975" dirty="0"/>
          </a:p>
        </p:txBody>
      </p:sp>
      <p:sp>
        <p:nvSpPr>
          <p:cNvPr id="11" name="TextBox 20"/>
          <p:cNvSpPr/>
          <p:nvPr/>
        </p:nvSpPr>
        <p:spPr>
          <a:xfrm>
            <a:off x="495306" y="3949219"/>
            <a:ext cx="11201083" cy="14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ρはDD反復／final段階のRIBOSUM weight。選択条件内にはfold-thやweightなども含む。Alifold on/offは各々の探索最良条件どうしの比較で、単一要因だけの因果効果ではない。</a:t>
            </a:r>
            <a:endParaRPr lang="en-US" sz="825" dirty="0"/>
          </a:p>
        </p:txBody>
      </p:sp>
      <p:sp>
        <p:nvSpPr>
          <p:cNvPr id="12" name="TextBox 22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Murlet dataset1・85 sequences／40,800 runsの全条件スイープのうち非線形4条件 · docs/murlet_dataset1_linearalifold_repair_v3_iter100_beam100_b5e35428_ja.md</a:t>
            </a:r>
            <a:endParaRPr lang="en-US" sz="6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17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FULL CONDITION SWEEP · LINEAR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線形fold × align：LinearAlifold有無ごとの最良条件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folding 2系統 × alignment 2系統を個別に探索。Alifoldを入れれば常にMCCが上がる、とは限らない。</a:t>
            </a:r>
            <a:endParaRPr lang="en-US" sz="1275" dirty="0"/>
          </a:p>
        </p:txBody>
      </p:sp>
      <p:sp>
        <p:nvSpPr>
          <p:cNvPr id="7" name="Shape 11"/>
          <p:cNvSpPr/>
          <p:nvPr/>
        </p:nvSpPr>
        <p:spPr>
          <a:xfrm>
            <a:off x="495306" y="1424936"/>
            <a:ext cx="11201083" cy="3039904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18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5306" y="1424936"/>
          <a:ext cx="11201083" cy="914400"/>
        </p:xfrm>
        <a:graphic>
          <a:graphicData uri="http://schemas.openxmlformats.org/drawingml/2006/table">
            <a:tbl>
              <a:tblPr/>
              <a:tblGrid>
                <a:gridCol w="2585403"/>
                <a:gridCol w="1579880"/>
                <a:gridCol w="2406015"/>
                <a:gridCol w="1916906"/>
                <a:gridCol w="711835"/>
                <a:gridCol w="678180"/>
                <a:gridCol w="678180"/>
                <a:gridCol w="635159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FOLD × ALIGN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LINEARALIFOLD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BEST CONDITION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DD Ρ / KEY SETTING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MCC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SCI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SPS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56"/>
                        </a:lnSpc>
                        <a:buNone/>
                      </a:pPr>
                      <a:r>
                        <a:rPr lang="en-US" sz="825" b="1" spc="66" kern="0" dirty="0">
                          <a:solidFill>
                            <a:srgbClr val="456275"/>
                          </a:solidFill>
                          <a:highlight>
                            <a:srgbClr val="E5F0F1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秒/例</a:t>
                      </a:r>
                      <a:endParaRPr lang="en-US" sz="82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lpc × LinearAlign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E8F7F5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cl_linear_dd_0_alifold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0 / align-th .005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.6926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.7000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.7787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5.71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lpc × LinearAlign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off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FFFFFF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cl_linear_ath02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.50 / align-th .02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.6881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.6721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.7569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2.47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lpc × LinearCONTRAlign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E8F7F5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lpc_contralign_w2_alifold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.30 / weight 2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.6927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.6749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.7550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5.90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lpc × LinearCONTRAlign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off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FFFFFF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lpc_contralign_w8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.30 / weight 8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.6864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.6788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.7497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2.37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lpv × LinearAlign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E8F7F5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lpv_linear_dd_0p01_alifold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.01 / DD phase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.6809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.6982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.7769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5.78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lpv × LinearAlign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off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FFFFFF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lpv_linear_fpct05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.30 / align-pct .5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.6694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.6809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.7728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2.65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lpv × LinearProbConsRNA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on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E8F7F5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lpv_probcons_w2_alifold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.30 / weight 2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.6860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.6789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.7536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E8F7F5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5.85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7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73348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lpv × LinearProbConsRNA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off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080"/>
                        </a:lnSpc>
                        <a:buNone/>
                      </a:pPr>
                      <a:r>
                        <a:rPr lang="en-US" sz="900" b="1" dirty="0">
                          <a:solidFill>
                            <a:srgbClr val="087F91"/>
                          </a:solidFill>
                          <a:highlight>
                            <a:srgbClr val="FFFFFF"/>
                          </a:highlight>
                          <a:latin typeface="Noto Sans Mono CJK JP" pitchFamily="34" charset="0"/>
                          <a:ea typeface="Noto Sans Mono CJK JP" pitchFamily="34" charset="-122"/>
                          <a:cs typeface="Noto Sans Mono CJK JP" pitchFamily="34" charset="-120"/>
                        </a:rPr>
                        <a:t>lpv_probcons_dd_0p075</a:t>
                      </a:r>
                      <a:endParaRPr lang="en-US" sz="900" dirty="0">
                        <a:latin typeface="Noto Sans Mono CJK JP" charset="0"/>
                        <a:ea typeface="Noto Sans Mono CJK JP" charset="0"/>
                        <a:cs typeface="Noto Sans Mono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.075 / weight 4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b="1" dirty="0">
                          <a:solidFill>
                            <a:srgbClr val="14263B"/>
                          </a:solidFill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.6648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.6760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.7671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247"/>
                        </a:lnSpc>
                        <a:buNone/>
                      </a:pPr>
                      <a:r>
                        <a:rPr lang="en-US" sz="975" dirty="0">
                          <a:solidFill>
                            <a:srgbClr val="14263B"/>
                          </a:solidFill>
                          <a:highlight>
                            <a:srgbClr val="FFFFFF"/>
                          </a:highlight>
                          <a:latin typeface="Noto Sans CJK JP" pitchFamily="34" charset="0"/>
                          <a:ea typeface="Noto Sans CJK JP" pitchFamily="34" charset="-122"/>
                          <a:cs typeface="Noto Sans CJK JP" pitchFamily="34" charset="-120"/>
                        </a:rPr>
                        <a:t>2.32</a:t>
                      </a:r>
                      <a:endParaRPr lang="en-US" sz="975" dirty="0">
                        <a:latin typeface="Noto Sans CJK JP" charset="0"/>
                        <a:ea typeface="Noto Sans CJK JP" charset="0"/>
                        <a:cs typeface="Noto Sans CJK JP" charset="0"/>
                      </a:endParaRPr>
                    </a:p>
                  </a:txBody>
                  <a:tcPr marL="85725" marR="85725" marT="95250" marB="952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13"/>
          <p:cNvSpPr/>
          <p:nvPr/>
        </p:nvSpPr>
        <p:spPr>
          <a:xfrm>
            <a:off x="495306" y="4560094"/>
            <a:ext cx="11201083" cy="14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ρはDD段階のRIBOSUM weight。各条件の探索範囲でfinal weightやalign/fold閾値も調整。LinearAlifold onではSCIが上がる条件が多い一方、SPSと計算時間にトレードオフがある。</a:t>
            </a:r>
            <a:endParaRPr lang="en-US" sz="825" dirty="0"/>
          </a:p>
        </p:txBody>
      </p:sp>
      <p:pic>
        <p:nvPicPr>
          <p:cNvPr id="10" name="Picture 15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306" y="4847592"/>
            <a:ext cx="11201083" cy="401955"/>
          </a:xfrm>
          <a:prstGeom prst="rect">
            <a:avLst/>
          </a:prstGeom>
        </p:spPr>
      </p:pic>
      <p:sp>
        <p:nvSpPr>
          <p:cNvPr id="11" name="TextBox 15"/>
          <p:cNvSpPr/>
          <p:nvPr/>
        </p:nvSpPr>
        <p:spPr>
          <a:xfrm>
            <a:off x="495306" y="4847592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読み分け：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この表はMurlet dataset1全85例・40,800 runの組合せ別探索。以前の13例比較で選んだLinearAlign ρ=.3は別の探索スコープであり、LinearCONTRAlignの条件と取り違えない。</a:t>
            </a:r>
            <a:endParaRPr lang="en-US" sz="975" dirty="0"/>
          </a:p>
        </p:txBody>
      </p:sp>
      <p:sp>
        <p:nvSpPr>
          <p:cNvPr id="12" name="TextBox 17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docs/murlet_dataset1_linearalifold_repair_v3_iter100_beam100_b5e35428_ja.md · max-iter=100、beam=100、各条件85例</a:t>
            </a:r>
            <a:endParaRPr lang="en-US" sz="6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18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 SWEEP · SELECTED PROMISING SETTING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反復数を増やすと品質・制約違反・時間はどう動くか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lpc × LinearAlign、LinearAlifold + RNAalifold互換profile energy（ρ=.5）を固定し、max-iterだけ変更。</a:t>
            </a:r>
            <a:endParaRPr lang="en-US" sz="1275" dirty="0"/>
          </a:p>
        </p:txBody>
      </p:sp>
      <p:sp>
        <p:nvSpPr>
          <p:cNvPr id="7" name="Shape 12"/>
          <p:cNvSpPr/>
          <p:nvPr/>
        </p:nvSpPr>
        <p:spPr>
          <a:xfrm>
            <a:off x="495306" y="1386836"/>
            <a:ext cx="3670300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609606" y="1466850"/>
            <a:ext cx="28352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MCC</a:t>
            </a:r>
            <a:endParaRPr lang="en-US" sz="1050" dirty="0"/>
          </a:p>
        </p:txBody>
      </p:sp>
      <p:sp>
        <p:nvSpPr>
          <p:cNvPr id="9" name="TextBox 15"/>
          <p:cNvSpPr/>
          <p:nvPr/>
        </p:nvSpPr>
        <p:spPr>
          <a:xfrm>
            <a:off x="3213106" y="1491611"/>
            <a:ext cx="8382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87F9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0.6884 → 0.6942</a:t>
            </a:r>
            <a:endParaRPr lang="en-US" sz="825" dirty="0"/>
          </a:p>
        </p:txBody>
      </p:sp>
      <p:sp>
        <p:nvSpPr>
          <p:cNvPr id="10" name="Shape 17"/>
          <p:cNvSpPr/>
          <p:nvPr/>
        </p:nvSpPr>
        <p:spPr>
          <a:xfrm>
            <a:off x="1009656" y="1794514"/>
            <a:ext cx="2955925" cy="1171575"/>
          </a:xfrm>
          <a:prstGeom prst="rect">
            <a:avLst/>
          </a:prstGeom>
          <a:noFill/>
          <a:ln/>
        </p:spPr>
      </p:sp>
      <p:pic>
        <p:nvPicPr>
          <p:cNvPr id="11" name="Picture 1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656" y="1794514"/>
            <a:ext cx="2955925" cy="1171575"/>
          </a:xfrm>
          <a:prstGeom prst="rect">
            <a:avLst/>
          </a:prstGeom>
        </p:spPr>
      </p:pic>
      <p:sp>
        <p:nvSpPr>
          <p:cNvPr id="12" name="Shape 18"/>
          <p:cNvSpPr/>
          <p:nvPr/>
        </p:nvSpPr>
        <p:spPr>
          <a:xfrm>
            <a:off x="1019181" y="2714625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3" name="TextBox 19"/>
          <p:cNvSpPr/>
          <p:nvPr/>
        </p:nvSpPr>
        <p:spPr>
          <a:xfrm>
            <a:off x="638181" y="2657475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.688</a:t>
            </a:r>
            <a:endParaRPr lang="en-US" sz="675" dirty="0"/>
          </a:p>
        </p:txBody>
      </p:sp>
      <p:sp>
        <p:nvSpPr>
          <p:cNvPr id="14" name="Shape 20"/>
          <p:cNvSpPr/>
          <p:nvPr/>
        </p:nvSpPr>
        <p:spPr>
          <a:xfrm>
            <a:off x="1019181" y="2482211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5" name="TextBox 21"/>
          <p:cNvSpPr/>
          <p:nvPr/>
        </p:nvSpPr>
        <p:spPr>
          <a:xfrm>
            <a:off x="638181" y="2425061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.690</a:t>
            </a:r>
            <a:endParaRPr lang="en-US" sz="675" dirty="0"/>
          </a:p>
        </p:txBody>
      </p:sp>
      <p:sp>
        <p:nvSpPr>
          <p:cNvPr id="16" name="Shape 22"/>
          <p:cNvSpPr/>
          <p:nvPr/>
        </p:nvSpPr>
        <p:spPr>
          <a:xfrm>
            <a:off x="1019181" y="2249807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7" name="TextBox 23"/>
          <p:cNvSpPr/>
          <p:nvPr/>
        </p:nvSpPr>
        <p:spPr>
          <a:xfrm>
            <a:off x="638181" y="2192657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.692</a:t>
            </a:r>
            <a:endParaRPr lang="en-US" sz="675" dirty="0"/>
          </a:p>
        </p:txBody>
      </p:sp>
      <p:sp>
        <p:nvSpPr>
          <p:cNvPr id="18" name="Shape 24"/>
          <p:cNvSpPr/>
          <p:nvPr/>
        </p:nvSpPr>
        <p:spPr>
          <a:xfrm>
            <a:off x="1019181" y="2017393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9" name="TextBox 25"/>
          <p:cNvSpPr/>
          <p:nvPr/>
        </p:nvSpPr>
        <p:spPr>
          <a:xfrm>
            <a:off x="638181" y="1960243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.694</a:t>
            </a:r>
            <a:endParaRPr lang="en-US" sz="675" dirty="0"/>
          </a:p>
        </p:txBody>
      </p:sp>
      <p:sp>
        <p:nvSpPr>
          <p:cNvPr id="20" name="TextBox 26"/>
          <p:cNvSpPr/>
          <p:nvPr/>
        </p:nvSpPr>
        <p:spPr>
          <a:xfrm>
            <a:off x="1019181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</a:t>
            </a:r>
            <a:endParaRPr lang="en-US" sz="675" dirty="0"/>
          </a:p>
        </p:txBody>
      </p:sp>
      <p:sp>
        <p:nvSpPr>
          <p:cNvPr id="21" name="TextBox 27"/>
          <p:cNvSpPr/>
          <p:nvPr/>
        </p:nvSpPr>
        <p:spPr>
          <a:xfrm>
            <a:off x="1521466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300</a:t>
            </a:r>
            <a:endParaRPr lang="en-US" sz="675" dirty="0"/>
          </a:p>
        </p:txBody>
      </p:sp>
      <p:sp>
        <p:nvSpPr>
          <p:cNvPr id="22" name="TextBox 28"/>
          <p:cNvSpPr/>
          <p:nvPr/>
        </p:nvSpPr>
        <p:spPr>
          <a:xfrm>
            <a:off x="2176151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500</a:t>
            </a:r>
            <a:endParaRPr lang="en-US" sz="675" dirty="0"/>
          </a:p>
        </p:txBody>
      </p:sp>
      <p:sp>
        <p:nvSpPr>
          <p:cNvPr id="23" name="TextBox 29"/>
          <p:cNvSpPr/>
          <p:nvPr/>
        </p:nvSpPr>
        <p:spPr>
          <a:xfrm>
            <a:off x="2830995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700</a:t>
            </a:r>
            <a:endParaRPr lang="en-US" sz="675" dirty="0"/>
          </a:p>
        </p:txBody>
      </p:sp>
      <p:sp>
        <p:nvSpPr>
          <p:cNvPr id="24" name="TextBox 30"/>
          <p:cNvSpPr/>
          <p:nvPr/>
        </p:nvSpPr>
        <p:spPr>
          <a:xfrm>
            <a:off x="3660781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</a:t>
            </a:r>
            <a:endParaRPr lang="en-US" sz="675" dirty="0"/>
          </a:p>
        </p:txBody>
      </p:sp>
      <p:sp>
        <p:nvSpPr>
          <p:cNvPr id="25" name="TextBox 31"/>
          <p:cNvSpPr/>
          <p:nvPr/>
        </p:nvSpPr>
        <p:spPr>
          <a:xfrm>
            <a:off x="3631571" y="3108964"/>
            <a:ext cx="3340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</a:t>
            </a:r>
            <a:endParaRPr lang="en-US" sz="675" dirty="0"/>
          </a:p>
        </p:txBody>
      </p:sp>
      <p:pic>
        <p:nvPicPr>
          <p:cNvPr id="26" name="Picture 32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9181" y="1794514"/>
            <a:ext cx="2946400" cy="1162050"/>
          </a:xfrm>
          <a:prstGeom prst="rect">
            <a:avLst/>
          </a:prstGeom>
        </p:spPr>
      </p:pic>
      <p:sp>
        <p:nvSpPr>
          <p:cNvPr id="27" name="Shape 33"/>
          <p:cNvSpPr/>
          <p:nvPr/>
        </p:nvSpPr>
        <p:spPr>
          <a:xfrm>
            <a:off x="985844" y="261112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28" name="Shape 34"/>
          <p:cNvSpPr/>
          <p:nvPr/>
        </p:nvSpPr>
        <p:spPr>
          <a:xfrm>
            <a:off x="1313186" y="2506507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29" name="Shape 35"/>
          <p:cNvSpPr/>
          <p:nvPr/>
        </p:nvSpPr>
        <p:spPr>
          <a:xfrm>
            <a:off x="1640529" y="236696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0" name="Shape 36"/>
          <p:cNvSpPr/>
          <p:nvPr/>
        </p:nvSpPr>
        <p:spPr>
          <a:xfrm>
            <a:off x="1967872" y="2529678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1" name="Shape 37"/>
          <p:cNvSpPr/>
          <p:nvPr/>
        </p:nvSpPr>
        <p:spPr>
          <a:xfrm>
            <a:off x="2295214" y="234378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2" name="Shape 38"/>
          <p:cNvSpPr/>
          <p:nvPr/>
        </p:nvSpPr>
        <p:spPr>
          <a:xfrm>
            <a:off x="2622715" y="233219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3" name="Shape 39"/>
          <p:cNvSpPr/>
          <p:nvPr/>
        </p:nvSpPr>
        <p:spPr>
          <a:xfrm>
            <a:off x="2950058" y="2169477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4" name="Shape 40"/>
          <p:cNvSpPr/>
          <p:nvPr/>
        </p:nvSpPr>
        <p:spPr>
          <a:xfrm>
            <a:off x="3277400" y="2018351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5" name="Shape 41"/>
          <p:cNvSpPr/>
          <p:nvPr/>
        </p:nvSpPr>
        <p:spPr>
          <a:xfrm>
            <a:off x="3604743" y="1995171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6" name="Shape 42"/>
          <p:cNvSpPr/>
          <p:nvPr/>
        </p:nvSpPr>
        <p:spPr>
          <a:xfrm>
            <a:off x="3932244" y="193706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37" name="Shape 43"/>
          <p:cNvSpPr/>
          <p:nvPr/>
        </p:nvSpPr>
        <p:spPr>
          <a:xfrm>
            <a:off x="4260856" y="1386836"/>
            <a:ext cx="3670300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38" name="TextBox 45"/>
          <p:cNvSpPr/>
          <p:nvPr/>
        </p:nvSpPr>
        <p:spPr>
          <a:xfrm>
            <a:off x="4375156" y="1466850"/>
            <a:ext cx="21463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SCI</a:t>
            </a:r>
            <a:endParaRPr lang="en-US" sz="1050" dirty="0"/>
          </a:p>
        </p:txBody>
      </p:sp>
      <p:sp>
        <p:nvSpPr>
          <p:cNvPr id="39" name="TextBox 46"/>
          <p:cNvSpPr/>
          <p:nvPr/>
        </p:nvSpPr>
        <p:spPr>
          <a:xfrm>
            <a:off x="7083432" y="1491611"/>
            <a:ext cx="7334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87F9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0.699 → 0.776</a:t>
            </a:r>
            <a:endParaRPr lang="en-US" sz="825" dirty="0"/>
          </a:p>
        </p:txBody>
      </p:sp>
      <p:sp>
        <p:nvSpPr>
          <p:cNvPr id="40" name="Shape 48"/>
          <p:cNvSpPr/>
          <p:nvPr/>
        </p:nvSpPr>
        <p:spPr>
          <a:xfrm>
            <a:off x="4775206" y="1794514"/>
            <a:ext cx="2955925" cy="1171575"/>
          </a:xfrm>
          <a:prstGeom prst="rect">
            <a:avLst/>
          </a:prstGeom>
          <a:noFill/>
          <a:ln/>
        </p:spPr>
      </p:sp>
      <p:pic>
        <p:nvPicPr>
          <p:cNvPr id="41" name="Picture 48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75206" y="1794514"/>
            <a:ext cx="2955925" cy="1171575"/>
          </a:xfrm>
          <a:prstGeom prst="rect">
            <a:avLst/>
          </a:prstGeom>
        </p:spPr>
      </p:pic>
      <p:sp>
        <p:nvSpPr>
          <p:cNvPr id="42" name="Shape 49"/>
          <p:cNvSpPr/>
          <p:nvPr/>
        </p:nvSpPr>
        <p:spPr>
          <a:xfrm>
            <a:off x="4784731" y="2735898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43" name="TextBox 50"/>
          <p:cNvSpPr/>
          <p:nvPr/>
        </p:nvSpPr>
        <p:spPr>
          <a:xfrm>
            <a:off x="4403731" y="2678748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.70</a:t>
            </a:r>
            <a:endParaRPr lang="en-US" sz="675" dirty="0"/>
          </a:p>
        </p:txBody>
      </p:sp>
      <p:sp>
        <p:nvSpPr>
          <p:cNvPr id="44" name="Shape 51"/>
          <p:cNvSpPr/>
          <p:nvPr/>
        </p:nvSpPr>
        <p:spPr>
          <a:xfrm>
            <a:off x="4784731" y="2524599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45" name="TextBox 52"/>
          <p:cNvSpPr/>
          <p:nvPr/>
        </p:nvSpPr>
        <p:spPr>
          <a:xfrm>
            <a:off x="4403731" y="2467449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.72</a:t>
            </a:r>
            <a:endParaRPr lang="en-US" sz="675" dirty="0"/>
          </a:p>
        </p:txBody>
      </p:sp>
      <p:sp>
        <p:nvSpPr>
          <p:cNvPr id="46" name="Shape 53"/>
          <p:cNvSpPr/>
          <p:nvPr/>
        </p:nvSpPr>
        <p:spPr>
          <a:xfrm>
            <a:off x="4784731" y="2313301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47" name="TextBox 54"/>
          <p:cNvSpPr/>
          <p:nvPr/>
        </p:nvSpPr>
        <p:spPr>
          <a:xfrm>
            <a:off x="4403731" y="2256151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.74</a:t>
            </a:r>
            <a:endParaRPr lang="en-US" sz="675" dirty="0"/>
          </a:p>
        </p:txBody>
      </p:sp>
      <p:sp>
        <p:nvSpPr>
          <p:cNvPr id="48" name="Shape 55"/>
          <p:cNvSpPr/>
          <p:nvPr/>
        </p:nvSpPr>
        <p:spPr>
          <a:xfrm>
            <a:off x="4784731" y="2102011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49" name="TextBox 56"/>
          <p:cNvSpPr/>
          <p:nvPr/>
        </p:nvSpPr>
        <p:spPr>
          <a:xfrm>
            <a:off x="4403731" y="2044861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.76</a:t>
            </a:r>
            <a:endParaRPr lang="en-US" sz="675" dirty="0"/>
          </a:p>
        </p:txBody>
      </p:sp>
      <p:sp>
        <p:nvSpPr>
          <p:cNvPr id="50" name="Shape 57"/>
          <p:cNvSpPr/>
          <p:nvPr/>
        </p:nvSpPr>
        <p:spPr>
          <a:xfrm>
            <a:off x="4784731" y="1890712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51" name="TextBox 58"/>
          <p:cNvSpPr/>
          <p:nvPr/>
        </p:nvSpPr>
        <p:spPr>
          <a:xfrm>
            <a:off x="4403731" y="1833563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.78</a:t>
            </a:r>
            <a:endParaRPr lang="en-US" sz="675" dirty="0"/>
          </a:p>
        </p:txBody>
      </p:sp>
      <p:sp>
        <p:nvSpPr>
          <p:cNvPr id="52" name="TextBox 59"/>
          <p:cNvSpPr/>
          <p:nvPr/>
        </p:nvSpPr>
        <p:spPr>
          <a:xfrm>
            <a:off x="4784731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</a:t>
            </a:r>
            <a:endParaRPr lang="en-US" sz="675" dirty="0"/>
          </a:p>
        </p:txBody>
      </p:sp>
      <p:sp>
        <p:nvSpPr>
          <p:cNvPr id="53" name="TextBox 60"/>
          <p:cNvSpPr/>
          <p:nvPr/>
        </p:nvSpPr>
        <p:spPr>
          <a:xfrm>
            <a:off x="5287017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300</a:t>
            </a:r>
            <a:endParaRPr lang="en-US" sz="675" dirty="0"/>
          </a:p>
        </p:txBody>
      </p:sp>
      <p:sp>
        <p:nvSpPr>
          <p:cNvPr id="54" name="TextBox 61"/>
          <p:cNvSpPr/>
          <p:nvPr/>
        </p:nvSpPr>
        <p:spPr>
          <a:xfrm>
            <a:off x="5941701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500</a:t>
            </a:r>
            <a:endParaRPr lang="en-US" sz="675" dirty="0"/>
          </a:p>
        </p:txBody>
      </p:sp>
      <p:sp>
        <p:nvSpPr>
          <p:cNvPr id="55" name="TextBox 62"/>
          <p:cNvSpPr/>
          <p:nvPr/>
        </p:nvSpPr>
        <p:spPr>
          <a:xfrm>
            <a:off x="6596545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700</a:t>
            </a:r>
            <a:endParaRPr lang="en-US" sz="675" dirty="0"/>
          </a:p>
        </p:txBody>
      </p:sp>
      <p:sp>
        <p:nvSpPr>
          <p:cNvPr id="56" name="TextBox 63"/>
          <p:cNvSpPr/>
          <p:nvPr/>
        </p:nvSpPr>
        <p:spPr>
          <a:xfrm>
            <a:off x="7426332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</a:t>
            </a:r>
            <a:endParaRPr lang="en-US" sz="675" dirty="0"/>
          </a:p>
        </p:txBody>
      </p:sp>
      <p:sp>
        <p:nvSpPr>
          <p:cNvPr id="57" name="TextBox 64"/>
          <p:cNvSpPr/>
          <p:nvPr/>
        </p:nvSpPr>
        <p:spPr>
          <a:xfrm>
            <a:off x="7397122" y="3108964"/>
            <a:ext cx="3340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</a:t>
            </a:r>
            <a:endParaRPr lang="en-US" sz="675" dirty="0"/>
          </a:p>
        </p:txBody>
      </p:sp>
      <p:pic>
        <p:nvPicPr>
          <p:cNvPr id="58" name="Picture 65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84731" y="1794514"/>
            <a:ext cx="2946400" cy="1162050"/>
          </a:xfrm>
          <a:prstGeom prst="rect">
            <a:avLst/>
          </a:prstGeom>
        </p:spPr>
      </p:pic>
      <p:sp>
        <p:nvSpPr>
          <p:cNvPr id="59" name="Shape 66"/>
          <p:cNvSpPr/>
          <p:nvPr/>
        </p:nvSpPr>
        <p:spPr>
          <a:xfrm>
            <a:off x="4751394" y="2689222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0" name="Shape 67"/>
          <p:cNvSpPr/>
          <p:nvPr/>
        </p:nvSpPr>
        <p:spPr>
          <a:xfrm>
            <a:off x="5078736" y="234378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1" name="Shape 68"/>
          <p:cNvSpPr/>
          <p:nvPr/>
        </p:nvSpPr>
        <p:spPr>
          <a:xfrm>
            <a:off x="5406079" y="2169477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2" name="Shape 69"/>
          <p:cNvSpPr/>
          <p:nvPr/>
        </p:nvSpPr>
        <p:spPr>
          <a:xfrm>
            <a:off x="5733421" y="2114550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3" name="Shape 70"/>
          <p:cNvSpPr/>
          <p:nvPr/>
        </p:nvSpPr>
        <p:spPr>
          <a:xfrm>
            <a:off x="6060764" y="2068032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4" name="Shape 71"/>
          <p:cNvSpPr/>
          <p:nvPr/>
        </p:nvSpPr>
        <p:spPr>
          <a:xfrm>
            <a:off x="6388265" y="2037401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5" name="Shape 72"/>
          <p:cNvSpPr/>
          <p:nvPr/>
        </p:nvSpPr>
        <p:spPr>
          <a:xfrm>
            <a:off x="6715607" y="2011049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6" name="Shape 73"/>
          <p:cNvSpPr/>
          <p:nvPr/>
        </p:nvSpPr>
        <p:spPr>
          <a:xfrm>
            <a:off x="7042950" y="1938179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7" name="Shape 74"/>
          <p:cNvSpPr/>
          <p:nvPr/>
        </p:nvSpPr>
        <p:spPr>
          <a:xfrm>
            <a:off x="7370293" y="1922301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8" name="Shape 75"/>
          <p:cNvSpPr/>
          <p:nvPr/>
        </p:nvSpPr>
        <p:spPr>
          <a:xfrm>
            <a:off x="7697794" y="1871662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69" name="Shape 76"/>
          <p:cNvSpPr/>
          <p:nvPr/>
        </p:nvSpPr>
        <p:spPr>
          <a:xfrm>
            <a:off x="8026407" y="1386836"/>
            <a:ext cx="3670300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70" name="TextBox 78"/>
          <p:cNvSpPr/>
          <p:nvPr/>
        </p:nvSpPr>
        <p:spPr>
          <a:xfrm>
            <a:off x="8140707" y="1466850"/>
            <a:ext cx="2536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SPS</a:t>
            </a:r>
            <a:endParaRPr lang="en-US" sz="1050" dirty="0"/>
          </a:p>
        </p:txBody>
      </p:sp>
      <p:sp>
        <p:nvSpPr>
          <p:cNvPr id="71" name="TextBox 79"/>
          <p:cNvSpPr/>
          <p:nvPr/>
        </p:nvSpPr>
        <p:spPr>
          <a:xfrm>
            <a:off x="10744206" y="1491611"/>
            <a:ext cx="83820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87F9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0.7449 → 0.7440</a:t>
            </a:r>
            <a:endParaRPr lang="en-US" sz="825" dirty="0"/>
          </a:p>
        </p:txBody>
      </p:sp>
      <p:sp>
        <p:nvSpPr>
          <p:cNvPr id="72" name="Shape 81"/>
          <p:cNvSpPr/>
          <p:nvPr/>
        </p:nvSpPr>
        <p:spPr>
          <a:xfrm>
            <a:off x="8540757" y="1794514"/>
            <a:ext cx="2955925" cy="1171575"/>
          </a:xfrm>
          <a:prstGeom prst="rect">
            <a:avLst/>
          </a:prstGeom>
          <a:noFill/>
          <a:ln/>
        </p:spPr>
      </p:sp>
      <p:pic>
        <p:nvPicPr>
          <p:cNvPr id="73" name="Picture 81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40757" y="1794514"/>
            <a:ext cx="2955925" cy="1171575"/>
          </a:xfrm>
          <a:prstGeom prst="rect">
            <a:avLst/>
          </a:prstGeom>
        </p:spPr>
      </p:pic>
      <p:sp>
        <p:nvSpPr>
          <p:cNvPr id="74" name="Shape 82"/>
          <p:cNvSpPr/>
          <p:nvPr/>
        </p:nvSpPr>
        <p:spPr>
          <a:xfrm>
            <a:off x="8550282" y="2830832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75" name="TextBox 83"/>
          <p:cNvSpPr/>
          <p:nvPr/>
        </p:nvSpPr>
        <p:spPr>
          <a:xfrm>
            <a:off x="8169282" y="2773682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.742</a:t>
            </a:r>
            <a:endParaRPr lang="en-US" sz="675" dirty="0"/>
          </a:p>
        </p:txBody>
      </p:sp>
      <p:sp>
        <p:nvSpPr>
          <p:cNvPr id="76" name="Shape 84"/>
          <p:cNvSpPr/>
          <p:nvPr/>
        </p:nvSpPr>
        <p:spPr>
          <a:xfrm>
            <a:off x="8550282" y="2598418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77" name="TextBox 85"/>
          <p:cNvSpPr/>
          <p:nvPr/>
        </p:nvSpPr>
        <p:spPr>
          <a:xfrm>
            <a:off x="8169282" y="2541268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.746</a:t>
            </a:r>
            <a:endParaRPr lang="en-US" sz="675" dirty="0"/>
          </a:p>
        </p:txBody>
      </p:sp>
      <p:sp>
        <p:nvSpPr>
          <p:cNvPr id="78" name="Shape 86"/>
          <p:cNvSpPr/>
          <p:nvPr/>
        </p:nvSpPr>
        <p:spPr>
          <a:xfrm>
            <a:off x="8550282" y="2366014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79" name="TextBox 87"/>
          <p:cNvSpPr/>
          <p:nvPr/>
        </p:nvSpPr>
        <p:spPr>
          <a:xfrm>
            <a:off x="8169282" y="2308864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.750</a:t>
            </a:r>
            <a:endParaRPr lang="en-US" sz="675" dirty="0"/>
          </a:p>
        </p:txBody>
      </p:sp>
      <p:sp>
        <p:nvSpPr>
          <p:cNvPr id="80" name="Shape 88"/>
          <p:cNvSpPr/>
          <p:nvPr/>
        </p:nvSpPr>
        <p:spPr>
          <a:xfrm>
            <a:off x="8550282" y="2133600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81" name="TextBox 89"/>
          <p:cNvSpPr/>
          <p:nvPr/>
        </p:nvSpPr>
        <p:spPr>
          <a:xfrm>
            <a:off x="8169282" y="2076450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.754</a:t>
            </a:r>
            <a:endParaRPr lang="en-US" sz="675" dirty="0"/>
          </a:p>
        </p:txBody>
      </p:sp>
      <p:sp>
        <p:nvSpPr>
          <p:cNvPr id="82" name="Shape 90"/>
          <p:cNvSpPr/>
          <p:nvPr/>
        </p:nvSpPr>
        <p:spPr>
          <a:xfrm>
            <a:off x="8550282" y="1901186"/>
            <a:ext cx="2946400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83" name="TextBox 91"/>
          <p:cNvSpPr/>
          <p:nvPr/>
        </p:nvSpPr>
        <p:spPr>
          <a:xfrm>
            <a:off x="8169282" y="1844036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.758</a:t>
            </a:r>
            <a:endParaRPr lang="en-US" sz="675" dirty="0"/>
          </a:p>
        </p:txBody>
      </p:sp>
      <p:sp>
        <p:nvSpPr>
          <p:cNvPr id="84" name="TextBox 92"/>
          <p:cNvSpPr/>
          <p:nvPr/>
        </p:nvSpPr>
        <p:spPr>
          <a:xfrm>
            <a:off x="8550282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</a:t>
            </a:r>
            <a:endParaRPr lang="en-US" sz="675" dirty="0"/>
          </a:p>
        </p:txBody>
      </p:sp>
      <p:sp>
        <p:nvSpPr>
          <p:cNvPr id="85" name="TextBox 93"/>
          <p:cNvSpPr/>
          <p:nvPr/>
        </p:nvSpPr>
        <p:spPr>
          <a:xfrm>
            <a:off x="9052566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300</a:t>
            </a:r>
            <a:endParaRPr lang="en-US" sz="675" dirty="0"/>
          </a:p>
        </p:txBody>
      </p:sp>
      <p:sp>
        <p:nvSpPr>
          <p:cNvPr id="86" name="TextBox 94"/>
          <p:cNvSpPr/>
          <p:nvPr/>
        </p:nvSpPr>
        <p:spPr>
          <a:xfrm>
            <a:off x="9707252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500</a:t>
            </a:r>
            <a:endParaRPr lang="en-US" sz="675" dirty="0"/>
          </a:p>
        </p:txBody>
      </p:sp>
      <p:sp>
        <p:nvSpPr>
          <p:cNvPr id="87" name="TextBox 95"/>
          <p:cNvSpPr/>
          <p:nvPr/>
        </p:nvSpPr>
        <p:spPr>
          <a:xfrm>
            <a:off x="10362095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700</a:t>
            </a:r>
            <a:endParaRPr lang="en-US" sz="675" dirty="0"/>
          </a:p>
        </p:txBody>
      </p:sp>
      <p:sp>
        <p:nvSpPr>
          <p:cNvPr id="88" name="TextBox 96"/>
          <p:cNvSpPr/>
          <p:nvPr/>
        </p:nvSpPr>
        <p:spPr>
          <a:xfrm>
            <a:off x="11191881" y="3004189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</a:t>
            </a:r>
            <a:endParaRPr lang="en-US" sz="675" dirty="0"/>
          </a:p>
        </p:txBody>
      </p:sp>
      <p:sp>
        <p:nvSpPr>
          <p:cNvPr id="89" name="TextBox 97"/>
          <p:cNvSpPr/>
          <p:nvPr/>
        </p:nvSpPr>
        <p:spPr>
          <a:xfrm>
            <a:off x="11162671" y="3108964"/>
            <a:ext cx="3340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</a:t>
            </a:r>
            <a:endParaRPr lang="en-US" sz="675" dirty="0"/>
          </a:p>
        </p:txBody>
      </p:sp>
      <p:pic>
        <p:nvPicPr>
          <p:cNvPr id="90" name="Picture 98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50282" y="1794514"/>
            <a:ext cx="2946400" cy="1162050"/>
          </a:xfrm>
          <a:prstGeom prst="rect">
            <a:avLst/>
          </a:prstGeom>
        </p:spPr>
      </p:pic>
      <p:sp>
        <p:nvSpPr>
          <p:cNvPr id="91" name="Shape 99"/>
          <p:cNvSpPr/>
          <p:nvPr/>
        </p:nvSpPr>
        <p:spPr>
          <a:xfrm>
            <a:off x="8516944" y="2605246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2" name="Shape 100"/>
          <p:cNvSpPr/>
          <p:nvPr/>
        </p:nvSpPr>
        <p:spPr>
          <a:xfrm>
            <a:off x="8844287" y="2564606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3" name="Shape 101"/>
          <p:cNvSpPr/>
          <p:nvPr/>
        </p:nvSpPr>
        <p:spPr>
          <a:xfrm>
            <a:off x="9171628" y="269827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4" name="Shape 102"/>
          <p:cNvSpPr/>
          <p:nvPr/>
        </p:nvSpPr>
        <p:spPr>
          <a:xfrm>
            <a:off x="9498971" y="2721452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5" name="Shape 103"/>
          <p:cNvSpPr/>
          <p:nvPr/>
        </p:nvSpPr>
        <p:spPr>
          <a:xfrm>
            <a:off x="9826314" y="270986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6" name="Shape 104"/>
          <p:cNvSpPr/>
          <p:nvPr/>
        </p:nvSpPr>
        <p:spPr>
          <a:xfrm>
            <a:off x="10153815" y="268652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7" name="Shape 105"/>
          <p:cNvSpPr/>
          <p:nvPr/>
        </p:nvSpPr>
        <p:spPr>
          <a:xfrm>
            <a:off x="10481158" y="261112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8" name="Shape 106"/>
          <p:cNvSpPr/>
          <p:nvPr/>
        </p:nvSpPr>
        <p:spPr>
          <a:xfrm>
            <a:off x="10808499" y="264017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99" name="Shape 107"/>
          <p:cNvSpPr/>
          <p:nvPr/>
        </p:nvSpPr>
        <p:spPr>
          <a:xfrm>
            <a:off x="11135842" y="2634295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00" name="Shape 108"/>
          <p:cNvSpPr/>
          <p:nvPr/>
        </p:nvSpPr>
        <p:spPr>
          <a:xfrm>
            <a:off x="11463343" y="2657475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01" name="Shape 109"/>
          <p:cNvSpPr/>
          <p:nvPr/>
        </p:nvSpPr>
        <p:spPr>
          <a:xfrm>
            <a:off x="495306" y="3510911"/>
            <a:ext cx="5553075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02" name="TextBox 111"/>
          <p:cNvSpPr/>
          <p:nvPr/>
        </p:nvSpPr>
        <p:spPr>
          <a:xfrm>
            <a:off x="609606" y="3590925"/>
            <a:ext cx="79613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違反 / merge</a:t>
            </a:r>
            <a:endParaRPr lang="en-US" sz="1050" dirty="0"/>
          </a:p>
        </p:txBody>
      </p:sp>
      <p:sp>
        <p:nvSpPr>
          <p:cNvPr id="103" name="TextBox 112"/>
          <p:cNvSpPr/>
          <p:nvPr/>
        </p:nvSpPr>
        <p:spPr>
          <a:xfrm>
            <a:off x="5200656" y="3615686"/>
            <a:ext cx="733425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87F9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28.56 → 10.49</a:t>
            </a:r>
            <a:endParaRPr lang="en-US" sz="825" dirty="0"/>
          </a:p>
        </p:txBody>
      </p:sp>
      <p:sp>
        <p:nvSpPr>
          <p:cNvPr id="104" name="Shape 114"/>
          <p:cNvSpPr/>
          <p:nvPr/>
        </p:nvSpPr>
        <p:spPr>
          <a:xfrm>
            <a:off x="1009656" y="3918589"/>
            <a:ext cx="4838700" cy="1171575"/>
          </a:xfrm>
          <a:prstGeom prst="rect">
            <a:avLst/>
          </a:prstGeom>
          <a:noFill/>
          <a:ln/>
        </p:spPr>
      </p:sp>
      <p:pic>
        <p:nvPicPr>
          <p:cNvPr id="105" name="Picture 114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9656" y="3918589"/>
            <a:ext cx="4838700" cy="1171575"/>
          </a:xfrm>
          <a:prstGeom prst="rect">
            <a:avLst/>
          </a:prstGeom>
        </p:spPr>
      </p:pic>
      <p:sp>
        <p:nvSpPr>
          <p:cNvPr id="106" name="Shape 115"/>
          <p:cNvSpPr/>
          <p:nvPr/>
        </p:nvSpPr>
        <p:spPr>
          <a:xfrm>
            <a:off x="1019181" y="4970143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07" name="TextBox 116"/>
          <p:cNvSpPr/>
          <p:nvPr/>
        </p:nvSpPr>
        <p:spPr>
          <a:xfrm>
            <a:off x="638181" y="4912993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</a:t>
            </a:r>
            <a:endParaRPr lang="en-US" sz="675" dirty="0"/>
          </a:p>
        </p:txBody>
      </p:sp>
      <p:sp>
        <p:nvSpPr>
          <p:cNvPr id="108" name="Shape 117"/>
          <p:cNvSpPr/>
          <p:nvPr/>
        </p:nvSpPr>
        <p:spPr>
          <a:xfrm>
            <a:off x="1019181" y="4717573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09" name="TextBox 118"/>
          <p:cNvSpPr/>
          <p:nvPr/>
        </p:nvSpPr>
        <p:spPr>
          <a:xfrm>
            <a:off x="638181" y="4660423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15</a:t>
            </a:r>
            <a:endParaRPr lang="en-US" sz="675" dirty="0"/>
          </a:p>
        </p:txBody>
      </p:sp>
      <p:sp>
        <p:nvSpPr>
          <p:cNvPr id="110" name="Shape 119"/>
          <p:cNvSpPr/>
          <p:nvPr/>
        </p:nvSpPr>
        <p:spPr>
          <a:xfrm>
            <a:off x="1019181" y="4464844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11" name="TextBox 120"/>
          <p:cNvSpPr/>
          <p:nvPr/>
        </p:nvSpPr>
        <p:spPr>
          <a:xfrm>
            <a:off x="638181" y="4407694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20</a:t>
            </a:r>
            <a:endParaRPr lang="en-US" sz="675" dirty="0"/>
          </a:p>
        </p:txBody>
      </p:sp>
      <p:sp>
        <p:nvSpPr>
          <p:cNvPr id="112" name="Shape 121"/>
          <p:cNvSpPr/>
          <p:nvPr/>
        </p:nvSpPr>
        <p:spPr>
          <a:xfrm>
            <a:off x="1019181" y="4212273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13" name="TextBox 122"/>
          <p:cNvSpPr/>
          <p:nvPr/>
        </p:nvSpPr>
        <p:spPr>
          <a:xfrm>
            <a:off x="638181" y="4155123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25</a:t>
            </a:r>
            <a:endParaRPr lang="en-US" sz="675" dirty="0"/>
          </a:p>
        </p:txBody>
      </p:sp>
      <p:sp>
        <p:nvSpPr>
          <p:cNvPr id="114" name="Shape 123"/>
          <p:cNvSpPr/>
          <p:nvPr/>
        </p:nvSpPr>
        <p:spPr>
          <a:xfrm>
            <a:off x="1019181" y="3959702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15" name="TextBox 124"/>
          <p:cNvSpPr/>
          <p:nvPr/>
        </p:nvSpPr>
        <p:spPr>
          <a:xfrm>
            <a:off x="638181" y="3902552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</a:t>
            </a:r>
            <a:endParaRPr lang="en-US" sz="675" dirty="0"/>
          </a:p>
        </p:txBody>
      </p:sp>
      <p:sp>
        <p:nvSpPr>
          <p:cNvPr id="116" name="TextBox 125"/>
          <p:cNvSpPr/>
          <p:nvPr/>
        </p:nvSpPr>
        <p:spPr>
          <a:xfrm>
            <a:off x="1019181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</a:t>
            </a:r>
            <a:endParaRPr lang="en-US" sz="675" dirty="0"/>
          </a:p>
        </p:txBody>
      </p:sp>
      <p:sp>
        <p:nvSpPr>
          <p:cNvPr id="117" name="TextBox 126"/>
          <p:cNvSpPr/>
          <p:nvPr/>
        </p:nvSpPr>
        <p:spPr>
          <a:xfrm>
            <a:off x="1939932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300</a:t>
            </a:r>
            <a:endParaRPr lang="en-US" sz="675" dirty="0"/>
          </a:p>
        </p:txBody>
      </p:sp>
      <p:sp>
        <p:nvSpPr>
          <p:cNvPr id="118" name="TextBox 127"/>
          <p:cNvSpPr/>
          <p:nvPr/>
        </p:nvSpPr>
        <p:spPr>
          <a:xfrm>
            <a:off x="3013081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500</a:t>
            </a:r>
            <a:endParaRPr lang="en-US" sz="675" dirty="0"/>
          </a:p>
        </p:txBody>
      </p:sp>
      <p:sp>
        <p:nvSpPr>
          <p:cNvPr id="119" name="TextBox 128"/>
          <p:cNvSpPr/>
          <p:nvPr/>
        </p:nvSpPr>
        <p:spPr>
          <a:xfrm>
            <a:off x="4086231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700</a:t>
            </a:r>
            <a:endParaRPr lang="en-US" sz="675" dirty="0"/>
          </a:p>
        </p:txBody>
      </p:sp>
      <p:sp>
        <p:nvSpPr>
          <p:cNvPr id="120" name="TextBox 129"/>
          <p:cNvSpPr/>
          <p:nvPr/>
        </p:nvSpPr>
        <p:spPr>
          <a:xfrm>
            <a:off x="5543556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</a:t>
            </a:r>
            <a:endParaRPr lang="en-US" sz="675" dirty="0"/>
          </a:p>
        </p:txBody>
      </p:sp>
      <p:sp>
        <p:nvSpPr>
          <p:cNvPr id="121" name="TextBox 130"/>
          <p:cNvSpPr/>
          <p:nvPr/>
        </p:nvSpPr>
        <p:spPr>
          <a:xfrm>
            <a:off x="5514346" y="5233039"/>
            <a:ext cx="3340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</a:t>
            </a:r>
            <a:endParaRPr lang="en-US" sz="675" dirty="0"/>
          </a:p>
        </p:txBody>
      </p:sp>
      <p:pic>
        <p:nvPicPr>
          <p:cNvPr id="122" name="Picture 131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9181" y="3918589"/>
            <a:ext cx="4829175" cy="1162050"/>
          </a:xfrm>
          <a:prstGeom prst="rect">
            <a:avLst/>
          </a:prstGeom>
        </p:spPr>
      </p:pic>
      <p:sp>
        <p:nvSpPr>
          <p:cNvPr id="123" name="Shape 132"/>
          <p:cNvSpPr/>
          <p:nvPr/>
        </p:nvSpPr>
        <p:spPr>
          <a:xfrm>
            <a:off x="985844" y="3975255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24" name="Shape 133"/>
          <p:cNvSpPr/>
          <p:nvPr/>
        </p:nvSpPr>
        <p:spPr>
          <a:xfrm>
            <a:off x="1522419" y="434149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25" name="Shape 134"/>
          <p:cNvSpPr/>
          <p:nvPr/>
        </p:nvSpPr>
        <p:spPr>
          <a:xfrm>
            <a:off x="2058994" y="447802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26" name="Shape 135"/>
          <p:cNvSpPr/>
          <p:nvPr/>
        </p:nvSpPr>
        <p:spPr>
          <a:xfrm>
            <a:off x="2595569" y="4603273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27" name="Shape 136"/>
          <p:cNvSpPr/>
          <p:nvPr/>
        </p:nvSpPr>
        <p:spPr>
          <a:xfrm>
            <a:off x="3132144" y="4648200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28" name="Shape 137"/>
          <p:cNvSpPr/>
          <p:nvPr/>
        </p:nvSpPr>
        <p:spPr>
          <a:xfrm>
            <a:off x="3668719" y="469423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29" name="Shape 138"/>
          <p:cNvSpPr/>
          <p:nvPr/>
        </p:nvSpPr>
        <p:spPr>
          <a:xfrm>
            <a:off x="4205293" y="4743292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30" name="Shape 139"/>
          <p:cNvSpPr/>
          <p:nvPr/>
        </p:nvSpPr>
        <p:spPr>
          <a:xfrm>
            <a:off x="4741869" y="4805837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31" name="Shape 140"/>
          <p:cNvSpPr/>
          <p:nvPr/>
        </p:nvSpPr>
        <p:spPr>
          <a:xfrm>
            <a:off x="5278444" y="4829649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32" name="Shape 141"/>
          <p:cNvSpPr/>
          <p:nvPr/>
        </p:nvSpPr>
        <p:spPr>
          <a:xfrm>
            <a:off x="5815018" y="4888232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33" name="Shape 142"/>
          <p:cNvSpPr/>
          <p:nvPr/>
        </p:nvSpPr>
        <p:spPr>
          <a:xfrm>
            <a:off x="6143631" y="3510911"/>
            <a:ext cx="5553075" cy="2028825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134" name="TextBox 144"/>
          <p:cNvSpPr/>
          <p:nvPr/>
        </p:nvSpPr>
        <p:spPr>
          <a:xfrm>
            <a:off x="6257931" y="3590925"/>
            <a:ext cx="71628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37566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時間 (秒/例)</a:t>
            </a:r>
            <a:endParaRPr lang="en-US" sz="1050" dirty="0"/>
          </a:p>
        </p:txBody>
      </p:sp>
      <p:sp>
        <p:nvSpPr>
          <p:cNvPr id="135" name="TextBox 145"/>
          <p:cNvSpPr/>
          <p:nvPr/>
        </p:nvSpPr>
        <p:spPr>
          <a:xfrm>
            <a:off x="10901368" y="3615686"/>
            <a:ext cx="681038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087F91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5.79 → 11.36</a:t>
            </a:r>
            <a:endParaRPr lang="en-US" sz="825" dirty="0"/>
          </a:p>
        </p:txBody>
      </p:sp>
      <p:sp>
        <p:nvSpPr>
          <p:cNvPr id="136" name="Shape 147"/>
          <p:cNvSpPr/>
          <p:nvPr/>
        </p:nvSpPr>
        <p:spPr>
          <a:xfrm>
            <a:off x="6657981" y="3918589"/>
            <a:ext cx="4838700" cy="1171575"/>
          </a:xfrm>
          <a:prstGeom prst="rect">
            <a:avLst/>
          </a:prstGeom>
          <a:noFill/>
          <a:ln/>
        </p:spPr>
      </p:sp>
      <p:pic>
        <p:nvPicPr>
          <p:cNvPr id="137" name="Picture 147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57981" y="3918589"/>
            <a:ext cx="4838700" cy="1171575"/>
          </a:xfrm>
          <a:prstGeom prst="rect">
            <a:avLst/>
          </a:prstGeom>
        </p:spPr>
      </p:pic>
      <p:sp>
        <p:nvSpPr>
          <p:cNvPr id="138" name="Shape 148"/>
          <p:cNvSpPr/>
          <p:nvPr/>
        </p:nvSpPr>
        <p:spPr>
          <a:xfrm>
            <a:off x="6667506" y="4905217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39" name="TextBox 149"/>
          <p:cNvSpPr/>
          <p:nvPr/>
        </p:nvSpPr>
        <p:spPr>
          <a:xfrm>
            <a:off x="6286506" y="4848067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6</a:t>
            </a:r>
            <a:endParaRPr lang="en-US" sz="675" dirty="0"/>
          </a:p>
        </p:txBody>
      </p:sp>
      <p:sp>
        <p:nvSpPr>
          <p:cNvPr id="140" name="Shape 150"/>
          <p:cNvSpPr/>
          <p:nvPr/>
        </p:nvSpPr>
        <p:spPr>
          <a:xfrm>
            <a:off x="6667506" y="4573107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41" name="TextBox 151"/>
          <p:cNvSpPr/>
          <p:nvPr/>
        </p:nvSpPr>
        <p:spPr>
          <a:xfrm>
            <a:off x="6286506" y="4515957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8</a:t>
            </a:r>
            <a:endParaRPr lang="en-US" sz="675" dirty="0"/>
          </a:p>
        </p:txBody>
      </p:sp>
      <p:sp>
        <p:nvSpPr>
          <p:cNvPr id="142" name="Shape 152"/>
          <p:cNvSpPr/>
          <p:nvPr/>
        </p:nvSpPr>
        <p:spPr>
          <a:xfrm>
            <a:off x="6667506" y="4241164"/>
            <a:ext cx="4829175" cy="9525"/>
          </a:xfrm>
          <a:prstGeom prst="rect">
            <a:avLst/>
          </a:prstGeom>
          <a:solidFill>
            <a:srgbClr val="DBE6E8"/>
          </a:solidFill>
          <a:ln/>
        </p:spPr>
      </p:sp>
      <p:sp>
        <p:nvSpPr>
          <p:cNvPr id="143" name="TextBox 153"/>
          <p:cNvSpPr/>
          <p:nvPr/>
        </p:nvSpPr>
        <p:spPr>
          <a:xfrm>
            <a:off x="6286506" y="4184014"/>
            <a:ext cx="32385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</a:t>
            </a:r>
            <a:endParaRPr lang="en-US" sz="675" dirty="0"/>
          </a:p>
        </p:txBody>
      </p:sp>
      <p:sp>
        <p:nvSpPr>
          <p:cNvPr id="144" name="TextBox 154"/>
          <p:cNvSpPr/>
          <p:nvPr/>
        </p:nvSpPr>
        <p:spPr>
          <a:xfrm>
            <a:off x="6667506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</a:t>
            </a:r>
            <a:endParaRPr lang="en-US" sz="675" dirty="0"/>
          </a:p>
        </p:txBody>
      </p:sp>
      <p:sp>
        <p:nvSpPr>
          <p:cNvPr id="145" name="TextBox 155"/>
          <p:cNvSpPr/>
          <p:nvPr/>
        </p:nvSpPr>
        <p:spPr>
          <a:xfrm>
            <a:off x="7588257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300</a:t>
            </a:r>
            <a:endParaRPr lang="en-US" sz="675" dirty="0"/>
          </a:p>
        </p:txBody>
      </p:sp>
      <p:sp>
        <p:nvSpPr>
          <p:cNvPr id="146" name="TextBox 156"/>
          <p:cNvSpPr/>
          <p:nvPr/>
        </p:nvSpPr>
        <p:spPr>
          <a:xfrm>
            <a:off x="8661406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500</a:t>
            </a:r>
            <a:endParaRPr lang="en-US" sz="675" dirty="0"/>
          </a:p>
        </p:txBody>
      </p:sp>
      <p:sp>
        <p:nvSpPr>
          <p:cNvPr id="147" name="TextBox 157"/>
          <p:cNvSpPr/>
          <p:nvPr/>
        </p:nvSpPr>
        <p:spPr>
          <a:xfrm>
            <a:off x="9734556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700</a:t>
            </a:r>
            <a:endParaRPr lang="en-US" sz="675" dirty="0"/>
          </a:p>
        </p:txBody>
      </p:sp>
      <p:sp>
        <p:nvSpPr>
          <p:cNvPr id="148" name="TextBox 158"/>
          <p:cNvSpPr/>
          <p:nvPr/>
        </p:nvSpPr>
        <p:spPr>
          <a:xfrm>
            <a:off x="11191881" y="5128264"/>
            <a:ext cx="304800" cy="133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1000</a:t>
            </a:r>
            <a:endParaRPr lang="en-US" sz="675" dirty="0"/>
          </a:p>
        </p:txBody>
      </p:sp>
      <p:sp>
        <p:nvSpPr>
          <p:cNvPr id="149" name="TextBox 159"/>
          <p:cNvSpPr/>
          <p:nvPr/>
        </p:nvSpPr>
        <p:spPr>
          <a:xfrm>
            <a:off x="11162671" y="5233039"/>
            <a:ext cx="33401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6A819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max-iter</a:t>
            </a:r>
            <a:endParaRPr lang="en-US" sz="675" dirty="0"/>
          </a:p>
        </p:txBody>
      </p:sp>
      <p:pic>
        <p:nvPicPr>
          <p:cNvPr id="150" name="Picture 160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67506" y="3918589"/>
            <a:ext cx="4829175" cy="1162050"/>
          </a:xfrm>
          <a:prstGeom prst="rect">
            <a:avLst/>
          </a:prstGeom>
        </p:spPr>
      </p:pic>
      <p:sp>
        <p:nvSpPr>
          <p:cNvPr id="151" name="Shape 161"/>
          <p:cNvSpPr/>
          <p:nvPr/>
        </p:nvSpPr>
        <p:spPr>
          <a:xfrm>
            <a:off x="6634168" y="4882837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2" name="Shape 162"/>
          <p:cNvSpPr/>
          <p:nvPr/>
        </p:nvSpPr>
        <p:spPr>
          <a:xfrm>
            <a:off x="7170744" y="4766630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3" name="Shape 163"/>
          <p:cNvSpPr/>
          <p:nvPr/>
        </p:nvSpPr>
        <p:spPr>
          <a:xfrm>
            <a:off x="7707319" y="4706941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4" name="Shape 164"/>
          <p:cNvSpPr/>
          <p:nvPr/>
        </p:nvSpPr>
        <p:spPr>
          <a:xfrm>
            <a:off x="8243893" y="4506116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5" name="Shape 165"/>
          <p:cNvSpPr/>
          <p:nvPr/>
        </p:nvSpPr>
        <p:spPr>
          <a:xfrm>
            <a:off x="8780469" y="4472778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6" name="Shape 166"/>
          <p:cNvSpPr/>
          <p:nvPr/>
        </p:nvSpPr>
        <p:spPr>
          <a:xfrm>
            <a:off x="9317044" y="4419758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7" name="Shape 167"/>
          <p:cNvSpPr/>
          <p:nvPr/>
        </p:nvSpPr>
        <p:spPr>
          <a:xfrm>
            <a:off x="9853618" y="4277041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8" name="Shape 168"/>
          <p:cNvSpPr/>
          <p:nvPr/>
        </p:nvSpPr>
        <p:spPr>
          <a:xfrm>
            <a:off x="10390194" y="4172424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59" name="Shape 169"/>
          <p:cNvSpPr/>
          <p:nvPr/>
        </p:nvSpPr>
        <p:spPr>
          <a:xfrm>
            <a:off x="10926769" y="4082737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sp>
        <p:nvSpPr>
          <p:cNvPr id="160" name="Shape 170"/>
          <p:cNvSpPr/>
          <p:nvPr/>
        </p:nvSpPr>
        <p:spPr>
          <a:xfrm>
            <a:off x="11463343" y="3958270"/>
            <a:ext cx="66675" cy="66675"/>
          </a:xfrm>
          <a:prstGeom prst="ellipse">
            <a:avLst/>
          </a:prstGeom>
          <a:solidFill>
            <a:srgbClr val="10ADBB"/>
          </a:solidFill>
          <a:ln w="9525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087F91">
                <a:alpha val="100000"/>
              </a:srgbClr>
            </a:outerShdw>
          </a:effectLst>
        </p:spPr>
      </p:sp>
      <p:pic>
        <p:nvPicPr>
          <p:cNvPr id="161" name="Picture 172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95306" y="5682611"/>
            <a:ext cx="11201083" cy="401955"/>
          </a:xfrm>
          <a:prstGeom prst="rect">
            <a:avLst/>
          </a:prstGeom>
        </p:spPr>
      </p:pic>
      <p:sp>
        <p:nvSpPr>
          <p:cNvPr id="162" name="TextBox 172"/>
          <p:cNvSpPr/>
          <p:nvPr/>
        </p:nvSpPr>
        <p:spPr>
          <a:xfrm>
            <a:off x="495306" y="5682611"/>
            <a:ext cx="11201083" cy="401955"/>
          </a:xfrm>
          <a:prstGeom prst="rect">
            <a:avLst/>
          </a:prstGeom>
          <a:solidFill>
            <a:srgbClr val="E4F4F3"/>
          </a:solidFill>
          <a:ln/>
        </p:spPr>
        <p:txBody>
          <a:bodyPr wrap="square" lIns="142875" tIns="114300" rIns="142875" bIns="11430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100 → 1000:</a:t>
            </a:r>
            <a:r>
              <a:rPr lang="en-US" sz="975" dirty="0">
                <a:solidFill>
                  <a:srgbClr val="294C5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MCC .6884 → .6942、SCI .6990 → .7764、SPSはほぼ横ばい（.7449 → .7440）。違反/mergeは28.56 → 10.49、実行時間は5.79 → 11.36秒/例。</a:t>
            </a:r>
            <a:endParaRPr lang="en-US" sz="975" dirty="0"/>
          </a:p>
        </p:txBody>
      </p:sp>
      <p:sp>
        <p:nvSpPr>
          <p:cNvPr id="163" name="TextBox 174"/>
          <p:cNvSpPr/>
          <p:nvPr/>
        </p:nvSpPr>
        <p:spPr>
          <a:xfrm>
            <a:off x="495306" y="6179818"/>
            <a:ext cx="11201083" cy="1446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2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85ケースのmacro average。違反/merge＝各merge最終反復のdd_summary.violated平均。グラフはこの固定条件内の推移で、前スライドの全条件探索値とは異なる実験世代・目的のため直接差分比較しない。</a:t>
            </a:r>
            <a:endParaRPr lang="en-US" sz="825" dirty="0"/>
          </a:p>
        </p:txBody>
      </p:sp>
      <p:sp>
        <p:nvSpPr>
          <p:cNvPr id="164" name="TextBox 176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docs/dafs_linearalifold_profile_max_iter_sweep_2026-09-21_ja.md · 3,400 runsすべて成功・metrics_valid</a:t>
            </a:r>
            <a:endParaRPr lang="en-US" sz="6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6" y="0"/>
            <a:ext cx="12191683" cy="6858000"/>
          </a:xfrm>
          <a:prstGeom prst="rect">
            <a:avLst/>
          </a:prstGeom>
          <a:solidFill>
            <a:srgbClr val="F5F8F7"/>
          </a:solidFill>
          <a:ln/>
          <a:effectLst>
            <a:outerShdw sx="100000" sy="100000" kx="0" ky="0" algn="bl" rotWithShape="0" blurRad="342900" dist="133350" dir="5400000">
              <a:srgbClr val="081321">
                <a:alpha val="12000"/>
              </a:srgbClr>
            </a:outerShdw>
          </a:effectLst>
        </p:spPr>
      </p:sp>
      <p:sp>
        <p:nvSpPr>
          <p:cNvPr id="3" name="TextBox 3"/>
          <p:cNvSpPr/>
          <p:nvPr/>
        </p:nvSpPr>
        <p:spPr>
          <a:xfrm>
            <a:off x="11231886" y="285750"/>
            <a:ext cx="46450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spc="72" kern="0" dirty="0">
                <a:solidFill>
                  <a:srgbClr val="8BA1AE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19 / 19</a:t>
            </a:r>
            <a:endParaRPr lang="en-US" sz="900" dirty="0"/>
          </a:p>
        </p:txBody>
      </p:sp>
      <p:sp>
        <p:nvSpPr>
          <p:cNvPr id="4" name="TextBox 5"/>
          <p:cNvSpPr/>
          <p:nvPr/>
        </p:nvSpPr>
        <p:spPr>
          <a:xfrm>
            <a:off x="495306" y="342900"/>
            <a:ext cx="1120108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53" kern="0" dirty="0">
                <a:solidFill>
                  <a:srgbClr val="087F91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DECODING · IPKNOT</a:t>
            </a:r>
            <a:endParaRPr lang="en-US" sz="900" dirty="0"/>
          </a:p>
        </p:txBody>
      </p:sp>
      <p:sp>
        <p:nvSpPr>
          <p:cNvPr id="5" name="TextBox 7"/>
          <p:cNvSpPr/>
          <p:nvPr/>
        </p:nvSpPr>
        <p:spPr>
          <a:xfrm>
            <a:off x="495306" y="609600"/>
            <a:ext cx="11201083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10"/>
              </a:lnSpc>
              <a:buNone/>
            </a:pPr>
            <a:r>
              <a:rPr lang="en-US" sz="2250" b="1" spc="-67" kern="0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線形folding用の LinearIPknot decoder も実装</a:t>
            </a:r>
            <a:endParaRPr lang="en-US" sz="2250" dirty="0"/>
          </a:p>
        </p:txBody>
      </p:sp>
      <p:sp>
        <p:nvSpPr>
          <p:cNvPr id="6" name="TextBox 9"/>
          <p:cNvSpPr/>
          <p:nvPr/>
        </p:nvSpPr>
        <p:spPr>
          <a:xfrm>
            <a:off x="495306" y="1026793"/>
            <a:ext cx="11201083" cy="226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85"/>
              </a:lnSpc>
              <a:buNone/>
            </a:pPr>
            <a:r>
              <a:rPr lang="en-US" sz="1275" dirty="0">
                <a:solidFill>
                  <a:srgbClr val="60768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疎な塩基対事後確率から、交差塩基対を複数レイヤーへ分けた構造を固定beamで構成する。</a:t>
            </a:r>
            <a:endParaRPr lang="en-US" sz="1275" dirty="0"/>
          </a:p>
        </p:txBody>
      </p:sp>
      <p:sp>
        <p:nvSpPr>
          <p:cNvPr id="7" name="Shape 13"/>
          <p:cNvSpPr/>
          <p:nvPr/>
        </p:nvSpPr>
        <p:spPr>
          <a:xfrm>
            <a:off x="495306" y="1463036"/>
            <a:ext cx="2507456" cy="1447800"/>
          </a:xfrm>
          <a:prstGeom prst="roundRect">
            <a:avLst>
              <a:gd name="adj" fmla="val 8553"/>
            </a:avLst>
          </a:prstGeom>
          <a:solidFill>
            <a:srgbClr val="E8F7F6"/>
          </a:solidFill>
          <a:ln w="9525">
            <a:solidFill>
              <a:srgbClr val="B9E5E2"/>
            </a:solidFill>
            <a:prstDash val="solid"/>
          </a:ln>
        </p:spPr>
      </p:sp>
      <p:sp>
        <p:nvSpPr>
          <p:cNvPr id="8" name="TextBox 14"/>
          <p:cNvSpPr/>
          <p:nvPr/>
        </p:nvSpPr>
        <p:spPr>
          <a:xfrm>
            <a:off x="628656" y="1605911"/>
            <a:ext cx="22407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919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TextBox 15"/>
          <p:cNvSpPr/>
          <p:nvPr/>
        </p:nvSpPr>
        <p:spPr>
          <a:xfrm>
            <a:off x="628656" y="1986911"/>
            <a:ext cx="2240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疎なpair posterior</a:t>
            </a:r>
            <a:endParaRPr lang="en-US" sz="1200" dirty="0"/>
          </a:p>
        </p:txBody>
      </p:sp>
      <p:sp>
        <p:nvSpPr>
          <p:cNvPr id="10" name="TextBox 16"/>
          <p:cNvSpPr/>
          <p:nvPr/>
        </p:nvSpPr>
        <p:spPr>
          <a:xfrm>
            <a:off x="628656" y="2236468"/>
            <a:ext cx="2240756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LinearPartitionの候補支持とラグランジュ補助スコアを入力。</a:t>
            </a:r>
            <a:endParaRPr lang="en-US" sz="900" dirty="0"/>
          </a:p>
        </p:txBody>
      </p:sp>
      <p:sp>
        <p:nvSpPr>
          <p:cNvPr id="11" name="TextBox 18"/>
          <p:cNvSpPr/>
          <p:nvPr/>
        </p:nvSpPr>
        <p:spPr>
          <a:xfrm>
            <a:off x="3078963" y="1463036"/>
            <a:ext cx="238125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1AAB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›</a:t>
            </a:r>
            <a:endParaRPr lang="en-US" sz="2025" dirty="0"/>
          </a:p>
        </p:txBody>
      </p:sp>
      <p:sp>
        <p:nvSpPr>
          <p:cNvPr id="12" name="Shape 20"/>
          <p:cNvSpPr/>
          <p:nvPr/>
        </p:nvSpPr>
        <p:spPr>
          <a:xfrm>
            <a:off x="3393288" y="1463036"/>
            <a:ext cx="2507456" cy="1447800"/>
          </a:xfrm>
          <a:prstGeom prst="roundRect">
            <a:avLst>
              <a:gd name="adj" fmla="val 8553"/>
            </a:avLst>
          </a:prstGeom>
          <a:solidFill>
            <a:srgbClr val="FFF7E2"/>
          </a:solidFill>
          <a:ln w="9525">
            <a:solidFill>
              <a:srgbClr val="EFDBAB"/>
            </a:solidFill>
            <a:prstDash val="solid"/>
          </a:ln>
        </p:spPr>
      </p:sp>
      <p:sp>
        <p:nvSpPr>
          <p:cNvPr id="13" name="TextBox 21"/>
          <p:cNvSpPr/>
          <p:nvPr/>
        </p:nvSpPr>
        <p:spPr>
          <a:xfrm>
            <a:off x="3526638" y="1605911"/>
            <a:ext cx="22407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919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02</a:t>
            </a:r>
            <a:endParaRPr lang="en-US" sz="1650" dirty="0"/>
          </a:p>
        </p:txBody>
      </p:sp>
      <p:sp>
        <p:nvSpPr>
          <p:cNvPr id="14" name="TextBox 22"/>
          <p:cNvSpPr/>
          <p:nvPr/>
        </p:nvSpPr>
        <p:spPr>
          <a:xfrm>
            <a:off x="3526638" y="1986911"/>
            <a:ext cx="2240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しきい値ごとにlayer化</a:t>
            </a:r>
            <a:endParaRPr lang="en-US" sz="1200" dirty="0"/>
          </a:p>
        </p:txBody>
      </p:sp>
      <p:sp>
        <p:nvSpPr>
          <p:cNvPr id="15" name="TextBox 23"/>
          <p:cNvSpPr/>
          <p:nvPr/>
        </p:nvSpPr>
        <p:spPr>
          <a:xfrm>
            <a:off x="3526638" y="2236468"/>
            <a:ext cx="2240756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各levelで正の候補だけを走査し、すでに使った塩基を除く。</a:t>
            </a:r>
            <a:endParaRPr lang="en-US" sz="900" dirty="0"/>
          </a:p>
        </p:txBody>
      </p:sp>
      <p:sp>
        <p:nvSpPr>
          <p:cNvPr id="16" name="TextBox 25"/>
          <p:cNvSpPr/>
          <p:nvPr/>
        </p:nvSpPr>
        <p:spPr>
          <a:xfrm>
            <a:off x="5976943" y="1463036"/>
            <a:ext cx="238125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1AAB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›</a:t>
            </a:r>
            <a:endParaRPr lang="en-US" sz="2025" dirty="0"/>
          </a:p>
        </p:txBody>
      </p:sp>
      <p:sp>
        <p:nvSpPr>
          <p:cNvPr id="17" name="Shape 27"/>
          <p:cNvSpPr/>
          <p:nvPr/>
        </p:nvSpPr>
        <p:spPr>
          <a:xfrm>
            <a:off x="6291268" y="1463036"/>
            <a:ext cx="2507456" cy="1447800"/>
          </a:xfrm>
          <a:prstGeom prst="roundRect">
            <a:avLst>
              <a:gd name="adj" fmla="val 8553"/>
            </a:avLst>
          </a:prstGeom>
          <a:solidFill>
            <a:srgbClr val="F0EEFB"/>
          </a:solidFill>
          <a:ln w="9525">
            <a:solidFill>
              <a:srgbClr val="D8D0F1"/>
            </a:solidFill>
            <a:prstDash val="solid"/>
          </a:ln>
        </p:spPr>
      </p:sp>
      <p:sp>
        <p:nvSpPr>
          <p:cNvPr id="18" name="TextBox 28"/>
          <p:cNvSpPr/>
          <p:nvPr/>
        </p:nvSpPr>
        <p:spPr>
          <a:xfrm>
            <a:off x="6424618" y="1605911"/>
            <a:ext cx="22407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919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03</a:t>
            </a:r>
            <a:endParaRPr lang="en-US" sz="1650" dirty="0"/>
          </a:p>
        </p:txBody>
      </p:sp>
      <p:sp>
        <p:nvSpPr>
          <p:cNvPr id="19" name="TextBox 29"/>
          <p:cNvSpPr/>
          <p:nvPr/>
        </p:nvSpPr>
        <p:spPr>
          <a:xfrm>
            <a:off x="6424618" y="1986911"/>
            <a:ext cx="2240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LinearNussinov</a:t>
            </a:r>
            <a:endParaRPr lang="en-US" sz="1200" dirty="0"/>
          </a:p>
        </p:txBody>
      </p:sp>
      <p:sp>
        <p:nvSpPr>
          <p:cNvPr id="20" name="TextBox 30"/>
          <p:cNvSpPr/>
          <p:nvPr/>
        </p:nvSpPr>
        <p:spPr>
          <a:xfrm>
            <a:off x="6424618" y="2236468"/>
            <a:ext cx="2240756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各levelを固定beamの線形DPで非交差matchingとしてdecode。</a:t>
            </a:r>
            <a:endParaRPr lang="en-US" sz="900" dirty="0"/>
          </a:p>
        </p:txBody>
      </p:sp>
      <p:sp>
        <p:nvSpPr>
          <p:cNvPr id="21" name="TextBox 32"/>
          <p:cNvSpPr/>
          <p:nvPr/>
        </p:nvSpPr>
        <p:spPr>
          <a:xfrm>
            <a:off x="8874924" y="1463036"/>
            <a:ext cx="238125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91AAB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›</a:t>
            </a:r>
            <a:endParaRPr lang="en-US" sz="2025" dirty="0"/>
          </a:p>
        </p:txBody>
      </p:sp>
      <p:sp>
        <p:nvSpPr>
          <p:cNvPr id="22" name="Shape 34"/>
          <p:cNvSpPr/>
          <p:nvPr/>
        </p:nvSpPr>
        <p:spPr>
          <a:xfrm>
            <a:off x="9189249" y="1463036"/>
            <a:ext cx="2507456" cy="1447800"/>
          </a:xfrm>
          <a:prstGeom prst="roundRect">
            <a:avLst>
              <a:gd name="adj" fmla="val 8553"/>
            </a:avLst>
          </a:prstGeom>
          <a:solidFill>
            <a:srgbClr val="E7F6EC"/>
          </a:solidFill>
          <a:ln w="9525">
            <a:solidFill>
              <a:srgbClr val="B9DFC7"/>
            </a:solidFill>
            <a:prstDash val="solid"/>
          </a:ln>
        </p:spPr>
      </p:sp>
      <p:sp>
        <p:nvSpPr>
          <p:cNvPr id="23" name="TextBox 35"/>
          <p:cNvSpPr/>
          <p:nvPr/>
        </p:nvSpPr>
        <p:spPr>
          <a:xfrm>
            <a:off x="9322599" y="1605911"/>
            <a:ext cx="224075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8919B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04</a:t>
            </a:r>
            <a:endParaRPr lang="en-US" sz="1650" dirty="0"/>
          </a:p>
        </p:txBody>
      </p:sp>
      <p:sp>
        <p:nvSpPr>
          <p:cNvPr id="24" name="TextBox 36"/>
          <p:cNvSpPr/>
          <p:nvPr/>
        </p:nvSpPr>
        <p:spPr>
          <a:xfrm>
            <a:off x="9322599" y="1986911"/>
            <a:ext cx="22407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交差を別levelへ</a:t>
            </a:r>
            <a:endParaRPr lang="en-US" sz="1200" dirty="0"/>
          </a:p>
        </p:txBody>
      </p:sp>
      <p:sp>
        <p:nvSpPr>
          <p:cNvPr id="25" name="TextBox 37"/>
          <p:cNvSpPr/>
          <p:nvPr/>
        </p:nvSpPr>
        <p:spPr>
          <a:xfrm>
            <a:off x="9322599" y="2236468"/>
            <a:ext cx="2240756" cy="315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次levelには既選択pairと交差するpairを許し、括弧layerを出力。</a:t>
            </a:r>
            <a:endParaRPr lang="en-US" sz="900" dirty="0"/>
          </a:p>
        </p:txBody>
      </p:sp>
      <p:sp>
        <p:nvSpPr>
          <p:cNvPr id="26" name="Shape 42"/>
          <p:cNvSpPr/>
          <p:nvPr/>
        </p:nvSpPr>
        <p:spPr>
          <a:xfrm>
            <a:off x="495306" y="3063236"/>
            <a:ext cx="5810567" cy="1250950"/>
          </a:xfrm>
          <a:prstGeom prst="roundRect">
            <a:avLst>
              <a:gd name="adj" fmla="val 9898"/>
            </a:avLst>
          </a:prstGeom>
          <a:solidFill>
            <a:srgbClr val="FFFFFF"/>
          </a:solidFill>
          <a:ln w="9525">
            <a:solidFill>
              <a:srgbClr val="D6E2E5"/>
            </a:solidFill>
            <a:prstDash val="solid"/>
          </a:ln>
        </p:spPr>
      </p:sp>
      <p:sp>
        <p:nvSpPr>
          <p:cNvPr id="27" name="TextBox 44"/>
          <p:cNvSpPr/>
          <p:nvPr/>
        </p:nvSpPr>
        <p:spPr>
          <a:xfrm>
            <a:off x="657231" y="3206111"/>
            <a:ext cx="54867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DAFSへの接続と検証範囲</a:t>
            </a:r>
            <a:endParaRPr lang="en-US" sz="1200" dirty="0"/>
          </a:p>
        </p:txBody>
      </p:sp>
      <p:sp>
        <p:nvSpPr>
          <p:cNvPr id="28" name="TextBox 46"/>
          <p:cNvSpPr/>
          <p:nvPr/>
        </p:nvSpPr>
        <p:spPr>
          <a:xfrm>
            <a:off x="657231" y="3455668"/>
            <a:ext cx="5486717" cy="501015"/>
          </a:xfrm>
          <a:prstGeom prst="rect">
            <a:avLst/>
          </a:prstGeom>
          <a:noFill/>
          <a:ln/>
        </p:spPr>
        <p:txBody>
          <a:bodyPr wrap="square" lIns="0" tIns="171450" rIns="0" bIns="0" rtlCol="0" anchor="t">
            <a:spAutoFit/>
          </a:bodyPr>
          <a:lstStyle/>
          <a:p>
            <a:pPr algn="l" marL="254000" indent="-254000">
              <a:lnSpc>
                <a:spcPts val="1277"/>
              </a:lnSpc>
              <a:buSzPct val="100000"/>
              <a:buChar char="•"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linear folding + </a:t>
            </a:r>
            <a:r>
              <a:rPr lang="en-US" sz="900" dirty="0">
                <a:solidFill>
                  <a:srgbClr val="506879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--ipknot</a:t>
            </a: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では </a:t>
            </a:r>
            <a:r>
              <a:rPr lang="en-US" sz="900" dirty="0">
                <a:solidFill>
                  <a:srgbClr val="506879"/>
                </a:solidFill>
                <a:latin typeface="Noto Sans Mono CJK JP" pitchFamily="34" charset="0"/>
                <a:ea typeface="Noto Sans Mono CJK JP" pitchFamily="34" charset="-122"/>
                <a:cs typeface="Noto Sans Mono CJK JP" pitchFamily="34" charset="-120"/>
              </a:rPr>
              <a:t>LinearIPknot</a:t>
            </a: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 を選択。非線形側は従来IPknot。</a:t>
            </a:r>
            <a:endParaRPr lang="en-US" sz="900" dirty="0"/>
          </a:p>
          <a:p>
            <a:pPr algn="l" marL="254000" indent="-254000">
              <a:lnSpc>
                <a:spcPts val="1277"/>
              </a:lnSpc>
              <a:buSzPct val="100000"/>
              <a:buChar char="•"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dense/sparse decoder interface、sparse structure storage、構造boundsを接続。</a:t>
            </a:r>
            <a:endParaRPr lang="en-US" sz="900" dirty="0"/>
          </a:p>
          <a:p>
            <a:pPr algn="l" marL="254000" indent="-254000">
              <a:lnSpc>
                <a:spcPts val="1277"/>
              </a:lnSpc>
              <a:buSzPct val="100000"/>
              <a:buChar char="•"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unit / pipeline testsで交差layer、括弧整合性、sparse/dense一致、decoder選択を確認。</a:t>
            </a:r>
            <a:endParaRPr lang="en-US" sz="900" dirty="0"/>
          </a:p>
        </p:txBody>
      </p:sp>
      <p:sp>
        <p:nvSpPr>
          <p:cNvPr id="29" name="Shape 49"/>
          <p:cNvSpPr/>
          <p:nvPr/>
        </p:nvSpPr>
        <p:spPr>
          <a:xfrm>
            <a:off x="6439224" y="3063236"/>
            <a:ext cx="5257165" cy="1250950"/>
          </a:xfrm>
          <a:prstGeom prst="roundRect">
            <a:avLst>
              <a:gd name="adj" fmla="val 9898"/>
            </a:avLst>
          </a:prstGeom>
          <a:solidFill>
            <a:srgbClr val="FFF7E3"/>
          </a:solidFill>
          <a:ln w="9525">
            <a:solidFill>
              <a:srgbClr val="EFDBAE"/>
            </a:solidFill>
            <a:prstDash val="solid"/>
          </a:ln>
        </p:spPr>
      </p:sp>
      <p:sp>
        <p:nvSpPr>
          <p:cNvPr id="30" name="TextBox 51"/>
          <p:cNvSpPr/>
          <p:nvPr/>
        </p:nvSpPr>
        <p:spPr>
          <a:xfrm>
            <a:off x="6601149" y="3206111"/>
            <a:ext cx="49333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4263B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位置づけ</a:t>
            </a:r>
            <a:endParaRPr lang="en-US" sz="1200" dirty="0"/>
          </a:p>
        </p:txBody>
      </p:sp>
      <p:sp>
        <p:nvSpPr>
          <p:cNvPr id="31" name="TextBox 53"/>
          <p:cNvSpPr/>
          <p:nvPr/>
        </p:nvSpPr>
        <p:spPr>
          <a:xfrm>
            <a:off x="6601149" y="3455668"/>
            <a:ext cx="4933315" cy="324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7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これはIPknotの厳密な整数計画を線形時間で解くものではなく、固定beamのlayer-wise近似decoder。ビーム幅・しきい値・候補支持に依存する。</a:t>
            </a:r>
            <a:endParaRPr lang="en-US" sz="900" dirty="0"/>
          </a:p>
        </p:txBody>
      </p:sp>
      <p:sp>
        <p:nvSpPr>
          <p:cNvPr id="32" name="TextBox 55"/>
          <p:cNvSpPr/>
          <p:nvPr/>
        </p:nvSpPr>
        <p:spPr>
          <a:xfrm>
            <a:off x="6601149" y="3846826"/>
            <a:ext cx="4933315" cy="324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77"/>
              </a:lnSpc>
              <a:buNone/>
            </a:pPr>
            <a:r>
              <a:rPr lang="en-US" sz="900" dirty="0">
                <a:solidFill>
                  <a:srgbClr val="50687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このスライドで示すのは実装原理とテスト範囲。既存の厳密IPknotに対する精度・速度の定量比較は、まだ提示できるベンチマーク結果がない。</a:t>
            </a:r>
            <a:endParaRPr lang="en-US" sz="900" dirty="0"/>
          </a:p>
        </p:txBody>
      </p:sp>
      <p:sp>
        <p:nvSpPr>
          <p:cNvPr id="33" name="TextBox 59"/>
          <p:cNvSpPr/>
          <p:nvPr/>
        </p:nvSpPr>
        <p:spPr>
          <a:xfrm>
            <a:off x="495306" y="6650357"/>
            <a:ext cx="11201083" cy="10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7B91A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src/ipknot.h · src/ipknot.cpp · src/dafs.cpp · tests/linear_ipknot_test.cpp · tests/linear_ipknot_pipeline.cmake · tests/ipknot_sparse_support_test.cpp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2026-09-23T14:17:09Z</dcterms:created>
  <dcterms:modified xsi:type="dcterms:W3CDTF">2026-09-23T14:17:09Z</dcterms:modified>
</cp:coreProperties>
</file>